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0" r:id="rId2"/>
    <p:sldId id="262" r:id="rId3"/>
    <p:sldId id="263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82" r:id="rId12"/>
    <p:sldId id="281" r:id="rId13"/>
    <p:sldId id="280" r:id="rId14"/>
    <p:sldId id="285" r:id="rId15"/>
    <p:sldId id="284" r:id="rId16"/>
    <p:sldId id="26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20"/>
    <p:restoredTop sz="97559"/>
  </p:normalViewPr>
  <p:slideViewPr>
    <p:cSldViewPr snapToGrid="0" showGuides="1">
      <p:cViewPr varScale="1">
        <p:scale>
          <a:sx n="123" d="100"/>
          <a:sy n="123" d="100"/>
        </p:scale>
        <p:origin x="216" y="2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5" cy="36004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D7C76B-AB7A-C948-8645-3C4F51D01A49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0A0F02-5B7B-5249-9648-98193ACCEFFB}">
      <dgm:prSet phldrT="[Text]"/>
      <dgm:spPr/>
      <dgm:t>
        <a:bodyPr/>
        <a:lstStyle/>
        <a:p>
          <a:r>
            <a:rPr lang="de-DE" noProof="1"/>
            <a:t>Aufsichtsrat</a:t>
          </a:r>
        </a:p>
      </dgm:t>
    </dgm:pt>
    <dgm:pt modelId="{7D559E0C-33D9-194A-99C7-803772D6E2F8}" type="parTrans" cxnId="{BD6090EF-7CAA-8646-9A76-208514CFCC55}">
      <dgm:prSet/>
      <dgm:spPr/>
      <dgm:t>
        <a:bodyPr/>
        <a:lstStyle/>
        <a:p>
          <a:endParaRPr lang="en-US"/>
        </a:p>
      </dgm:t>
    </dgm:pt>
    <dgm:pt modelId="{B22E5BAC-5324-1F4A-933D-B08FEEC55CBE}" type="sibTrans" cxnId="{BD6090EF-7CAA-8646-9A76-208514CFCC55}">
      <dgm:prSet/>
      <dgm:spPr/>
      <dgm:t>
        <a:bodyPr/>
        <a:lstStyle/>
        <a:p>
          <a:endParaRPr lang="en-US"/>
        </a:p>
      </dgm:t>
    </dgm:pt>
    <dgm:pt modelId="{6C579508-227C-D642-9980-DC5C7DD56BDD}">
      <dgm:prSet phldrT="[Text]"/>
      <dgm:spPr/>
      <dgm:t>
        <a:bodyPr/>
        <a:lstStyle/>
        <a:p>
          <a:r>
            <a:rPr lang="de-DE" noProof="1"/>
            <a:t>Finanzen</a:t>
          </a:r>
        </a:p>
      </dgm:t>
    </dgm:pt>
    <dgm:pt modelId="{14664538-BBB4-A445-AEC6-36B9644260B8}" type="parTrans" cxnId="{2923A8FB-684C-3349-9207-9BAA1C0BAAB1}">
      <dgm:prSet/>
      <dgm:spPr/>
      <dgm:t>
        <a:bodyPr/>
        <a:lstStyle/>
        <a:p>
          <a:endParaRPr lang="en-US"/>
        </a:p>
      </dgm:t>
    </dgm:pt>
    <dgm:pt modelId="{85AE7712-81D3-B342-8599-69AEC30D2DA7}" type="sibTrans" cxnId="{2923A8FB-684C-3349-9207-9BAA1C0BAAB1}">
      <dgm:prSet/>
      <dgm:spPr/>
      <dgm:t>
        <a:bodyPr/>
        <a:lstStyle/>
        <a:p>
          <a:endParaRPr lang="en-US"/>
        </a:p>
      </dgm:t>
    </dgm:pt>
    <dgm:pt modelId="{68B96863-0D17-BC49-BE42-020D386CE8E6}">
      <dgm:prSet phldrT="[Text]"/>
      <dgm:spPr/>
      <dgm:t>
        <a:bodyPr/>
        <a:lstStyle/>
        <a:p>
          <a:r>
            <a:rPr lang="de-DE" noProof="1"/>
            <a:t>Vertrieb</a:t>
          </a:r>
        </a:p>
      </dgm:t>
    </dgm:pt>
    <dgm:pt modelId="{208CDEAD-5FA7-6541-9054-80418F481FDA}" type="parTrans" cxnId="{54D24D21-B034-294D-99A0-E6AE88A54B60}">
      <dgm:prSet/>
      <dgm:spPr/>
      <dgm:t>
        <a:bodyPr/>
        <a:lstStyle/>
        <a:p>
          <a:endParaRPr lang="en-US"/>
        </a:p>
      </dgm:t>
    </dgm:pt>
    <dgm:pt modelId="{7BA313D8-E6EA-DD43-BB9D-04D4A162527C}" type="sibTrans" cxnId="{54D24D21-B034-294D-99A0-E6AE88A54B60}">
      <dgm:prSet/>
      <dgm:spPr/>
      <dgm:t>
        <a:bodyPr/>
        <a:lstStyle/>
        <a:p>
          <a:endParaRPr lang="en-US"/>
        </a:p>
      </dgm:t>
    </dgm:pt>
    <dgm:pt modelId="{2D97E0A5-32A3-9245-85F0-9E07EB96952E}">
      <dgm:prSet phldrT="[Text]"/>
      <dgm:spPr/>
      <dgm:t>
        <a:bodyPr/>
        <a:lstStyle/>
        <a:p>
          <a:r>
            <a:rPr lang="de-DE" noProof="1"/>
            <a:t>Entwicklung</a:t>
          </a:r>
        </a:p>
      </dgm:t>
    </dgm:pt>
    <dgm:pt modelId="{623C9453-7607-C74F-A497-856DB6916B8E}" type="parTrans" cxnId="{2EEF47A4-4056-CD47-813D-B8F9C4263553}">
      <dgm:prSet/>
      <dgm:spPr/>
      <dgm:t>
        <a:bodyPr/>
        <a:lstStyle/>
        <a:p>
          <a:endParaRPr lang="en-US"/>
        </a:p>
      </dgm:t>
    </dgm:pt>
    <dgm:pt modelId="{DD84EA46-7A2A-5E4D-AD91-664558943157}" type="sibTrans" cxnId="{2EEF47A4-4056-CD47-813D-B8F9C4263553}">
      <dgm:prSet/>
      <dgm:spPr/>
      <dgm:t>
        <a:bodyPr/>
        <a:lstStyle/>
        <a:p>
          <a:endParaRPr lang="en-US"/>
        </a:p>
      </dgm:t>
    </dgm:pt>
    <dgm:pt modelId="{1474C0ED-A84D-624A-A131-A4CEC839B650}">
      <dgm:prSet phldrT="[Text]"/>
      <dgm:spPr/>
      <dgm:t>
        <a:bodyPr/>
        <a:lstStyle/>
        <a:p>
          <a:r>
            <a:rPr lang="de-DE" noProof="1"/>
            <a:t>Produktion</a:t>
          </a:r>
        </a:p>
      </dgm:t>
    </dgm:pt>
    <dgm:pt modelId="{CA67CB73-D092-B046-B1DE-D9F847ADF8D5}" type="parTrans" cxnId="{DE3DE2D2-5151-D848-9454-9D327F86CEFA}">
      <dgm:prSet/>
      <dgm:spPr/>
      <dgm:t>
        <a:bodyPr/>
        <a:lstStyle/>
        <a:p>
          <a:endParaRPr lang="en-US"/>
        </a:p>
      </dgm:t>
    </dgm:pt>
    <dgm:pt modelId="{37782474-CDF2-7C42-8E18-B88FF20314A7}" type="sibTrans" cxnId="{DE3DE2D2-5151-D848-9454-9D327F86CEFA}">
      <dgm:prSet/>
      <dgm:spPr/>
      <dgm:t>
        <a:bodyPr/>
        <a:lstStyle/>
        <a:p>
          <a:endParaRPr lang="en-US"/>
        </a:p>
      </dgm:t>
    </dgm:pt>
    <dgm:pt modelId="{0DC75115-B9DC-8148-B319-6D34AC956E87}" type="asst">
      <dgm:prSet phldrT="[Text]"/>
      <dgm:spPr/>
      <dgm:t>
        <a:bodyPr/>
        <a:lstStyle/>
        <a:p>
          <a:r>
            <a:rPr lang="de-DE" noProof="1"/>
            <a:t>CEO</a:t>
          </a:r>
        </a:p>
      </dgm:t>
    </dgm:pt>
    <dgm:pt modelId="{8950EDEB-B6F2-A544-82D5-AF628DD3F905}" type="parTrans" cxnId="{7C08D038-1B97-DF48-95F2-EBAB057DF7BA}">
      <dgm:prSet/>
      <dgm:spPr/>
      <dgm:t>
        <a:bodyPr/>
        <a:lstStyle/>
        <a:p>
          <a:endParaRPr lang="en-US"/>
        </a:p>
      </dgm:t>
    </dgm:pt>
    <dgm:pt modelId="{6EAAF54E-72C4-9B47-BF92-8AF5E621C139}" type="sibTrans" cxnId="{7C08D038-1B97-DF48-95F2-EBAB057DF7BA}">
      <dgm:prSet/>
      <dgm:spPr/>
      <dgm:t>
        <a:bodyPr/>
        <a:lstStyle/>
        <a:p>
          <a:endParaRPr lang="en-US"/>
        </a:p>
      </dgm:t>
    </dgm:pt>
    <dgm:pt modelId="{389E3CF9-ED24-6C43-8ED5-B24BC54CC4B5}" type="pres">
      <dgm:prSet presAssocID="{19D7C76B-AB7A-C948-8645-3C4F51D01A4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DE9069C-42A2-524A-B859-A5648CF9BD79}" type="pres">
      <dgm:prSet presAssocID="{050A0F02-5B7B-5249-9648-98193ACCEFFB}" presName="hierRoot1" presStyleCnt="0">
        <dgm:presLayoutVars>
          <dgm:hierBranch val="init"/>
        </dgm:presLayoutVars>
      </dgm:prSet>
      <dgm:spPr/>
    </dgm:pt>
    <dgm:pt modelId="{E9C03270-E6CD-2B4D-ACBD-46E3494DB0E8}" type="pres">
      <dgm:prSet presAssocID="{050A0F02-5B7B-5249-9648-98193ACCEFFB}" presName="rootComposite1" presStyleCnt="0"/>
      <dgm:spPr/>
    </dgm:pt>
    <dgm:pt modelId="{5DC5C8F4-70FD-C045-A5E0-E21B4D72018A}" type="pres">
      <dgm:prSet presAssocID="{050A0F02-5B7B-5249-9648-98193ACCEFFB}" presName="rootText1" presStyleLbl="node0" presStyleIdx="0" presStyleCnt="1">
        <dgm:presLayoutVars>
          <dgm:chPref val="3"/>
        </dgm:presLayoutVars>
      </dgm:prSet>
      <dgm:spPr/>
    </dgm:pt>
    <dgm:pt modelId="{40FE4A91-611D-0848-AF1E-1346C8C01F8D}" type="pres">
      <dgm:prSet presAssocID="{050A0F02-5B7B-5249-9648-98193ACCEFFB}" presName="rootConnector1" presStyleLbl="node1" presStyleIdx="0" presStyleCnt="0"/>
      <dgm:spPr/>
    </dgm:pt>
    <dgm:pt modelId="{A52E62A9-DD05-8044-8729-D5AE630CE34D}" type="pres">
      <dgm:prSet presAssocID="{050A0F02-5B7B-5249-9648-98193ACCEFFB}" presName="hierChild2" presStyleCnt="0"/>
      <dgm:spPr/>
    </dgm:pt>
    <dgm:pt modelId="{7C89AC6C-50A5-564E-A829-7D2DFF0B8E44}" type="pres">
      <dgm:prSet presAssocID="{14664538-BBB4-A445-AEC6-36B9644260B8}" presName="Name37" presStyleLbl="parChTrans1D2" presStyleIdx="0" presStyleCnt="5"/>
      <dgm:spPr/>
    </dgm:pt>
    <dgm:pt modelId="{4C70CB35-FD29-ED41-A512-5722F2965F1E}" type="pres">
      <dgm:prSet presAssocID="{6C579508-227C-D642-9980-DC5C7DD56BDD}" presName="hierRoot2" presStyleCnt="0">
        <dgm:presLayoutVars>
          <dgm:hierBranch val="init"/>
        </dgm:presLayoutVars>
      </dgm:prSet>
      <dgm:spPr/>
    </dgm:pt>
    <dgm:pt modelId="{86773431-F422-D74C-A00D-0F82EB47FCBE}" type="pres">
      <dgm:prSet presAssocID="{6C579508-227C-D642-9980-DC5C7DD56BDD}" presName="rootComposite" presStyleCnt="0"/>
      <dgm:spPr/>
    </dgm:pt>
    <dgm:pt modelId="{7425D222-B1D0-094D-8476-503AF821CCDA}" type="pres">
      <dgm:prSet presAssocID="{6C579508-227C-D642-9980-DC5C7DD56BDD}" presName="rootText" presStyleLbl="node2" presStyleIdx="0" presStyleCnt="4">
        <dgm:presLayoutVars>
          <dgm:chPref val="3"/>
        </dgm:presLayoutVars>
      </dgm:prSet>
      <dgm:spPr/>
    </dgm:pt>
    <dgm:pt modelId="{512BF351-D031-F045-9FE7-5EA76526BEFA}" type="pres">
      <dgm:prSet presAssocID="{6C579508-227C-D642-9980-DC5C7DD56BDD}" presName="rootConnector" presStyleLbl="node2" presStyleIdx="0" presStyleCnt="4"/>
      <dgm:spPr/>
    </dgm:pt>
    <dgm:pt modelId="{F5ABB4CE-9963-DC4B-AFB3-528ACEF4203F}" type="pres">
      <dgm:prSet presAssocID="{6C579508-227C-D642-9980-DC5C7DD56BDD}" presName="hierChild4" presStyleCnt="0"/>
      <dgm:spPr/>
    </dgm:pt>
    <dgm:pt modelId="{0B07386A-8A45-3548-B0C6-954DDD3F7B3C}" type="pres">
      <dgm:prSet presAssocID="{6C579508-227C-D642-9980-DC5C7DD56BDD}" presName="hierChild5" presStyleCnt="0"/>
      <dgm:spPr/>
    </dgm:pt>
    <dgm:pt modelId="{6B3C8F76-6DD2-EA4B-82F5-EF463442DCDF}" type="pres">
      <dgm:prSet presAssocID="{208CDEAD-5FA7-6541-9054-80418F481FDA}" presName="Name37" presStyleLbl="parChTrans1D2" presStyleIdx="1" presStyleCnt="5"/>
      <dgm:spPr/>
    </dgm:pt>
    <dgm:pt modelId="{8B8B65EC-8EE9-3F49-9871-176B1C9124D4}" type="pres">
      <dgm:prSet presAssocID="{68B96863-0D17-BC49-BE42-020D386CE8E6}" presName="hierRoot2" presStyleCnt="0">
        <dgm:presLayoutVars>
          <dgm:hierBranch val="init"/>
        </dgm:presLayoutVars>
      </dgm:prSet>
      <dgm:spPr/>
    </dgm:pt>
    <dgm:pt modelId="{5562A0AA-C164-FD4F-AB80-530EA2D1CE83}" type="pres">
      <dgm:prSet presAssocID="{68B96863-0D17-BC49-BE42-020D386CE8E6}" presName="rootComposite" presStyleCnt="0"/>
      <dgm:spPr/>
    </dgm:pt>
    <dgm:pt modelId="{AF482C45-5CF8-4B4E-AD7A-7141F5A4F22E}" type="pres">
      <dgm:prSet presAssocID="{68B96863-0D17-BC49-BE42-020D386CE8E6}" presName="rootText" presStyleLbl="node2" presStyleIdx="1" presStyleCnt="4">
        <dgm:presLayoutVars>
          <dgm:chPref val="3"/>
        </dgm:presLayoutVars>
      </dgm:prSet>
      <dgm:spPr/>
    </dgm:pt>
    <dgm:pt modelId="{5C6EF4C2-3961-254A-94DA-BB4E87573A16}" type="pres">
      <dgm:prSet presAssocID="{68B96863-0D17-BC49-BE42-020D386CE8E6}" presName="rootConnector" presStyleLbl="node2" presStyleIdx="1" presStyleCnt="4"/>
      <dgm:spPr/>
    </dgm:pt>
    <dgm:pt modelId="{86F81B81-D41F-0944-AED3-2A0268D3A24A}" type="pres">
      <dgm:prSet presAssocID="{68B96863-0D17-BC49-BE42-020D386CE8E6}" presName="hierChild4" presStyleCnt="0"/>
      <dgm:spPr/>
    </dgm:pt>
    <dgm:pt modelId="{A306EAB7-BF24-DB48-9375-015BE951EB4A}" type="pres">
      <dgm:prSet presAssocID="{68B96863-0D17-BC49-BE42-020D386CE8E6}" presName="hierChild5" presStyleCnt="0"/>
      <dgm:spPr/>
    </dgm:pt>
    <dgm:pt modelId="{7C13EEEA-9ED1-C145-9053-4005B359DDC9}" type="pres">
      <dgm:prSet presAssocID="{623C9453-7607-C74F-A497-856DB6916B8E}" presName="Name37" presStyleLbl="parChTrans1D2" presStyleIdx="2" presStyleCnt="5"/>
      <dgm:spPr/>
    </dgm:pt>
    <dgm:pt modelId="{9C3CCED9-7228-814B-BFC6-9A2B2F1A273E}" type="pres">
      <dgm:prSet presAssocID="{2D97E0A5-32A3-9245-85F0-9E07EB96952E}" presName="hierRoot2" presStyleCnt="0">
        <dgm:presLayoutVars>
          <dgm:hierBranch val="init"/>
        </dgm:presLayoutVars>
      </dgm:prSet>
      <dgm:spPr/>
    </dgm:pt>
    <dgm:pt modelId="{CA59318D-3F7D-7C44-9F31-585CB082F18E}" type="pres">
      <dgm:prSet presAssocID="{2D97E0A5-32A3-9245-85F0-9E07EB96952E}" presName="rootComposite" presStyleCnt="0"/>
      <dgm:spPr/>
    </dgm:pt>
    <dgm:pt modelId="{701DF199-2E1C-DE4F-8914-6E3A92143B62}" type="pres">
      <dgm:prSet presAssocID="{2D97E0A5-32A3-9245-85F0-9E07EB96952E}" presName="rootText" presStyleLbl="node2" presStyleIdx="2" presStyleCnt="4">
        <dgm:presLayoutVars>
          <dgm:chPref val="3"/>
        </dgm:presLayoutVars>
      </dgm:prSet>
      <dgm:spPr/>
    </dgm:pt>
    <dgm:pt modelId="{A0E0D883-A34D-EE4E-838A-DC8DE4598EC8}" type="pres">
      <dgm:prSet presAssocID="{2D97E0A5-32A3-9245-85F0-9E07EB96952E}" presName="rootConnector" presStyleLbl="node2" presStyleIdx="2" presStyleCnt="4"/>
      <dgm:spPr/>
    </dgm:pt>
    <dgm:pt modelId="{6CF81946-822B-384F-BA81-E190C89C13D8}" type="pres">
      <dgm:prSet presAssocID="{2D97E0A5-32A3-9245-85F0-9E07EB96952E}" presName="hierChild4" presStyleCnt="0"/>
      <dgm:spPr/>
    </dgm:pt>
    <dgm:pt modelId="{85DFB5AD-2AF5-E549-9390-09A2C1370E20}" type="pres">
      <dgm:prSet presAssocID="{2D97E0A5-32A3-9245-85F0-9E07EB96952E}" presName="hierChild5" presStyleCnt="0"/>
      <dgm:spPr/>
    </dgm:pt>
    <dgm:pt modelId="{AF722BBD-5C43-D24E-9F5D-BAEE0E5B47D1}" type="pres">
      <dgm:prSet presAssocID="{CA67CB73-D092-B046-B1DE-D9F847ADF8D5}" presName="Name37" presStyleLbl="parChTrans1D2" presStyleIdx="3" presStyleCnt="5"/>
      <dgm:spPr/>
    </dgm:pt>
    <dgm:pt modelId="{2C1072BD-874E-5D4A-A31A-3862F57631F7}" type="pres">
      <dgm:prSet presAssocID="{1474C0ED-A84D-624A-A131-A4CEC839B650}" presName="hierRoot2" presStyleCnt="0">
        <dgm:presLayoutVars>
          <dgm:hierBranch val="init"/>
        </dgm:presLayoutVars>
      </dgm:prSet>
      <dgm:spPr/>
    </dgm:pt>
    <dgm:pt modelId="{A24B59D0-A80E-7249-BC35-75176DCF33EF}" type="pres">
      <dgm:prSet presAssocID="{1474C0ED-A84D-624A-A131-A4CEC839B650}" presName="rootComposite" presStyleCnt="0"/>
      <dgm:spPr/>
    </dgm:pt>
    <dgm:pt modelId="{7F69E246-C24B-F34D-B8D0-273996625A98}" type="pres">
      <dgm:prSet presAssocID="{1474C0ED-A84D-624A-A131-A4CEC839B650}" presName="rootText" presStyleLbl="node2" presStyleIdx="3" presStyleCnt="4">
        <dgm:presLayoutVars>
          <dgm:chPref val="3"/>
        </dgm:presLayoutVars>
      </dgm:prSet>
      <dgm:spPr/>
    </dgm:pt>
    <dgm:pt modelId="{7C2C40A8-5427-0145-BE53-9B3D326AF59C}" type="pres">
      <dgm:prSet presAssocID="{1474C0ED-A84D-624A-A131-A4CEC839B650}" presName="rootConnector" presStyleLbl="node2" presStyleIdx="3" presStyleCnt="4"/>
      <dgm:spPr/>
    </dgm:pt>
    <dgm:pt modelId="{A10C0384-CCA2-E54A-8D3C-D8957455BF94}" type="pres">
      <dgm:prSet presAssocID="{1474C0ED-A84D-624A-A131-A4CEC839B650}" presName="hierChild4" presStyleCnt="0"/>
      <dgm:spPr/>
    </dgm:pt>
    <dgm:pt modelId="{0389EBEC-D387-6343-9ADD-77B327A58B25}" type="pres">
      <dgm:prSet presAssocID="{1474C0ED-A84D-624A-A131-A4CEC839B650}" presName="hierChild5" presStyleCnt="0"/>
      <dgm:spPr/>
    </dgm:pt>
    <dgm:pt modelId="{2213209E-55B5-1547-98AC-61DFDB637D64}" type="pres">
      <dgm:prSet presAssocID="{050A0F02-5B7B-5249-9648-98193ACCEFFB}" presName="hierChild3" presStyleCnt="0"/>
      <dgm:spPr/>
    </dgm:pt>
    <dgm:pt modelId="{FE59479F-1148-1F4C-9F64-C69B57C5ED28}" type="pres">
      <dgm:prSet presAssocID="{8950EDEB-B6F2-A544-82D5-AF628DD3F905}" presName="Name111" presStyleLbl="parChTrans1D2" presStyleIdx="4" presStyleCnt="5"/>
      <dgm:spPr/>
    </dgm:pt>
    <dgm:pt modelId="{94A54E76-BCE0-404B-9130-25A64B10FFC1}" type="pres">
      <dgm:prSet presAssocID="{0DC75115-B9DC-8148-B319-6D34AC956E87}" presName="hierRoot3" presStyleCnt="0">
        <dgm:presLayoutVars>
          <dgm:hierBranch val="init"/>
        </dgm:presLayoutVars>
      </dgm:prSet>
      <dgm:spPr/>
    </dgm:pt>
    <dgm:pt modelId="{6DCEB0D8-D68C-7E4E-A623-C466D7C6D5E7}" type="pres">
      <dgm:prSet presAssocID="{0DC75115-B9DC-8148-B319-6D34AC956E87}" presName="rootComposite3" presStyleCnt="0"/>
      <dgm:spPr/>
    </dgm:pt>
    <dgm:pt modelId="{85C03146-02B4-E44F-B210-6DFC9FE11F3B}" type="pres">
      <dgm:prSet presAssocID="{0DC75115-B9DC-8148-B319-6D34AC956E87}" presName="rootText3" presStyleLbl="asst1" presStyleIdx="0" presStyleCnt="1">
        <dgm:presLayoutVars>
          <dgm:chPref val="3"/>
        </dgm:presLayoutVars>
      </dgm:prSet>
      <dgm:spPr/>
    </dgm:pt>
    <dgm:pt modelId="{59BE055C-9D12-2040-AACE-030FC5654171}" type="pres">
      <dgm:prSet presAssocID="{0DC75115-B9DC-8148-B319-6D34AC956E87}" presName="rootConnector3" presStyleLbl="asst1" presStyleIdx="0" presStyleCnt="1"/>
      <dgm:spPr/>
    </dgm:pt>
    <dgm:pt modelId="{2B620E70-3C47-1945-A0B8-5EE649DBBDEA}" type="pres">
      <dgm:prSet presAssocID="{0DC75115-B9DC-8148-B319-6D34AC956E87}" presName="hierChild6" presStyleCnt="0"/>
      <dgm:spPr/>
    </dgm:pt>
    <dgm:pt modelId="{ECFBD693-0426-7545-9653-AE83787213BE}" type="pres">
      <dgm:prSet presAssocID="{0DC75115-B9DC-8148-B319-6D34AC956E87}" presName="hierChild7" presStyleCnt="0"/>
      <dgm:spPr/>
    </dgm:pt>
  </dgm:ptLst>
  <dgm:cxnLst>
    <dgm:cxn modelId="{469D5108-8A85-9344-89F4-5E3A10906435}" type="presOf" srcId="{1474C0ED-A84D-624A-A131-A4CEC839B650}" destId="{7F69E246-C24B-F34D-B8D0-273996625A98}" srcOrd="0" destOrd="0" presId="urn:microsoft.com/office/officeart/2005/8/layout/orgChart1"/>
    <dgm:cxn modelId="{7EDA1F0C-EC69-1143-811B-1D0C1A67ED45}" type="presOf" srcId="{68B96863-0D17-BC49-BE42-020D386CE8E6}" destId="{5C6EF4C2-3961-254A-94DA-BB4E87573A16}" srcOrd="1" destOrd="0" presId="urn:microsoft.com/office/officeart/2005/8/layout/orgChart1"/>
    <dgm:cxn modelId="{41871D13-288D-F44A-8925-DAEF2C7A7D22}" type="presOf" srcId="{8950EDEB-B6F2-A544-82D5-AF628DD3F905}" destId="{FE59479F-1148-1F4C-9F64-C69B57C5ED28}" srcOrd="0" destOrd="0" presId="urn:microsoft.com/office/officeart/2005/8/layout/orgChart1"/>
    <dgm:cxn modelId="{54D24D21-B034-294D-99A0-E6AE88A54B60}" srcId="{050A0F02-5B7B-5249-9648-98193ACCEFFB}" destId="{68B96863-0D17-BC49-BE42-020D386CE8E6}" srcOrd="2" destOrd="0" parTransId="{208CDEAD-5FA7-6541-9054-80418F481FDA}" sibTransId="{7BA313D8-E6EA-DD43-BB9D-04D4A162527C}"/>
    <dgm:cxn modelId="{D295AF26-22DE-364B-8ABA-856B1E242B73}" type="presOf" srcId="{050A0F02-5B7B-5249-9648-98193ACCEFFB}" destId="{5DC5C8F4-70FD-C045-A5E0-E21B4D72018A}" srcOrd="0" destOrd="0" presId="urn:microsoft.com/office/officeart/2005/8/layout/orgChart1"/>
    <dgm:cxn modelId="{7850DA36-5914-594D-BACD-0F4CD36B8DC6}" type="presOf" srcId="{208CDEAD-5FA7-6541-9054-80418F481FDA}" destId="{6B3C8F76-6DD2-EA4B-82F5-EF463442DCDF}" srcOrd="0" destOrd="0" presId="urn:microsoft.com/office/officeart/2005/8/layout/orgChart1"/>
    <dgm:cxn modelId="{7C08D038-1B97-DF48-95F2-EBAB057DF7BA}" srcId="{050A0F02-5B7B-5249-9648-98193ACCEFFB}" destId="{0DC75115-B9DC-8148-B319-6D34AC956E87}" srcOrd="0" destOrd="0" parTransId="{8950EDEB-B6F2-A544-82D5-AF628DD3F905}" sibTransId="{6EAAF54E-72C4-9B47-BF92-8AF5E621C139}"/>
    <dgm:cxn modelId="{392E455B-8989-B247-AF6D-996589F9431E}" type="presOf" srcId="{0DC75115-B9DC-8148-B319-6D34AC956E87}" destId="{59BE055C-9D12-2040-AACE-030FC5654171}" srcOrd="1" destOrd="0" presId="urn:microsoft.com/office/officeart/2005/8/layout/orgChart1"/>
    <dgm:cxn modelId="{4A4F5C76-C303-0B49-AC48-D611607641A1}" type="presOf" srcId="{2D97E0A5-32A3-9245-85F0-9E07EB96952E}" destId="{A0E0D883-A34D-EE4E-838A-DC8DE4598EC8}" srcOrd="1" destOrd="0" presId="urn:microsoft.com/office/officeart/2005/8/layout/orgChart1"/>
    <dgm:cxn modelId="{56DCBD78-D4FC-E840-86EB-982623E75D73}" type="presOf" srcId="{19D7C76B-AB7A-C948-8645-3C4F51D01A49}" destId="{389E3CF9-ED24-6C43-8ED5-B24BC54CC4B5}" srcOrd="0" destOrd="0" presId="urn:microsoft.com/office/officeart/2005/8/layout/orgChart1"/>
    <dgm:cxn modelId="{31F02E83-3340-3F40-87CB-8D7B368BC1DF}" type="presOf" srcId="{1474C0ED-A84D-624A-A131-A4CEC839B650}" destId="{7C2C40A8-5427-0145-BE53-9B3D326AF59C}" srcOrd="1" destOrd="0" presId="urn:microsoft.com/office/officeart/2005/8/layout/orgChart1"/>
    <dgm:cxn modelId="{72976999-A1AE-1246-B552-6D4AFA0E9E22}" type="presOf" srcId="{CA67CB73-D092-B046-B1DE-D9F847ADF8D5}" destId="{AF722BBD-5C43-D24E-9F5D-BAEE0E5B47D1}" srcOrd="0" destOrd="0" presId="urn:microsoft.com/office/officeart/2005/8/layout/orgChart1"/>
    <dgm:cxn modelId="{85438A9B-4635-604E-A579-6A212EB44733}" type="presOf" srcId="{0DC75115-B9DC-8148-B319-6D34AC956E87}" destId="{85C03146-02B4-E44F-B210-6DFC9FE11F3B}" srcOrd="0" destOrd="0" presId="urn:microsoft.com/office/officeart/2005/8/layout/orgChart1"/>
    <dgm:cxn modelId="{C7F135A0-A6B9-A34A-BCA5-9160FE0E33ED}" type="presOf" srcId="{6C579508-227C-D642-9980-DC5C7DD56BDD}" destId="{7425D222-B1D0-094D-8476-503AF821CCDA}" srcOrd="0" destOrd="0" presId="urn:microsoft.com/office/officeart/2005/8/layout/orgChart1"/>
    <dgm:cxn modelId="{2EEF47A4-4056-CD47-813D-B8F9C4263553}" srcId="{050A0F02-5B7B-5249-9648-98193ACCEFFB}" destId="{2D97E0A5-32A3-9245-85F0-9E07EB96952E}" srcOrd="3" destOrd="0" parTransId="{623C9453-7607-C74F-A497-856DB6916B8E}" sibTransId="{DD84EA46-7A2A-5E4D-AD91-664558943157}"/>
    <dgm:cxn modelId="{8DC584A7-8F90-5548-B267-6AD06C62383D}" type="presOf" srcId="{623C9453-7607-C74F-A497-856DB6916B8E}" destId="{7C13EEEA-9ED1-C145-9053-4005B359DDC9}" srcOrd="0" destOrd="0" presId="urn:microsoft.com/office/officeart/2005/8/layout/orgChart1"/>
    <dgm:cxn modelId="{38E1E6CB-6D82-8449-A722-79F604BCC7D3}" type="presOf" srcId="{2D97E0A5-32A3-9245-85F0-9E07EB96952E}" destId="{701DF199-2E1C-DE4F-8914-6E3A92143B62}" srcOrd="0" destOrd="0" presId="urn:microsoft.com/office/officeart/2005/8/layout/orgChart1"/>
    <dgm:cxn modelId="{DE3DE2D2-5151-D848-9454-9D327F86CEFA}" srcId="{050A0F02-5B7B-5249-9648-98193ACCEFFB}" destId="{1474C0ED-A84D-624A-A131-A4CEC839B650}" srcOrd="4" destOrd="0" parTransId="{CA67CB73-D092-B046-B1DE-D9F847ADF8D5}" sibTransId="{37782474-CDF2-7C42-8E18-B88FF20314A7}"/>
    <dgm:cxn modelId="{A0D40FDC-8353-2D4C-9D56-28E5D121FA42}" type="presOf" srcId="{050A0F02-5B7B-5249-9648-98193ACCEFFB}" destId="{40FE4A91-611D-0848-AF1E-1346C8C01F8D}" srcOrd="1" destOrd="0" presId="urn:microsoft.com/office/officeart/2005/8/layout/orgChart1"/>
    <dgm:cxn modelId="{F58AF8E2-52E8-104C-BEE7-28EAEBD7C6A9}" type="presOf" srcId="{68B96863-0D17-BC49-BE42-020D386CE8E6}" destId="{AF482C45-5CF8-4B4E-AD7A-7141F5A4F22E}" srcOrd="0" destOrd="0" presId="urn:microsoft.com/office/officeart/2005/8/layout/orgChart1"/>
    <dgm:cxn modelId="{A83A09E3-2A9A-6C45-975C-0AD6ED612A4A}" type="presOf" srcId="{6C579508-227C-D642-9980-DC5C7DD56BDD}" destId="{512BF351-D031-F045-9FE7-5EA76526BEFA}" srcOrd="1" destOrd="0" presId="urn:microsoft.com/office/officeart/2005/8/layout/orgChart1"/>
    <dgm:cxn modelId="{693FBCED-02B4-F647-B832-AF79E40DA2F8}" type="presOf" srcId="{14664538-BBB4-A445-AEC6-36B9644260B8}" destId="{7C89AC6C-50A5-564E-A829-7D2DFF0B8E44}" srcOrd="0" destOrd="0" presId="urn:microsoft.com/office/officeart/2005/8/layout/orgChart1"/>
    <dgm:cxn modelId="{BD6090EF-7CAA-8646-9A76-208514CFCC55}" srcId="{19D7C76B-AB7A-C948-8645-3C4F51D01A49}" destId="{050A0F02-5B7B-5249-9648-98193ACCEFFB}" srcOrd="0" destOrd="0" parTransId="{7D559E0C-33D9-194A-99C7-803772D6E2F8}" sibTransId="{B22E5BAC-5324-1F4A-933D-B08FEEC55CBE}"/>
    <dgm:cxn modelId="{2923A8FB-684C-3349-9207-9BAA1C0BAAB1}" srcId="{050A0F02-5B7B-5249-9648-98193ACCEFFB}" destId="{6C579508-227C-D642-9980-DC5C7DD56BDD}" srcOrd="1" destOrd="0" parTransId="{14664538-BBB4-A445-AEC6-36B9644260B8}" sibTransId="{85AE7712-81D3-B342-8599-69AEC30D2DA7}"/>
    <dgm:cxn modelId="{C0713573-C9A6-A74C-B191-5DF16C5588B0}" type="presParOf" srcId="{389E3CF9-ED24-6C43-8ED5-B24BC54CC4B5}" destId="{5DE9069C-42A2-524A-B859-A5648CF9BD79}" srcOrd="0" destOrd="0" presId="urn:microsoft.com/office/officeart/2005/8/layout/orgChart1"/>
    <dgm:cxn modelId="{73F9DDF0-64E4-6342-87FF-8C5DA8611BD3}" type="presParOf" srcId="{5DE9069C-42A2-524A-B859-A5648CF9BD79}" destId="{E9C03270-E6CD-2B4D-ACBD-46E3494DB0E8}" srcOrd="0" destOrd="0" presId="urn:microsoft.com/office/officeart/2005/8/layout/orgChart1"/>
    <dgm:cxn modelId="{5E429CF4-5733-6743-A0C4-D447FADAC4A6}" type="presParOf" srcId="{E9C03270-E6CD-2B4D-ACBD-46E3494DB0E8}" destId="{5DC5C8F4-70FD-C045-A5E0-E21B4D72018A}" srcOrd="0" destOrd="0" presId="urn:microsoft.com/office/officeart/2005/8/layout/orgChart1"/>
    <dgm:cxn modelId="{C3A1ACAB-4362-C145-9D10-711E5B936DBF}" type="presParOf" srcId="{E9C03270-E6CD-2B4D-ACBD-46E3494DB0E8}" destId="{40FE4A91-611D-0848-AF1E-1346C8C01F8D}" srcOrd="1" destOrd="0" presId="urn:microsoft.com/office/officeart/2005/8/layout/orgChart1"/>
    <dgm:cxn modelId="{A1AF6DF9-A570-004F-B99F-10C766371CF7}" type="presParOf" srcId="{5DE9069C-42A2-524A-B859-A5648CF9BD79}" destId="{A52E62A9-DD05-8044-8729-D5AE630CE34D}" srcOrd="1" destOrd="0" presId="urn:microsoft.com/office/officeart/2005/8/layout/orgChart1"/>
    <dgm:cxn modelId="{D49CCE35-234C-EC43-8C3C-0730B8310F44}" type="presParOf" srcId="{A52E62A9-DD05-8044-8729-D5AE630CE34D}" destId="{7C89AC6C-50A5-564E-A829-7D2DFF0B8E44}" srcOrd="0" destOrd="0" presId="urn:microsoft.com/office/officeart/2005/8/layout/orgChart1"/>
    <dgm:cxn modelId="{DAE19B07-5930-964F-ABE2-2641B0EA82BF}" type="presParOf" srcId="{A52E62A9-DD05-8044-8729-D5AE630CE34D}" destId="{4C70CB35-FD29-ED41-A512-5722F2965F1E}" srcOrd="1" destOrd="0" presId="urn:microsoft.com/office/officeart/2005/8/layout/orgChart1"/>
    <dgm:cxn modelId="{83F5687A-BBE7-374F-9FAE-3B4AFAC5ACF1}" type="presParOf" srcId="{4C70CB35-FD29-ED41-A512-5722F2965F1E}" destId="{86773431-F422-D74C-A00D-0F82EB47FCBE}" srcOrd="0" destOrd="0" presId="urn:microsoft.com/office/officeart/2005/8/layout/orgChart1"/>
    <dgm:cxn modelId="{B6D62B94-DD21-3546-A91A-1B71A2DC6BCC}" type="presParOf" srcId="{86773431-F422-D74C-A00D-0F82EB47FCBE}" destId="{7425D222-B1D0-094D-8476-503AF821CCDA}" srcOrd="0" destOrd="0" presId="urn:microsoft.com/office/officeart/2005/8/layout/orgChart1"/>
    <dgm:cxn modelId="{25F88721-8B34-0B43-9BC8-1049859091E3}" type="presParOf" srcId="{86773431-F422-D74C-A00D-0F82EB47FCBE}" destId="{512BF351-D031-F045-9FE7-5EA76526BEFA}" srcOrd="1" destOrd="0" presId="urn:microsoft.com/office/officeart/2005/8/layout/orgChart1"/>
    <dgm:cxn modelId="{450E6F9A-A83B-0245-A819-2522477E4D03}" type="presParOf" srcId="{4C70CB35-FD29-ED41-A512-5722F2965F1E}" destId="{F5ABB4CE-9963-DC4B-AFB3-528ACEF4203F}" srcOrd="1" destOrd="0" presId="urn:microsoft.com/office/officeart/2005/8/layout/orgChart1"/>
    <dgm:cxn modelId="{30863B4C-8CA7-8340-932A-6904225121EC}" type="presParOf" srcId="{4C70CB35-FD29-ED41-A512-5722F2965F1E}" destId="{0B07386A-8A45-3548-B0C6-954DDD3F7B3C}" srcOrd="2" destOrd="0" presId="urn:microsoft.com/office/officeart/2005/8/layout/orgChart1"/>
    <dgm:cxn modelId="{B0C2FC1B-AF2D-874A-8F0C-4F8E435417F5}" type="presParOf" srcId="{A52E62A9-DD05-8044-8729-D5AE630CE34D}" destId="{6B3C8F76-6DD2-EA4B-82F5-EF463442DCDF}" srcOrd="2" destOrd="0" presId="urn:microsoft.com/office/officeart/2005/8/layout/orgChart1"/>
    <dgm:cxn modelId="{76971D14-F0A7-F040-A78B-1F5E6E722652}" type="presParOf" srcId="{A52E62A9-DD05-8044-8729-D5AE630CE34D}" destId="{8B8B65EC-8EE9-3F49-9871-176B1C9124D4}" srcOrd="3" destOrd="0" presId="urn:microsoft.com/office/officeart/2005/8/layout/orgChart1"/>
    <dgm:cxn modelId="{F6FFBA9F-868E-C440-A069-185AD97911DC}" type="presParOf" srcId="{8B8B65EC-8EE9-3F49-9871-176B1C9124D4}" destId="{5562A0AA-C164-FD4F-AB80-530EA2D1CE83}" srcOrd="0" destOrd="0" presId="urn:microsoft.com/office/officeart/2005/8/layout/orgChart1"/>
    <dgm:cxn modelId="{E8C97F6F-B377-DD4F-9A53-90B7BC234D7E}" type="presParOf" srcId="{5562A0AA-C164-FD4F-AB80-530EA2D1CE83}" destId="{AF482C45-5CF8-4B4E-AD7A-7141F5A4F22E}" srcOrd="0" destOrd="0" presId="urn:microsoft.com/office/officeart/2005/8/layout/orgChart1"/>
    <dgm:cxn modelId="{603330FE-BB22-CF41-B9F1-C9FEEE8E50A0}" type="presParOf" srcId="{5562A0AA-C164-FD4F-AB80-530EA2D1CE83}" destId="{5C6EF4C2-3961-254A-94DA-BB4E87573A16}" srcOrd="1" destOrd="0" presId="urn:microsoft.com/office/officeart/2005/8/layout/orgChart1"/>
    <dgm:cxn modelId="{80B0E81F-268C-1E40-AFF7-3591C98E9CDA}" type="presParOf" srcId="{8B8B65EC-8EE9-3F49-9871-176B1C9124D4}" destId="{86F81B81-D41F-0944-AED3-2A0268D3A24A}" srcOrd="1" destOrd="0" presId="urn:microsoft.com/office/officeart/2005/8/layout/orgChart1"/>
    <dgm:cxn modelId="{F9D6B70C-4A1D-F743-AE28-3C26E7715AAD}" type="presParOf" srcId="{8B8B65EC-8EE9-3F49-9871-176B1C9124D4}" destId="{A306EAB7-BF24-DB48-9375-015BE951EB4A}" srcOrd="2" destOrd="0" presId="urn:microsoft.com/office/officeart/2005/8/layout/orgChart1"/>
    <dgm:cxn modelId="{FA0E6C4F-00AC-C44F-ABC2-4755F94E09EE}" type="presParOf" srcId="{A52E62A9-DD05-8044-8729-D5AE630CE34D}" destId="{7C13EEEA-9ED1-C145-9053-4005B359DDC9}" srcOrd="4" destOrd="0" presId="urn:microsoft.com/office/officeart/2005/8/layout/orgChart1"/>
    <dgm:cxn modelId="{DEB387E3-5C2A-A543-BDD3-3721211D0D56}" type="presParOf" srcId="{A52E62A9-DD05-8044-8729-D5AE630CE34D}" destId="{9C3CCED9-7228-814B-BFC6-9A2B2F1A273E}" srcOrd="5" destOrd="0" presId="urn:microsoft.com/office/officeart/2005/8/layout/orgChart1"/>
    <dgm:cxn modelId="{EA80A0FD-52B5-6343-BAEB-9BE236A4E1BB}" type="presParOf" srcId="{9C3CCED9-7228-814B-BFC6-9A2B2F1A273E}" destId="{CA59318D-3F7D-7C44-9F31-585CB082F18E}" srcOrd="0" destOrd="0" presId="urn:microsoft.com/office/officeart/2005/8/layout/orgChart1"/>
    <dgm:cxn modelId="{7E09E5DB-E92D-584A-B2AF-8B487384FE08}" type="presParOf" srcId="{CA59318D-3F7D-7C44-9F31-585CB082F18E}" destId="{701DF199-2E1C-DE4F-8914-6E3A92143B62}" srcOrd="0" destOrd="0" presId="urn:microsoft.com/office/officeart/2005/8/layout/orgChart1"/>
    <dgm:cxn modelId="{5458C178-B726-AC40-9F12-826D99D44582}" type="presParOf" srcId="{CA59318D-3F7D-7C44-9F31-585CB082F18E}" destId="{A0E0D883-A34D-EE4E-838A-DC8DE4598EC8}" srcOrd="1" destOrd="0" presId="urn:microsoft.com/office/officeart/2005/8/layout/orgChart1"/>
    <dgm:cxn modelId="{2E298650-CC20-2945-A82C-2F1ED87D7D73}" type="presParOf" srcId="{9C3CCED9-7228-814B-BFC6-9A2B2F1A273E}" destId="{6CF81946-822B-384F-BA81-E190C89C13D8}" srcOrd="1" destOrd="0" presId="urn:microsoft.com/office/officeart/2005/8/layout/orgChart1"/>
    <dgm:cxn modelId="{0792A4BA-2AFC-8A4D-85B1-0DD4874046E3}" type="presParOf" srcId="{9C3CCED9-7228-814B-BFC6-9A2B2F1A273E}" destId="{85DFB5AD-2AF5-E549-9390-09A2C1370E20}" srcOrd="2" destOrd="0" presId="urn:microsoft.com/office/officeart/2005/8/layout/orgChart1"/>
    <dgm:cxn modelId="{FE753B20-DE63-E14A-9FD1-53523FCD9F26}" type="presParOf" srcId="{A52E62A9-DD05-8044-8729-D5AE630CE34D}" destId="{AF722BBD-5C43-D24E-9F5D-BAEE0E5B47D1}" srcOrd="6" destOrd="0" presId="urn:microsoft.com/office/officeart/2005/8/layout/orgChart1"/>
    <dgm:cxn modelId="{1A7782A6-CA6C-A24E-B7C4-8FFE214A8398}" type="presParOf" srcId="{A52E62A9-DD05-8044-8729-D5AE630CE34D}" destId="{2C1072BD-874E-5D4A-A31A-3862F57631F7}" srcOrd="7" destOrd="0" presId="urn:microsoft.com/office/officeart/2005/8/layout/orgChart1"/>
    <dgm:cxn modelId="{37767622-1E72-DF46-9CC4-BA5A55190A95}" type="presParOf" srcId="{2C1072BD-874E-5D4A-A31A-3862F57631F7}" destId="{A24B59D0-A80E-7249-BC35-75176DCF33EF}" srcOrd="0" destOrd="0" presId="urn:microsoft.com/office/officeart/2005/8/layout/orgChart1"/>
    <dgm:cxn modelId="{DEA35062-D5AD-484C-8389-262378DBFE7C}" type="presParOf" srcId="{A24B59D0-A80E-7249-BC35-75176DCF33EF}" destId="{7F69E246-C24B-F34D-B8D0-273996625A98}" srcOrd="0" destOrd="0" presId="urn:microsoft.com/office/officeart/2005/8/layout/orgChart1"/>
    <dgm:cxn modelId="{EF6AC5A4-FFA2-D940-B571-D8F6C264401B}" type="presParOf" srcId="{A24B59D0-A80E-7249-BC35-75176DCF33EF}" destId="{7C2C40A8-5427-0145-BE53-9B3D326AF59C}" srcOrd="1" destOrd="0" presId="urn:microsoft.com/office/officeart/2005/8/layout/orgChart1"/>
    <dgm:cxn modelId="{E9375AC1-3970-2146-BD62-3CBB8436809E}" type="presParOf" srcId="{2C1072BD-874E-5D4A-A31A-3862F57631F7}" destId="{A10C0384-CCA2-E54A-8D3C-D8957455BF94}" srcOrd="1" destOrd="0" presId="urn:microsoft.com/office/officeart/2005/8/layout/orgChart1"/>
    <dgm:cxn modelId="{574379FA-155E-D54B-AB06-857FF4753622}" type="presParOf" srcId="{2C1072BD-874E-5D4A-A31A-3862F57631F7}" destId="{0389EBEC-D387-6343-9ADD-77B327A58B25}" srcOrd="2" destOrd="0" presId="urn:microsoft.com/office/officeart/2005/8/layout/orgChart1"/>
    <dgm:cxn modelId="{D0847632-8B23-4544-9660-FC42A855C923}" type="presParOf" srcId="{5DE9069C-42A2-524A-B859-A5648CF9BD79}" destId="{2213209E-55B5-1547-98AC-61DFDB637D64}" srcOrd="2" destOrd="0" presId="urn:microsoft.com/office/officeart/2005/8/layout/orgChart1"/>
    <dgm:cxn modelId="{019E6322-447D-8E4F-BC86-EC1A46A6DA52}" type="presParOf" srcId="{2213209E-55B5-1547-98AC-61DFDB637D64}" destId="{FE59479F-1148-1F4C-9F64-C69B57C5ED28}" srcOrd="0" destOrd="0" presId="urn:microsoft.com/office/officeart/2005/8/layout/orgChart1"/>
    <dgm:cxn modelId="{14DADBDD-16FC-7246-9EE4-F17DD48754D8}" type="presParOf" srcId="{2213209E-55B5-1547-98AC-61DFDB637D64}" destId="{94A54E76-BCE0-404B-9130-25A64B10FFC1}" srcOrd="1" destOrd="0" presId="urn:microsoft.com/office/officeart/2005/8/layout/orgChart1"/>
    <dgm:cxn modelId="{19009774-F930-D347-B440-AFC549F29052}" type="presParOf" srcId="{94A54E76-BCE0-404B-9130-25A64B10FFC1}" destId="{6DCEB0D8-D68C-7E4E-A623-C466D7C6D5E7}" srcOrd="0" destOrd="0" presId="urn:microsoft.com/office/officeart/2005/8/layout/orgChart1"/>
    <dgm:cxn modelId="{CA8A844B-A15C-1D40-95E1-B7C0318E6BCB}" type="presParOf" srcId="{6DCEB0D8-D68C-7E4E-A623-C466D7C6D5E7}" destId="{85C03146-02B4-E44F-B210-6DFC9FE11F3B}" srcOrd="0" destOrd="0" presId="urn:microsoft.com/office/officeart/2005/8/layout/orgChart1"/>
    <dgm:cxn modelId="{3312848D-ACBE-7E48-9B87-4A27E523B98E}" type="presParOf" srcId="{6DCEB0D8-D68C-7E4E-A623-C466D7C6D5E7}" destId="{59BE055C-9D12-2040-AACE-030FC5654171}" srcOrd="1" destOrd="0" presId="urn:microsoft.com/office/officeart/2005/8/layout/orgChart1"/>
    <dgm:cxn modelId="{225A5AFD-75AD-EB46-86DE-20FAB6B744B9}" type="presParOf" srcId="{94A54E76-BCE0-404B-9130-25A64B10FFC1}" destId="{2B620E70-3C47-1945-A0B8-5EE649DBBDEA}" srcOrd="1" destOrd="0" presId="urn:microsoft.com/office/officeart/2005/8/layout/orgChart1"/>
    <dgm:cxn modelId="{ADE27745-31D4-584F-B766-74E27FC6EF19}" type="presParOf" srcId="{94A54E76-BCE0-404B-9130-25A64B10FFC1}" destId="{ECFBD693-0426-7545-9653-AE83787213B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B664EC-BE5B-44F6-88B2-023C1E5A9E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A03E4D-E957-4EC2-889D-1B613E64EEF3}">
      <dgm:prSet/>
      <dgm:spPr/>
      <dgm:t>
        <a:bodyPr/>
        <a:lstStyle/>
        <a:p>
          <a:r>
            <a:rPr lang="de-DE" b="1" i="0"/>
            <a:t>Leistungsstand:</a:t>
          </a:r>
          <a:r>
            <a:rPr lang="de-DE" b="0" i="0"/>
            <a:t> Technologie nahezu ausentwickelt. Um ein paar PS oder Effizienzprozente aus einem Motor herauszuholen, exponentiell steigende R&amp;D Kosten</a:t>
          </a:r>
          <a:endParaRPr lang="en-US"/>
        </a:p>
      </dgm:t>
    </dgm:pt>
    <dgm:pt modelId="{A8DE22F9-283A-4F28-A258-0802E89A5993}" type="parTrans" cxnId="{DA506258-2C31-495C-A8A2-C47B1559F9DC}">
      <dgm:prSet/>
      <dgm:spPr/>
      <dgm:t>
        <a:bodyPr/>
        <a:lstStyle/>
        <a:p>
          <a:endParaRPr lang="en-US"/>
        </a:p>
      </dgm:t>
    </dgm:pt>
    <dgm:pt modelId="{6F7BB4FC-7509-43FD-900A-7145926349F5}" type="sibTrans" cxnId="{DA506258-2C31-495C-A8A2-C47B1559F9DC}">
      <dgm:prSet/>
      <dgm:spPr/>
      <dgm:t>
        <a:bodyPr/>
        <a:lstStyle/>
        <a:p>
          <a:endParaRPr lang="en-US"/>
        </a:p>
      </dgm:t>
    </dgm:pt>
    <dgm:pt modelId="{26116D3A-6C34-4789-ADDB-247FC3150BDF}">
      <dgm:prSet/>
      <dgm:spPr/>
      <dgm:t>
        <a:bodyPr/>
        <a:lstStyle/>
        <a:p>
          <a:r>
            <a:rPr lang="de-DE" b="1" i="0"/>
            <a:t>Strategie:</a:t>
          </a:r>
          <a:r>
            <a:rPr lang="de-DE" b="0" i="0"/>
            <a:t> Modelle wie 911 und den Panamera, gibt es weiterhin als Verbrenner um maximale Margen abzuschöpfen.</a:t>
          </a:r>
          <a:br>
            <a:rPr lang="de-DE" b="0" i="0"/>
          </a:br>
          <a:r>
            <a:rPr lang="de-DE" b="0" i="0"/>
            <a:t>Design wird ikonisiert, limitierte Sondereditionen treiben den Preis nach oben.</a:t>
          </a:r>
          <a:endParaRPr lang="en-US"/>
        </a:p>
      </dgm:t>
    </dgm:pt>
    <dgm:pt modelId="{8EBBDEB5-735E-4A83-B91F-BB4263E8B6C4}" type="parTrans" cxnId="{9B28995D-7966-400E-BF17-7205E662F4F3}">
      <dgm:prSet/>
      <dgm:spPr/>
      <dgm:t>
        <a:bodyPr/>
        <a:lstStyle/>
        <a:p>
          <a:endParaRPr lang="en-US"/>
        </a:p>
      </dgm:t>
    </dgm:pt>
    <dgm:pt modelId="{EC2019B0-8A19-4616-A074-78C94FDBB2A6}" type="sibTrans" cxnId="{9B28995D-7966-400E-BF17-7205E662F4F3}">
      <dgm:prSet/>
      <dgm:spPr/>
      <dgm:t>
        <a:bodyPr/>
        <a:lstStyle/>
        <a:p>
          <a:endParaRPr lang="en-US"/>
        </a:p>
      </dgm:t>
    </dgm:pt>
    <dgm:pt modelId="{D8212B1C-6285-458F-8CDA-B2BE26D34387}">
      <dgm:prSet/>
      <dgm:spPr/>
      <dgm:t>
        <a:bodyPr/>
        <a:lstStyle/>
        <a:p>
          <a:r>
            <a:rPr lang="de-DE" b="1" i="0"/>
            <a:t>Lebensverlängerung: </a:t>
          </a:r>
          <a:r>
            <a:rPr lang="de-DE" b="0" i="0"/>
            <a:t>Mit Investitionen in E-Fuels versucht Porsche, diese S-Kurve für Liebhabermodelle künstlich in die Länge zu ziehen.</a:t>
          </a:r>
          <a:endParaRPr lang="en-US"/>
        </a:p>
      </dgm:t>
    </dgm:pt>
    <dgm:pt modelId="{B4BC23DA-D77C-49F8-8E75-4A02E49EAEF7}" type="parTrans" cxnId="{851D0C4F-A8DA-4568-BE03-07527269A318}">
      <dgm:prSet/>
      <dgm:spPr/>
      <dgm:t>
        <a:bodyPr/>
        <a:lstStyle/>
        <a:p>
          <a:endParaRPr lang="en-US"/>
        </a:p>
      </dgm:t>
    </dgm:pt>
    <dgm:pt modelId="{FE3757D5-2C94-44C8-A6AE-901A215DEBEF}" type="sibTrans" cxnId="{851D0C4F-A8DA-4568-BE03-07527269A318}">
      <dgm:prSet/>
      <dgm:spPr/>
      <dgm:t>
        <a:bodyPr/>
        <a:lstStyle/>
        <a:p>
          <a:endParaRPr lang="en-US"/>
        </a:p>
      </dgm:t>
    </dgm:pt>
    <dgm:pt modelId="{C0A05818-B9C0-EA40-835D-8F1A684AD4BF}" type="pres">
      <dgm:prSet presAssocID="{CDB664EC-BE5B-44F6-88B2-023C1E5A9EBF}" presName="vert0" presStyleCnt="0">
        <dgm:presLayoutVars>
          <dgm:dir/>
          <dgm:animOne val="branch"/>
          <dgm:animLvl val="lvl"/>
        </dgm:presLayoutVars>
      </dgm:prSet>
      <dgm:spPr/>
    </dgm:pt>
    <dgm:pt modelId="{249BFD30-79A3-6444-952A-AD871C36D35B}" type="pres">
      <dgm:prSet presAssocID="{4EA03E4D-E957-4EC2-889D-1B613E64EEF3}" presName="thickLine" presStyleLbl="alignNode1" presStyleIdx="0" presStyleCnt="3"/>
      <dgm:spPr/>
    </dgm:pt>
    <dgm:pt modelId="{D6FC1619-0830-E84D-8333-F0510F43EA10}" type="pres">
      <dgm:prSet presAssocID="{4EA03E4D-E957-4EC2-889D-1B613E64EEF3}" presName="horz1" presStyleCnt="0"/>
      <dgm:spPr/>
    </dgm:pt>
    <dgm:pt modelId="{A5B74931-2106-5C4D-8D62-ACF2598E7576}" type="pres">
      <dgm:prSet presAssocID="{4EA03E4D-E957-4EC2-889D-1B613E64EEF3}" presName="tx1" presStyleLbl="revTx" presStyleIdx="0" presStyleCnt="3"/>
      <dgm:spPr/>
    </dgm:pt>
    <dgm:pt modelId="{6DBEFCAA-BBCC-7E4A-8439-2007C5D11977}" type="pres">
      <dgm:prSet presAssocID="{4EA03E4D-E957-4EC2-889D-1B613E64EEF3}" presName="vert1" presStyleCnt="0"/>
      <dgm:spPr/>
    </dgm:pt>
    <dgm:pt modelId="{C9B2F94B-21DD-1348-BF53-A2E9BF75C817}" type="pres">
      <dgm:prSet presAssocID="{26116D3A-6C34-4789-ADDB-247FC3150BDF}" presName="thickLine" presStyleLbl="alignNode1" presStyleIdx="1" presStyleCnt="3"/>
      <dgm:spPr/>
    </dgm:pt>
    <dgm:pt modelId="{2D5EBB3E-BC28-B646-B697-4DAE833A4C8A}" type="pres">
      <dgm:prSet presAssocID="{26116D3A-6C34-4789-ADDB-247FC3150BDF}" presName="horz1" presStyleCnt="0"/>
      <dgm:spPr/>
    </dgm:pt>
    <dgm:pt modelId="{8A26E104-0E34-8C4B-92B0-E0483AC4B8B6}" type="pres">
      <dgm:prSet presAssocID="{26116D3A-6C34-4789-ADDB-247FC3150BDF}" presName="tx1" presStyleLbl="revTx" presStyleIdx="1" presStyleCnt="3"/>
      <dgm:spPr/>
    </dgm:pt>
    <dgm:pt modelId="{4F3836D6-6A92-DB49-B438-80BEB85358D5}" type="pres">
      <dgm:prSet presAssocID="{26116D3A-6C34-4789-ADDB-247FC3150BDF}" presName="vert1" presStyleCnt="0"/>
      <dgm:spPr/>
    </dgm:pt>
    <dgm:pt modelId="{2F9ABD1D-3774-7D41-BAFD-6FB457BC87B3}" type="pres">
      <dgm:prSet presAssocID="{D8212B1C-6285-458F-8CDA-B2BE26D34387}" presName="thickLine" presStyleLbl="alignNode1" presStyleIdx="2" presStyleCnt="3"/>
      <dgm:spPr/>
    </dgm:pt>
    <dgm:pt modelId="{3C6111C0-49BC-894C-9048-35CE612112E9}" type="pres">
      <dgm:prSet presAssocID="{D8212B1C-6285-458F-8CDA-B2BE26D34387}" presName="horz1" presStyleCnt="0"/>
      <dgm:spPr/>
    </dgm:pt>
    <dgm:pt modelId="{4FD07614-D1E7-AA43-9F7E-B97456E52F87}" type="pres">
      <dgm:prSet presAssocID="{D8212B1C-6285-458F-8CDA-B2BE26D34387}" presName="tx1" presStyleLbl="revTx" presStyleIdx="2" presStyleCnt="3"/>
      <dgm:spPr/>
    </dgm:pt>
    <dgm:pt modelId="{1E7FADF0-08FB-A04A-ADC1-F97C75BBFB80}" type="pres">
      <dgm:prSet presAssocID="{D8212B1C-6285-458F-8CDA-B2BE26D34387}" presName="vert1" presStyleCnt="0"/>
      <dgm:spPr/>
    </dgm:pt>
  </dgm:ptLst>
  <dgm:cxnLst>
    <dgm:cxn modelId="{B86FEA1B-0620-B94E-966E-675684A98DCB}" type="presOf" srcId="{CDB664EC-BE5B-44F6-88B2-023C1E5A9EBF}" destId="{C0A05818-B9C0-EA40-835D-8F1A684AD4BF}" srcOrd="0" destOrd="0" presId="urn:microsoft.com/office/officeart/2008/layout/LinedList"/>
    <dgm:cxn modelId="{851D0C4F-A8DA-4568-BE03-07527269A318}" srcId="{CDB664EC-BE5B-44F6-88B2-023C1E5A9EBF}" destId="{D8212B1C-6285-458F-8CDA-B2BE26D34387}" srcOrd="2" destOrd="0" parTransId="{B4BC23DA-D77C-49F8-8E75-4A02E49EAEF7}" sibTransId="{FE3757D5-2C94-44C8-A6AE-901A215DEBEF}"/>
    <dgm:cxn modelId="{DA506258-2C31-495C-A8A2-C47B1559F9DC}" srcId="{CDB664EC-BE5B-44F6-88B2-023C1E5A9EBF}" destId="{4EA03E4D-E957-4EC2-889D-1B613E64EEF3}" srcOrd="0" destOrd="0" parTransId="{A8DE22F9-283A-4F28-A258-0802E89A5993}" sibTransId="{6F7BB4FC-7509-43FD-900A-7145926349F5}"/>
    <dgm:cxn modelId="{9B28995D-7966-400E-BF17-7205E662F4F3}" srcId="{CDB664EC-BE5B-44F6-88B2-023C1E5A9EBF}" destId="{26116D3A-6C34-4789-ADDB-247FC3150BDF}" srcOrd="1" destOrd="0" parTransId="{8EBBDEB5-735E-4A83-B91F-BB4263E8B6C4}" sibTransId="{EC2019B0-8A19-4616-A074-78C94FDBB2A6}"/>
    <dgm:cxn modelId="{5C5E956B-D90E-B84B-AE9C-834E17413A04}" type="presOf" srcId="{4EA03E4D-E957-4EC2-889D-1B613E64EEF3}" destId="{A5B74931-2106-5C4D-8D62-ACF2598E7576}" srcOrd="0" destOrd="0" presId="urn:microsoft.com/office/officeart/2008/layout/LinedList"/>
    <dgm:cxn modelId="{FFCF7271-7B62-054D-A05B-F51F5B439A6D}" type="presOf" srcId="{26116D3A-6C34-4789-ADDB-247FC3150BDF}" destId="{8A26E104-0E34-8C4B-92B0-E0483AC4B8B6}" srcOrd="0" destOrd="0" presId="urn:microsoft.com/office/officeart/2008/layout/LinedList"/>
    <dgm:cxn modelId="{E1911EF2-B5D5-2045-8237-298AB4856232}" type="presOf" srcId="{D8212B1C-6285-458F-8CDA-B2BE26D34387}" destId="{4FD07614-D1E7-AA43-9F7E-B97456E52F87}" srcOrd="0" destOrd="0" presId="urn:microsoft.com/office/officeart/2008/layout/LinedList"/>
    <dgm:cxn modelId="{F3CAD081-BF09-EA4C-A5FB-E348B097DF73}" type="presParOf" srcId="{C0A05818-B9C0-EA40-835D-8F1A684AD4BF}" destId="{249BFD30-79A3-6444-952A-AD871C36D35B}" srcOrd="0" destOrd="0" presId="urn:microsoft.com/office/officeart/2008/layout/LinedList"/>
    <dgm:cxn modelId="{E4FF9E2A-4964-3B47-9715-4F248B6907F7}" type="presParOf" srcId="{C0A05818-B9C0-EA40-835D-8F1A684AD4BF}" destId="{D6FC1619-0830-E84D-8333-F0510F43EA10}" srcOrd="1" destOrd="0" presId="urn:microsoft.com/office/officeart/2008/layout/LinedList"/>
    <dgm:cxn modelId="{3AC09540-EF7D-AD49-9BCE-BA2276572B2D}" type="presParOf" srcId="{D6FC1619-0830-E84D-8333-F0510F43EA10}" destId="{A5B74931-2106-5C4D-8D62-ACF2598E7576}" srcOrd="0" destOrd="0" presId="urn:microsoft.com/office/officeart/2008/layout/LinedList"/>
    <dgm:cxn modelId="{9CD53F54-8C35-E940-9C13-6033E80806A2}" type="presParOf" srcId="{D6FC1619-0830-E84D-8333-F0510F43EA10}" destId="{6DBEFCAA-BBCC-7E4A-8439-2007C5D11977}" srcOrd="1" destOrd="0" presId="urn:microsoft.com/office/officeart/2008/layout/LinedList"/>
    <dgm:cxn modelId="{187BEF0C-E7E5-5C40-B4AC-188FF11741CE}" type="presParOf" srcId="{C0A05818-B9C0-EA40-835D-8F1A684AD4BF}" destId="{C9B2F94B-21DD-1348-BF53-A2E9BF75C817}" srcOrd="2" destOrd="0" presId="urn:microsoft.com/office/officeart/2008/layout/LinedList"/>
    <dgm:cxn modelId="{1869D1C3-0B72-8940-BD5E-912FAEDFFA1B}" type="presParOf" srcId="{C0A05818-B9C0-EA40-835D-8F1A684AD4BF}" destId="{2D5EBB3E-BC28-B646-B697-4DAE833A4C8A}" srcOrd="3" destOrd="0" presId="urn:microsoft.com/office/officeart/2008/layout/LinedList"/>
    <dgm:cxn modelId="{54975D90-F26E-4E45-BA82-4E45629AD65A}" type="presParOf" srcId="{2D5EBB3E-BC28-B646-B697-4DAE833A4C8A}" destId="{8A26E104-0E34-8C4B-92B0-E0483AC4B8B6}" srcOrd="0" destOrd="0" presId="urn:microsoft.com/office/officeart/2008/layout/LinedList"/>
    <dgm:cxn modelId="{2A000B0B-977A-714B-8295-AEF5840159FA}" type="presParOf" srcId="{2D5EBB3E-BC28-B646-B697-4DAE833A4C8A}" destId="{4F3836D6-6A92-DB49-B438-80BEB85358D5}" srcOrd="1" destOrd="0" presId="urn:microsoft.com/office/officeart/2008/layout/LinedList"/>
    <dgm:cxn modelId="{457FCA94-0593-9A47-A101-217D9ADF1C55}" type="presParOf" srcId="{C0A05818-B9C0-EA40-835D-8F1A684AD4BF}" destId="{2F9ABD1D-3774-7D41-BAFD-6FB457BC87B3}" srcOrd="4" destOrd="0" presId="urn:microsoft.com/office/officeart/2008/layout/LinedList"/>
    <dgm:cxn modelId="{210030B4-920B-0D4C-B7F8-D5B3D227E844}" type="presParOf" srcId="{C0A05818-B9C0-EA40-835D-8F1A684AD4BF}" destId="{3C6111C0-49BC-894C-9048-35CE612112E9}" srcOrd="5" destOrd="0" presId="urn:microsoft.com/office/officeart/2008/layout/LinedList"/>
    <dgm:cxn modelId="{FE76CB78-CBE4-1D41-94E8-D2ED77DE9579}" type="presParOf" srcId="{3C6111C0-49BC-894C-9048-35CE612112E9}" destId="{4FD07614-D1E7-AA43-9F7E-B97456E52F87}" srcOrd="0" destOrd="0" presId="urn:microsoft.com/office/officeart/2008/layout/LinedList"/>
    <dgm:cxn modelId="{A6D43718-BE14-364E-8FB1-B07A3B380F5F}" type="presParOf" srcId="{3C6111C0-49BC-894C-9048-35CE612112E9}" destId="{1E7FADF0-08FB-A04A-ADC1-F97C75BBFB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B664EC-BE5B-44F6-88B2-023C1E5A9E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A03E4D-E957-4EC2-889D-1B613E64EEF3}">
      <dgm:prSet custT="1"/>
      <dgm:spPr/>
      <dgm:t>
        <a:bodyPr/>
        <a:lstStyle/>
        <a:p>
          <a:r>
            <a:rPr lang="de-DE" sz="2500" b="1" i="0"/>
            <a:t>Leistungsstand: </a:t>
          </a:r>
          <a:r>
            <a:rPr lang="de-DE" sz="2500" b="0" i="0"/>
            <a:t>Massive schnelle technologische Sprünge. Jede neue Batteriegeneration bringt mehr Reichweite und schnellere Ladezeiten.</a:t>
          </a:r>
          <a:endParaRPr lang="en-US" sz="2500"/>
        </a:p>
      </dgm:t>
    </dgm:pt>
    <dgm:pt modelId="{A8DE22F9-283A-4F28-A258-0802E89A5993}" type="parTrans" cxnId="{DA506258-2C31-495C-A8A2-C47B1559F9DC}">
      <dgm:prSet/>
      <dgm:spPr/>
      <dgm:t>
        <a:bodyPr/>
        <a:lstStyle/>
        <a:p>
          <a:endParaRPr lang="en-US"/>
        </a:p>
      </dgm:t>
    </dgm:pt>
    <dgm:pt modelId="{6F7BB4FC-7509-43FD-900A-7145926349F5}" type="sibTrans" cxnId="{DA506258-2C31-495C-A8A2-C47B1559F9DC}">
      <dgm:prSet/>
      <dgm:spPr/>
      <dgm:t>
        <a:bodyPr/>
        <a:lstStyle/>
        <a:p>
          <a:endParaRPr lang="en-US"/>
        </a:p>
      </dgm:t>
    </dgm:pt>
    <dgm:pt modelId="{26116D3A-6C34-4789-ADDB-247FC3150BDF}">
      <dgm:prSet custT="1"/>
      <dgm:spPr/>
      <dgm:t>
        <a:bodyPr/>
        <a:lstStyle/>
        <a:p>
          <a:r>
            <a:rPr lang="de-DE" sz="2500" b="1" i="0"/>
            <a:t>Strategie: </a:t>
          </a:r>
          <a:r>
            <a:rPr lang="de-DE" sz="2500" b="0" i="0"/>
            <a:t>Der Taycan war Porsches „PoC“ am Anfang dieser Kurve. Mit dem Macan EV skaliert Posche diese Technologie  nun in die Breite.</a:t>
          </a:r>
          <a:endParaRPr lang="en-US" sz="2500"/>
        </a:p>
      </dgm:t>
    </dgm:pt>
    <dgm:pt modelId="{8EBBDEB5-735E-4A83-B91F-BB4263E8B6C4}" type="parTrans" cxnId="{9B28995D-7966-400E-BF17-7205E662F4F3}">
      <dgm:prSet/>
      <dgm:spPr/>
      <dgm:t>
        <a:bodyPr/>
        <a:lstStyle/>
        <a:p>
          <a:endParaRPr lang="en-US"/>
        </a:p>
      </dgm:t>
    </dgm:pt>
    <dgm:pt modelId="{EC2019B0-8A19-4616-A074-78C94FDBB2A6}" type="sibTrans" cxnId="{9B28995D-7966-400E-BF17-7205E662F4F3}">
      <dgm:prSet/>
      <dgm:spPr/>
      <dgm:t>
        <a:bodyPr/>
        <a:lstStyle/>
        <a:p>
          <a:endParaRPr lang="en-US"/>
        </a:p>
      </dgm:t>
    </dgm:pt>
    <dgm:pt modelId="{D8212B1C-6285-458F-8CDA-B2BE26D34387}">
      <dgm:prSet custT="1"/>
      <dgm:spPr/>
      <dgm:t>
        <a:bodyPr/>
        <a:lstStyle/>
        <a:p>
          <a:r>
            <a:rPr lang="de-DE" sz="2500" b="1" noProof="1"/>
            <a:t>Herausforderung</a:t>
          </a:r>
          <a:r>
            <a:rPr lang="de-DE" sz="2500" b="1" i="0" dirty="0"/>
            <a:t>: </a:t>
          </a:r>
          <a:r>
            <a:rPr lang="de-DE" sz="2500" b="0" i="0" dirty="0"/>
            <a:t>Der Sprung auf diese Kurve ist „gefährlich“. Die neue Technologie hat anfangs schlechte Margen und erfordert den kompletten Umbau der Produktion.</a:t>
          </a:r>
          <a:endParaRPr lang="en-US" sz="2500" dirty="0"/>
        </a:p>
      </dgm:t>
    </dgm:pt>
    <dgm:pt modelId="{FE3757D5-2C94-44C8-A6AE-901A215DEBEF}" type="sibTrans" cxnId="{851D0C4F-A8DA-4568-BE03-07527269A318}">
      <dgm:prSet/>
      <dgm:spPr/>
      <dgm:t>
        <a:bodyPr/>
        <a:lstStyle/>
        <a:p>
          <a:endParaRPr lang="en-US"/>
        </a:p>
      </dgm:t>
    </dgm:pt>
    <dgm:pt modelId="{B4BC23DA-D77C-49F8-8E75-4A02E49EAEF7}" type="parTrans" cxnId="{851D0C4F-A8DA-4568-BE03-07527269A318}">
      <dgm:prSet/>
      <dgm:spPr/>
      <dgm:t>
        <a:bodyPr/>
        <a:lstStyle/>
        <a:p>
          <a:endParaRPr lang="en-US"/>
        </a:p>
      </dgm:t>
    </dgm:pt>
    <dgm:pt modelId="{C0A05818-B9C0-EA40-835D-8F1A684AD4BF}" type="pres">
      <dgm:prSet presAssocID="{CDB664EC-BE5B-44F6-88B2-023C1E5A9EBF}" presName="vert0" presStyleCnt="0">
        <dgm:presLayoutVars>
          <dgm:dir/>
          <dgm:animOne val="branch"/>
          <dgm:animLvl val="lvl"/>
        </dgm:presLayoutVars>
      </dgm:prSet>
      <dgm:spPr/>
    </dgm:pt>
    <dgm:pt modelId="{249BFD30-79A3-6444-952A-AD871C36D35B}" type="pres">
      <dgm:prSet presAssocID="{4EA03E4D-E957-4EC2-889D-1B613E64EEF3}" presName="thickLine" presStyleLbl="alignNode1" presStyleIdx="0" presStyleCnt="3"/>
      <dgm:spPr/>
    </dgm:pt>
    <dgm:pt modelId="{D6FC1619-0830-E84D-8333-F0510F43EA10}" type="pres">
      <dgm:prSet presAssocID="{4EA03E4D-E957-4EC2-889D-1B613E64EEF3}" presName="horz1" presStyleCnt="0"/>
      <dgm:spPr/>
    </dgm:pt>
    <dgm:pt modelId="{A5B74931-2106-5C4D-8D62-ACF2598E7576}" type="pres">
      <dgm:prSet presAssocID="{4EA03E4D-E957-4EC2-889D-1B613E64EEF3}" presName="tx1" presStyleLbl="revTx" presStyleIdx="0" presStyleCnt="3"/>
      <dgm:spPr/>
    </dgm:pt>
    <dgm:pt modelId="{6DBEFCAA-BBCC-7E4A-8439-2007C5D11977}" type="pres">
      <dgm:prSet presAssocID="{4EA03E4D-E957-4EC2-889D-1B613E64EEF3}" presName="vert1" presStyleCnt="0"/>
      <dgm:spPr/>
    </dgm:pt>
    <dgm:pt modelId="{C9B2F94B-21DD-1348-BF53-A2E9BF75C817}" type="pres">
      <dgm:prSet presAssocID="{26116D3A-6C34-4789-ADDB-247FC3150BDF}" presName="thickLine" presStyleLbl="alignNode1" presStyleIdx="1" presStyleCnt="3"/>
      <dgm:spPr/>
    </dgm:pt>
    <dgm:pt modelId="{2D5EBB3E-BC28-B646-B697-4DAE833A4C8A}" type="pres">
      <dgm:prSet presAssocID="{26116D3A-6C34-4789-ADDB-247FC3150BDF}" presName="horz1" presStyleCnt="0"/>
      <dgm:spPr/>
    </dgm:pt>
    <dgm:pt modelId="{8A26E104-0E34-8C4B-92B0-E0483AC4B8B6}" type="pres">
      <dgm:prSet presAssocID="{26116D3A-6C34-4789-ADDB-247FC3150BDF}" presName="tx1" presStyleLbl="revTx" presStyleIdx="1" presStyleCnt="3"/>
      <dgm:spPr/>
    </dgm:pt>
    <dgm:pt modelId="{4F3836D6-6A92-DB49-B438-80BEB85358D5}" type="pres">
      <dgm:prSet presAssocID="{26116D3A-6C34-4789-ADDB-247FC3150BDF}" presName="vert1" presStyleCnt="0"/>
      <dgm:spPr/>
    </dgm:pt>
    <dgm:pt modelId="{2F9ABD1D-3774-7D41-BAFD-6FB457BC87B3}" type="pres">
      <dgm:prSet presAssocID="{D8212B1C-6285-458F-8CDA-B2BE26D34387}" presName="thickLine" presStyleLbl="alignNode1" presStyleIdx="2" presStyleCnt="3"/>
      <dgm:spPr/>
    </dgm:pt>
    <dgm:pt modelId="{3C6111C0-49BC-894C-9048-35CE612112E9}" type="pres">
      <dgm:prSet presAssocID="{D8212B1C-6285-458F-8CDA-B2BE26D34387}" presName="horz1" presStyleCnt="0"/>
      <dgm:spPr/>
    </dgm:pt>
    <dgm:pt modelId="{4FD07614-D1E7-AA43-9F7E-B97456E52F87}" type="pres">
      <dgm:prSet presAssocID="{D8212B1C-6285-458F-8CDA-B2BE26D34387}" presName="tx1" presStyleLbl="revTx" presStyleIdx="2" presStyleCnt="3"/>
      <dgm:spPr/>
    </dgm:pt>
    <dgm:pt modelId="{1E7FADF0-08FB-A04A-ADC1-F97C75BBFB80}" type="pres">
      <dgm:prSet presAssocID="{D8212B1C-6285-458F-8CDA-B2BE26D34387}" presName="vert1" presStyleCnt="0"/>
      <dgm:spPr/>
    </dgm:pt>
  </dgm:ptLst>
  <dgm:cxnLst>
    <dgm:cxn modelId="{B86FEA1B-0620-B94E-966E-675684A98DCB}" type="presOf" srcId="{CDB664EC-BE5B-44F6-88B2-023C1E5A9EBF}" destId="{C0A05818-B9C0-EA40-835D-8F1A684AD4BF}" srcOrd="0" destOrd="0" presId="urn:microsoft.com/office/officeart/2008/layout/LinedList"/>
    <dgm:cxn modelId="{851D0C4F-A8DA-4568-BE03-07527269A318}" srcId="{CDB664EC-BE5B-44F6-88B2-023C1E5A9EBF}" destId="{D8212B1C-6285-458F-8CDA-B2BE26D34387}" srcOrd="2" destOrd="0" parTransId="{B4BC23DA-D77C-49F8-8E75-4A02E49EAEF7}" sibTransId="{FE3757D5-2C94-44C8-A6AE-901A215DEBEF}"/>
    <dgm:cxn modelId="{DA506258-2C31-495C-A8A2-C47B1559F9DC}" srcId="{CDB664EC-BE5B-44F6-88B2-023C1E5A9EBF}" destId="{4EA03E4D-E957-4EC2-889D-1B613E64EEF3}" srcOrd="0" destOrd="0" parTransId="{A8DE22F9-283A-4F28-A258-0802E89A5993}" sibTransId="{6F7BB4FC-7509-43FD-900A-7145926349F5}"/>
    <dgm:cxn modelId="{9B28995D-7966-400E-BF17-7205E662F4F3}" srcId="{CDB664EC-BE5B-44F6-88B2-023C1E5A9EBF}" destId="{26116D3A-6C34-4789-ADDB-247FC3150BDF}" srcOrd="1" destOrd="0" parTransId="{8EBBDEB5-735E-4A83-B91F-BB4263E8B6C4}" sibTransId="{EC2019B0-8A19-4616-A074-78C94FDBB2A6}"/>
    <dgm:cxn modelId="{5C5E956B-D90E-B84B-AE9C-834E17413A04}" type="presOf" srcId="{4EA03E4D-E957-4EC2-889D-1B613E64EEF3}" destId="{A5B74931-2106-5C4D-8D62-ACF2598E7576}" srcOrd="0" destOrd="0" presId="urn:microsoft.com/office/officeart/2008/layout/LinedList"/>
    <dgm:cxn modelId="{FFCF7271-7B62-054D-A05B-F51F5B439A6D}" type="presOf" srcId="{26116D3A-6C34-4789-ADDB-247FC3150BDF}" destId="{8A26E104-0E34-8C4B-92B0-E0483AC4B8B6}" srcOrd="0" destOrd="0" presId="urn:microsoft.com/office/officeart/2008/layout/LinedList"/>
    <dgm:cxn modelId="{E1911EF2-B5D5-2045-8237-298AB4856232}" type="presOf" srcId="{D8212B1C-6285-458F-8CDA-B2BE26D34387}" destId="{4FD07614-D1E7-AA43-9F7E-B97456E52F87}" srcOrd="0" destOrd="0" presId="urn:microsoft.com/office/officeart/2008/layout/LinedList"/>
    <dgm:cxn modelId="{F3CAD081-BF09-EA4C-A5FB-E348B097DF73}" type="presParOf" srcId="{C0A05818-B9C0-EA40-835D-8F1A684AD4BF}" destId="{249BFD30-79A3-6444-952A-AD871C36D35B}" srcOrd="0" destOrd="0" presId="urn:microsoft.com/office/officeart/2008/layout/LinedList"/>
    <dgm:cxn modelId="{E4FF9E2A-4964-3B47-9715-4F248B6907F7}" type="presParOf" srcId="{C0A05818-B9C0-EA40-835D-8F1A684AD4BF}" destId="{D6FC1619-0830-E84D-8333-F0510F43EA10}" srcOrd="1" destOrd="0" presId="urn:microsoft.com/office/officeart/2008/layout/LinedList"/>
    <dgm:cxn modelId="{3AC09540-EF7D-AD49-9BCE-BA2276572B2D}" type="presParOf" srcId="{D6FC1619-0830-E84D-8333-F0510F43EA10}" destId="{A5B74931-2106-5C4D-8D62-ACF2598E7576}" srcOrd="0" destOrd="0" presId="urn:microsoft.com/office/officeart/2008/layout/LinedList"/>
    <dgm:cxn modelId="{9CD53F54-8C35-E940-9C13-6033E80806A2}" type="presParOf" srcId="{D6FC1619-0830-E84D-8333-F0510F43EA10}" destId="{6DBEFCAA-BBCC-7E4A-8439-2007C5D11977}" srcOrd="1" destOrd="0" presId="urn:microsoft.com/office/officeart/2008/layout/LinedList"/>
    <dgm:cxn modelId="{187BEF0C-E7E5-5C40-B4AC-188FF11741CE}" type="presParOf" srcId="{C0A05818-B9C0-EA40-835D-8F1A684AD4BF}" destId="{C9B2F94B-21DD-1348-BF53-A2E9BF75C817}" srcOrd="2" destOrd="0" presId="urn:microsoft.com/office/officeart/2008/layout/LinedList"/>
    <dgm:cxn modelId="{1869D1C3-0B72-8940-BD5E-912FAEDFFA1B}" type="presParOf" srcId="{C0A05818-B9C0-EA40-835D-8F1A684AD4BF}" destId="{2D5EBB3E-BC28-B646-B697-4DAE833A4C8A}" srcOrd="3" destOrd="0" presId="urn:microsoft.com/office/officeart/2008/layout/LinedList"/>
    <dgm:cxn modelId="{54975D90-F26E-4E45-BA82-4E45629AD65A}" type="presParOf" srcId="{2D5EBB3E-BC28-B646-B697-4DAE833A4C8A}" destId="{8A26E104-0E34-8C4B-92B0-E0483AC4B8B6}" srcOrd="0" destOrd="0" presId="urn:microsoft.com/office/officeart/2008/layout/LinedList"/>
    <dgm:cxn modelId="{2A000B0B-977A-714B-8295-AEF5840159FA}" type="presParOf" srcId="{2D5EBB3E-BC28-B646-B697-4DAE833A4C8A}" destId="{4F3836D6-6A92-DB49-B438-80BEB85358D5}" srcOrd="1" destOrd="0" presId="urn:microsoft.com/office/officeart/2008/layout/LinedList"/>
    <dgm:cxn modelId="{457FCA94-0593-9A47-A101-217D9ADF1C55}" type="presParOf" srcId="{C0A05818-B9C0-EA40-835D-8F1A684AD4BF}" destId="{2F9ABD1D-3774-7D41-BAFD-6FB457BC87B3}" srcOrd="4" destOrd="0" presId="urn:microsoft.com/office/officeart/2008/layout/LinedList"/>
    <dgm:cxn modelId="{210030B4-920B-0D4C-B7F8-D5B3D227E844}" type="presParOf" srcId="{C0A05818-B9C0-EA40-835D-8F1A684AD4BF}" destId="{3C6111C0-49BC-894C-9048-35CE612112E9}" srcOrd="5" destOrd="0" presId="urn:microsoft.com/office/officeart/2008/layout/LinedList"/>
    <dgm:cxn modelId="{FE76CB78-CBE4-1D41-94E8-D2ED77DE9579}" type="presParOf" srcId="{3C6111C0-49BC-894C-9048-35CE612112E9}" destId="{4FD07614-D1E7-AA43-9F7E-B97456E52F87}" srcOrd="0" destOrd="0" presId="urn:microsoft.com/office/officeart/2008/layout/LinedList"/>
    <dgm:cxn modelId="{A6D43718-BE14-364E-8FB1-B07A3B380F5F}" type="presParOf" srcId="{3C6111C0-49BC-894C-9048-35CE612112E9}" destId="{1E7FADF0-08FB-A04A-ADC1-F97C75BBFB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9479F-1148-1F4C-9F64-C69B57C5ED28}">
      <dsp:nvSpPr>
        <dsp:cNvPr id="0" name=""/>
        <dsp:cNvSpPr/>
      </dsp:nvSpPr>
      <dsp:spPr>
        <a:xfrm>
          <a:off x="5300526" y="1238686"/>
          <a:ext cx="251562" cy="1102081"/>
        </a:xfrm>
        <a:custGeom>
          <a:avLst/>
          <a:gdLst/>
          <a:ahLst/>
          <a:cxnLst/>
          <a:rect l="0" t="0" r="0" b="0"/>
          <a:pathLst>
            <a:path>
              <a:moveTo>
                <a:pt x="251562" y="0"/>
              </a:moveTo>
              <a:lnTo>
                <a:pt x="251562" y="1102081"/>
              </a:lnTo>
              <a:lnTo>
                <a:pt x="0" y="110208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22BBD-5C43-D24E-9F5D-BAEE0E5B47D1}">
      <dsp:nvSpPr>
        <dsp:cNvPr id="0" name=""/>
        <dsp:cNvSpPr/>
      </dsp:nvSpPr>
      <dsp:spPr>
        <a:xfrm>
          <a:off x="5552089" y="1238686"/>
          <a:ext cx="4348430" cy="2204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2600"/>
              </a:lnTo>
              <a:lnTo>
                <a:pt x="4348430" y="1952600"/>
              </a:lnTo>
              <a:lnTo>
                <a:pt x="4348430" y="22041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3EEEA-9ED1-C145-9053-4005B359DDC9}">
      <dsp:nvSpPr>
        <dsp:cNvPr id="0" name=""/>
        <dsp:cNvSpPr/>
      </dsp:nvSpPr>
      <dsp:spPr>
        <a:xfrm>
          <a:off x="5552089" y="1238686"/>
          <a:ext cx="1449476" cy="2204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2600"/>
              </a:lnTo>
              <a:lnTo>
                <a:pt x="1449476" y="1952600"/>
              </a:lnTo>
              <a:lnTo>
                <a:pt x="1449476" y="22041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3C8F76-6DD2-EA4B-82F5-EF463442DCDF}">
      <dsp:nvSpPr>
        <dsp:cNvPr id="0" name=""/>
        <dsp:cNvSpPr/>
      </dsp:nvSpPr>
      <dsp:spPr>
        <a:xfrm>
          <a:off x="4102612" y="1238686"/>
          <a:ext cx="1449476" cy="2204163"/>
        </a:xfrm>
        <a:custGeom>
          <a:avLst/>
          <a:gdLst/>
          <a:ahLst/>
          <a:cxnLst/>
          <a:rect l="0" t="0" r="0" b="0"/>
          <a:pathLst>
            <a:path>
              <a:moveTo>
                <a:pt x="1449476" y="0"/>
              </a:moveTo>
              <a:lnTo>
                <a:pt x="1449476" y="1952600"/>
              </a:lnTo>
              <a:lnTo>
                <a:pt x="0" y="1952600"/>
              </a:lnTo>
              <a:lnTo>
                <a:pt x="0" y="22041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9AC6C-50A5-564E-A829-7D2DFF0B8E44}">
      <dsp:nvSpPr>
        <dsp:cNvPr id="0" name=""/>
        <dsp:cNvSpPr/>
      </dsp:nvSpPr>
      <dsp:spPr>
        <a:xfrm>
          <a:off x="1203658" y="1238686"/>
          <a:ext cx="4348430" cy="2204163"/>
        </a:xfrm>
        <a:custGeom>
          <a:avLst/>
          <a:gdLst/>
          <a:ahLst/>
          <a:cxnLst/>
          <a:rect l="0" t="0" r="0" b="0"/>
          <a:pathLst>
            <a:path>
              <a:moveTo>
                <a:pt x="4348430" y="0"/>
              </a:moveTo>
              <a:lnTo>
                <a:pt x="4348430" y="1952600"/>
              </a:lnTo>
              <a:lnTo>
                <a:pt x="0" y="1952600"/>
              </a:lnTo>
              <a:lnTo>
                <a:pt x="0" y="22041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C5C8F4-70FD-C045-A5E0-E21B4D72018A}">
      <dsp:nvSpPr>
        <dsp:cNvPr id="0" name=""/>
        <dsp:cNvSpPr/>
      </dsp:nvSpPr>
      <dsp:spPr>
        <a:xfrm>
          <a:off x="4354174" y="40771"/>
          <a:ext cx="2395829" cy="1197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1"/>
            <a:t>Aufsichtsrat</a:t>
          </a:r>
        </a:p>
      </dsp:txBody>
      <dsp:txXfrm>
        <a:off x="4354174" y="40771"/>
        <a:ext cx="2395829" cy="1197914"/>
      </dsp:txXfrm>
    </dsp:sp>
    <dsp:sp modelId="{7425D222-B1D0-094D-8476-503AF821CCDA}">
      <dsp:nvSpPr>
        <dsp:cNvPr id="0" name=""/>
        <dsp:cNvSpPr/>
      </dsp:nvSpPr>
      <dsp:spPr>
        <a:xfrm>
          <a:off x="5743" y="3442849"/>
          <a:ext cx="2395829" cy="1197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1"/>
            <a:t>Finanzen</a:t>
          </a:r>
        </a:p>
      </dsp:txBody>
      <dsp:txXfrm>
        <a:off x="5743" y="3442849"/>
        <a:ext cx="2395829" cy="1197914"/>
      </dsp:txXfrm>
    </dsp:sp>
    <dsp:sp modelId="{AF482C45-5CF8-4B4E-AD7A-7141F5A4F22E}">
      <dsp:nvSpPr>
        <dsp:cNvPr id="0" name=""/>
        <dsp:cNvSpPr/>
      </dsp:nvSpPr>
      <dsp:spPr>
        <a:xfrm>
          <a:off x="2904697" y="3442849"/>
          <a:ext cx="2395829" cy="1197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1"/>
            <a:t>Vertrieb</a:t>
          </a:r>
        </a:p>
      </dsp:txBody>
      <dsp:txXfrm>
        <a:off x="2904697" y="3442849"/>
        <a:ext cx="2395829" cy="1197914"/>
      </dsp:txXfrm>
    </dsp:sp>
    <dsp:sp modelId="{701DF199-2E1C-DE4F-8914-6E3A92143B62}">
      <dsp:nvSpPr>
        <dsp:cNvPr id="0" name=""/>
        <dsp:cNvSpPr/>
      </dsp:nvSpPr>
      <dsp:spPr>
        <a:xfrm>
          <a:off x="5803651" y="3442849"/>
          <a:ext cx="2395829" cy="1197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1"/>
            <a:t>Entwicklung</a:t>
          </a:r>
        </a:p>
      </dsp:txBody>
      <dsp:txXfrm>
        <a:off x="5803651" y="3442849"/>
        <a:ext cx="2395829" cy="1197914"/>
      </dsp:txXfrm>
    </dsp:sp>
    <dsp:sp modelId="{7F69E246-C24B-F34D-B8D0-273996625A98}">
      <dsp:nvSpPr>
        <dsp:cNvPr id="0" name=""/>
        <dsp:cNvSpPr/>
      </dsp:nvSpPr>
      <dsp:spPr>
        <a:xfrm>
          <a:off x="8702604" y="3442849"/>
          <a:ext cx="2395829" cy="1197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1"/>
            <a:t>Produktion</a:t>
          </a:r>
        </a:p>
      </dsp:txBody>
      <dsp:txXfrm>
        <a:off x="8702604" y="3442849"/>
        <a:ext cx="2395829" cy="1197914"/>
      </dsp:txXfrm>
    </dsp:sp>
    <dsp:sp modelId="{85C03146-02B4-E44F-B210-6DFC9FE11F3B}">
      <dsp:nvSpPr>
        <dsp:cNvPr id="0" name=""/>
        <dsp:cNvSpPr/>
      </dsp:nvSpPr>
      <dsp:spPr>
        <a:xfrm>
          <a:off x="2904697" y="1741810"/>
          <a:ext cx="2395829" cy="1197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1"/>
            <a:t>CEO</a:t>
          </a:r>
        </a:p>
      </dsp:txBody>
      <dsp:txXfrm>
        <a:off x="2904697" y="1741810"/>
        <a:ext cx="2395829" cy="1197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BFD30-79A3-6444-952A-AD871C36D35B}">
      <dsp:nvSpPr>
        <dsp:cNvPr id="0" name=""/>
        <dsp:cNvSpPr/>
      </dsp:nvSpPr>
      <dsp:spPr>
        <a:xfrm>
          <a:off x="0" y="2233"/>
          <a:ext cx="111041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74931-2106-5C4D-8D62-ACF2598E7576}">
      <dsp:nvSpPr>
        <dsp:cNvPr id="0" name=""/>
        <dsp:cNvSpPr/>
      </dsp:nvSpPr>
      <dsp:spPr>
        <a:xfrm>
          <a:off x="0" y="2233"/>
          <a:ext cx="11104178" cy="1523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i="0" kern="1200"/>
            <a:t>Leistungsstand:</a:t>
          </a:r>
          <a:r>
            <a:rPr lang="de-DE" sz="2500" b="0" i="0" kern="1200"/>
            <a:t> Technologie nahezu ausentwickelt. Um ein paar PS oder Effizienzprozente aus einem Motor herauszuholen, exponentiell steigende R&amp;D Kosten</a:t>
          </a:r>
          <a:endParaRPr lang="en-US" sz="2500" kern="1200"/>
        </a:p>
      </dsp:txBody>
      <dsp:txXfrm>
        <a:off x="0" y="2233"/>
        <a:ext cx="11104178" cy="1523039"/>
      </dsp:txXfrm>
    </dsp:sp>
    <dsp:sp modelId="{C9B2F94B-21DD-1348-BF53-A2E9BF75C817}">
      <dsp:nvSpPr>
        <dsp:cNvPr id="0" name=""/>
        <dsp:cNvSpPr/>
      </dsp:nvSpPr>
      <dsp:spPr>
        <a:xfrm>
          <a:off x="0" y="1525273"/>
          <a:ext cx="111041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6E104-0E34-8C4B-92B0-E0483AC4B8B6}">
      <dsp:nvSpPr>
        <dsp:cNvPr id="0" name=""/>
        <dsp:cNvSpPr/>
      </dsp:nvSpPr>
      <dsp:spPr>
        <a:xfrm>
          <a:off x="0" y="1525273"/>
          <a:ext cx="11104178" cy="1523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i="0" kern="1200"/>
            <a:t>Strategie:</a:t>
          </a:r>
          <a:r>
            <a:rPr lang="de-DE" sz="2500" b="0" i="0" kern="1200"/>
            <a:t> Modelle wie 911 und den Panamera, gibt es weiterhin als Verbrenner um maximale Margen abzuschöpfen.</a:t>
          </a:r>
          <a:br>
            <a:rPr lang="de-DE" sz="2500" b="0" i="0" kern="1200"/>
          </a:br>
          <a:r>
            <a:rPr lang="de-DE" sz="2500" b="0" i="0" kern="1200"/>
            <a:t>Design wird ikonisiert, limitierte Sondereditionen treiben den Preis nach oben.</a:t>
          </a:r>
          <a:endParaRPr lang="en-US" sz="2500" kern="1200"/>
        </a:p>
      </dsp:txBody>
      <dsp:txXfrm>
        <a:off x="0" y="1525273"/>
        <a:ext cx="11104178" cy="1523039"/>
      </dsp:txXfrm>
    </dsp:sp>
    <dsp:sp modelId="{2F9ABD1D-3774-7D41-BAFD-6FB457BC87B3}">
      <dsp:nvSpPr>
        <dsp:cNvPr id="0" name=""/>
        <dsp:cNvSpPr/>
      </dsp:nvSpPr>
      <dsp:spPr>
        <a:xfrm>
          <a:off x="0" y="3048312"/>
          <a:ext cx="111041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07614-D1E7-AA43-9F7E-B97456E52F87}">
      <dsp:nvSpPr>
        <dsp:cNvPr id="0" name=""/>
        <dsp:cNvSpPr/>
      </dsp:nvSpPr>
      <dsp:spPr>
        <a:xfrm>
          <a:off x="0" y="3048312"/>
          <a:ext cx="11104178" cy="1523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i="0" kern="1200"/>
            <a:t>Lebensverlängerung: </a:t>
          </a:r>
          <a:r>
            <a:rPr lang="de-DE" sz="2500" b="0" i="0" kern="1200"/>
            <a:t>Mit Investitionen in E-Fuels versucht Porsche, diese S-Kurve für Liebhabermodelle künstlich in die Länge zu ziehen.</a:t>
          </a:r>
          <a:endParaRPr lang="en-US" sz="2500" kern="1200"/>
        </a:p>
      </dsp:txBody>
      <dsp:txXfrm>
        <a:off x="0" y="3048312"/>
        <a:ext cx="11104178" cy="15230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BFD30-79A3-6444-952A-AD871C36D35B}">
      <dsp:nvSpPr>
        <dsp:cNvPr id="0" name=""/>
        <dsp:cNvSpPr/>
      </dsp:nvSpPr>
      <dsp:spPr>
        <a:xfrm>
          <a:off x="0" y="2233"/>
          <a:ext cx="111041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74931-2106-5C4D-8D62-ACF2598E7576}">
      <dsp:nvSpPr>
        <dsp:cNvPr id="0" name=""/>
        <dsp:cNvSpPr/>
      </dsp:nvSpPr>
      <dsp:spPr>
        <a:xfrm>
          <a:off x="0" y="2233"/>
          <a:ext cx="11104178" cy="1523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i="0" kern="1200"/>
            <a:t>Leistungsstand: </a:t>
          </a:r>
          <a:r>
            <a:rPr lang="de-DE" sz="2500" b="0" i="0" kern="1200"/>
            <a:t>Massive schnelle technologische Sprünge. Jede neue Batteriegeneration bringt mehr Reichweite und schnellere Ladezeiten.</a:t>
          </a:r>
          <a:endParaRPr lang="en-US" sz="2500" kern="1200"/>
        </a:p>
      </dsp:txBody>
      <dsp:txXfrm>
        <a:off x="0" y="2233"/>
        <a:ext cx="11104178" cy="1523039"/>
      </dsp:txXfrm>
    </dsp:sp>
    <dsp:sp modelId="{C9B2F94B-21DD-1348-BF53-A2E9BF75C817}">
      <dsp:nvSpPr>
        <dsp:cNvPr id="0" name=""/>
        <dsp:cNvSpPr/>
      </dsp:nvSpPr>
      <dsp:spPr>
        <a:xfrm>
          <a:off x="0" y="1525273"/>
          <a:ext cx="111041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6E104-0E34-8C4B-92B0-E0483AC4B8B6}">
      <dsp:nvSpPr>
        <dsp:cNvPr id="0" name=""/>
        <dsp:cNvSpPr/>
      </dsp:nvSpPr>
      <dsp:spPr>
        <a:xfrm>
          <a:off x="0" y="1525273"/>
          <a:ext cx="11104178" cy="1523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i="0" kern="1200"/>
            <a:t>Strategie: </a:t>
          </a:r>
          <a:r>
            <a:rPr lang="de-DE" sz="2500" b="0" i="0" kern="1200"/>
            <a:t>Der Taycan war Porsches „PoC“ am Anfang dieser Kurve. Mit dem Macan EV skaliert Posche diese Technologie  nun in die Breite.</a:t>
          </a:r>
          <a:endParaRPr lang="en-US" sz="2500" kern="1200"/>
        </a:p>
      </dsp:txBody>
      <dsp:txXfrm>
        <a:off x="0" y="1525273"/>
        <a:ext cx="11104178" cy="1523039"/>
      </dsp:txXfrm>
    </dsp:sp>
    <dsp:sp modelId="{2F9ABD1D-3774-7D41-BAFD-6FB457BC87B3}">
      <dsp:nvSpPr>
        <dsp:cNvPr id="0" name=""/>
        <dsp:cNvSpPr/>
      </dsp:nvSpPr>
      <dsp:spPr>
        <a:xfrm>
          <a:off x="0" y="3048312"/>
          <a:ext cx="111041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07614-D1E7-AA43-9F7E-B97456E52F87}">
      <dsp:nvSpPr>
        <dsp:cNvPr id="0" name=""/>
        <dsp:cNvSpPr/>
      </dsp:nvSpPr>
      <dsp:spPr>
        <a:xfrm>
          <a:off x="0" y="3048312"/>
          <a:ext cx="11104178" cy="1523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 noProof="1"/>
            <a:t>Herausforderung</a:t>
          </a:r>
          <a:r>
            <a:rPr lang="de-DE" sz="2500" b="1" i="0" kern="1200" dirty="0"/>
            <a:t>: </a:t>
          </a:r>
          <a:r>
            <a:rPr lang="de-DE" sz="2500" b="0" i="0" kern="1200" dirty="0"/>
            <a:t>Der Sprung auf diese Kurve ist „gefährlich“. Die neue Technologie hat anfangs schlechte Margen und erfordert den kompletten Umbau der Produktion.</a:t>
          </a:r>
          <a:endParaRPr lang="en-US" sz="2500" kern="1200" dirty="0"/>
        </a:p>
      </dsp:txBody>
      <dsp:txXfrm>
        <a:off x="0" y="3048312"/>
        <a:ext cx="11104178" cy="1523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0262F-28AC-2341-B497-044C5E8CB782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947BD-AC0A-9B48-9B0D-917726E2A86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00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062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3668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Preissetzungsmacht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ergebnis</a:t>
            </a:r>
            <a:r>
              <a:rPr lang="en-US" dirty="0"/>
              <a:t> des </a:t>
            </a:r>
            <a:r>
              <a:rPr lang="en-US" dirty="0" err="1"/>
              <a:t>wettbewerbsvorteil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583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</a:t>
            </a:r>
            <a:r>
              <a:rPr lang="en-US" dirty="0" err="1"/>
              <a:t>Höhepunkt</a:t>
            </a:r>
            <a:r>
              <a:rPr lang="en-US" dirty="0"/>
              <a:t> der </a:t>
            </a:r>
            <a:r>
              <a:rPr lang="en-US" dirty="0" err="1"/>
              <a:t>Saugermotoren</a:t>
            </a:r>
            <a:endParaRPr lang="en-US" dirty="0"/>
          </a:p>
          <a:p>
            <a:r>
              <a:rPr lang="en-US" dirty="0"/>
              <a:t>2021 </a:t>
            </a:r>
            <a:r>
              <a:rPr lang="en-US" dirty="0" err="1"/>
              <a:t>eFuels</a:t>
            </a:r>
            <a:r>
              <a:rPr lang="en-US" dirty="0"/>
              <a:t> </a:t>
            </a:r>
            <a:r>
              <a:rPr lang="en-US" dirty="0" err="1"/>
              <a:t>Pilotanlage</a:t>
            </a:r>
            <a:endParaRPr lang="en-US" dirty="0"/>
          </a:p>
          <a:p>
            <a:endParaRPr lang="en-US" dirty="0"/>
          </a:p>
          <a:p>
            <a:r>
              <a:rPr lang="en-US" dirty="0"/>
              <a:t>Strategie: Zukünftig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elektrischen</a:t>
            </a:r>
            <a:r>
              <a:rPr lang="en-US" dirty="0"/>
              <a:t> 718 und Cayenne</a:t>
            </a:r>
          </a:p>
          <a:p>
            <a:r>
              <a:rPr lang="en-US" dirty="0"/>
              <a:t>	Bis 2030 will Porsche 80% </a:t>
            </a:r>
            <a:r>
              <a:rPr lang="en-US" dirty="0" err="1"/>
              <a:t>elektrische</a:t>
            </a:r>
            <a:r>
              <a:rPr lang="en-US" dirty="0"/>
              <a:t> Autos </a:t>
            </a:r>
            <a:r>
              <a:rPr lang="en-US" dirty="0" err="1"/>
              <a:t>bauen</a:t>
            </a:r>
            <a:endParaRPr lang="en-US" dirty="0"/>
          </a:p>
          <a:p>
            <a:endParaRPr lang="en-US" dirty="0"/>
          </a:p>
          <a:p>
            <a:r>
              <a:rPr lang="en-US" dirty="0"/>
              <a:t>| 2015: (links </a:t>
            </a:r>
            <a:r>
              <a:rPr lang="en-US" dirty="0" err="1"/>
              <a:t>davon</a:t>
            </a:r>
            <a:r>
              <a:rPr lang="en-US" dirty="0"/>
              <a:t>) Elektro </a:t>
            </a:r>
            <a:r>
              <a:rPr lang="en-US" dirty="0" err="1"/>
              <a:t>Fühphase</a:t>
            </a:r>
            <a:endParaRPr lang="en-US" dirty="0"/>
          </a:p>
          <a:p>
            <a:r>
              <a:rPr lang="en-US" dirty="0"/>
              <a:t>2019 | 2030: (</a:t>
            </a:r>
            <a:r>
              <a:rPr lang="en-US" dirty="0" err="1"/>
              <a:t>rechts</a:t>
            </a:r>
            <a:r>
              <a:rPr lang="en-US" dirty="0"/>
              <a:t> </a:t>
            </a:r>
            <a:r>
              <a:rPr lang="en-US" dirty="0" err="1"/>
              <a:t>davon</a:t>
            </a:r>
            <a:r>
              <a:rPr lang="en-US" dirty="0"/>
              <a:t>) Elektro </a:t>
            </a:r>
            <a:r>
              <a:rPr lang="en-US" dirty="0" err="1"/>
              <a:t>Wachstumsphase</a:t>
            </a:r>
            <a:endParaRPr lang="en-US" dirty="0"/>
          </a:p>
          <a:p>
            <a:r>
              <a:rPr lang="en-US" dirty="0"/>
              <a:t>2030 |: (</a:t>
            </a:r>
            <a:r>
              <a:rPr lang="en-US" dirty="0" err="1"/>
              <a:t>rechts</a:t>
            </a:r>
            <a:r>
              <a:rPr lang="en-US" dirty="0"/>
              <a:t> </a:t>
            </a:r>
            <a:r>
              <a:rPr lang="en-US" dirty="0" err="1"/>
              <a:t>davon</a:t>
            </a:r>
            <a:r>
              <a:rPr lang="en-US" dirty="0"/>
              <a:t>) </a:t>
            </a:r>
            <a:r>
              <a:rPr lang="en-US" dirty="0" err="1"/>
              <a:t>Eletkro</a:t>
            </a:r>
            <a:r>
              <a:rPr lang="en-US" dirty="0"/>
              <a:t> Reifephase  80% Elektro 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spezifische</a:t>
            </a:r>
            <a:r>
              <a:rPr lang="en-US" dirty="0"/>
              <a:t> </a:t>
            </a:r>
            <a:r>
              <a:rPr lang="en-US" dirty="0" err="1"/>
              <a:t>indikatoren</a:t>
            </a:r>
            <a:r>
              <a:rPr lang="en-US" dirty="0"/>
              <a:t> </a:t>
            </a:r>
            <a:r>
              <a:rPr lang="en-US" dirty="0" err="1"/>
              <a:t>fuer</a:t>
            </a:r>
            <a:r>
              <a:rPr lang="en-US" dirty="0"/>
              <a:t> die </a:t>
            </a:r>
            <a:r>
              <a:rPr lang="en-US" dirty="0" err="1"/>
              <a:t>einordnung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8670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 2010 </a:t>
            </a:r>
            <a:r>
              <a:rPr lang="en-US" dirty="0" err="1"/>
              <a:t>befinden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</a:t>
            </a:r>
            <a:r>
              <a:rPr lang="en-US" dirty="0" err="1"/>
              <a:t>Vebrennungsmotoren</a:t>
            </a:r>
            <a:r>
              <a:rPr lang="en-US" dirty="0"/>
              <a:t> in der </a:t>
            </a:r>
            <a:r>
              <a:rPr lang="en-US" dirty="0" err="1"/>
              <a:t>Reifephase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Technologie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heute</a:t>
            </a:r>
            <a:r>
              <a:rPr lang="en-US" dirty="0"/>
              <a:t> </a:t>
            </a:r>
            <a:r>
              <a:rPr lang="en-US" dirty="0" err="1"/>
              <a:t>nahezu</a:t>
            </a:r>
            <a:r>
              <a:rPr lang="en-US" dirty="0"/>
              <a:t> </a:t>
            </a:r>
            <a:r>
              <a:rPr lang="en-US" dirty="0" err="1"/>
              <a:t>vollständig</a:t>
            </a:r>
            <a:r>
              <a:rPr lang="en-US" dirty="0"/>
              <a:t> </a:t>
            </a:r>
            <a:r>
              <a:rPr lang="en-US" dirty="0" err="1"/>
              <a:t>ausgereift</a:t>
            </a:r>
            <a:r>
              <a:rPr lang="en-US" dirty="0"/>
              <a:t>.</a:t>
            </a:r>
          </a:p>
          <a:p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große</a:t>
            </a:r>
            <a:r>
              <a:rPr lang="en-US" dirty="0"/>
              <a:t> </a:t>
            </a:r>
            <a:r>
              <a:rPr lang="en-US" dirty="0" err="1"/>
              <a:t>Innovationsprünge</a:t>
            </a:r>
            <a:r>
              <a:rPr lang="en-US" dirty="0"/>
              <a:t>  </a:t>
            </a:r>
            <a:r>
              <a:rPr lang="en-US" dirty="0" err="1"/>
              <a:t>kaum</a:t>
            </a:r>
            <a:r>
              <a:rPr lang="en-US" dirty="0"/>
              <a:t> </a:t>
            </a:r>
            <a:r>
              <a:rPr lang="en-US" dirty="0" err="1"/>
              <a:t>möglich</a:t>
            </a:r>
            <a:endParaRPr lang="en-US" dirty="0"/>
          </a:p>
          <a:p>
            <a:r>
              <a:rPr lang="en-US" dirty="0"/>
              <a:t>Wenn man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Leistung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Effiznenz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will, </a:t>
            </a:r>
            <a:r>
              <a:rPr lang="en-US" dirty="0" err="1"/>
              <a:t>Steigen</a:t>
            </a:r>
            <a:r>
              <a:rPr lang="en-US" dirty="0"/>
              <a:t> R&amp;D </a:t>
            </a:r>
            <a:r>
              <a:rPr lang="en-US" dirty="0" err="1"/>
              <a:t>überproprotional</a:t>
            </a:r>
            <a:r>
              <a:rPr lang="en-US" dirty="0"/>
              <a:t> an</a:t>
            </a:r>
          </a:p>
          <a:p>
            <a:r>
              <a:rPr lang="en-US" dirty="0"/>
              <a:t>Somit </a:t>
            </a:r>
            <a:r>
              <a:rPr lang="en-US" dirty="0" err="1"/>
              <a:t>investiert</a:t>
            </a:r>
            <a:r>
              <a:rPr lang="en-US" dirty="0"/>
              <a:t> man </a:t>
            </a:r>
            <a:r>
              <a:rPr lang="en-US" dirty="0" err="1"/>
              <a:t>viel</a:t>
            </a:r>
            <a:r>
              <a:rPr lang="en-US" dirty="0"/>
              <a:t> Geld für Kleine </a:t>
            </a:r>
            <a:r>
              <a:rPr lang="en-US" dirty="0" err="1"/>
              <a:t>verbesserungen</a:t>
            </a:r>
            <a:r>
              <a:rPr lang="en-US" dirty="0"/>
              <a:t> was </a:t>
            </a:r>
            <a:r>
              <a:rPr lang="en-US" dirty="0" err="1"/>
              <a:t>sich</a:t>
            </a:r>
            <a:r>
              <a:rPr lang="en-US" dirty="0"/>
              <a:t> nicht </a:t>
            </a:r>
            <a:r>
              <a:rPr lang="en-US" dirty="0" err="1"/>
              <a:t>besonders</a:t>
            </a:r>
            <a:r>
              <a:rPr lang="en-US" dirty="0"/>
              <a:t> </a:t>
            </a:r>
            <a:r>
              <a:rPr lang="en-US" dirty="0" err="1"/>
              <a:t>lohnt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Porsche </a:t>
            </a:r>
            <a:r>
              <a:rPr lang="en-US" dirty="0" err="1"/>
              <a:t>setzt</a:t>
            </a:r>
            <a:r>
              <a:rPr lang="en-US" dirty="0"/>
              <a:t> </a:t>
            </a:r>
            <a:r>
              <a:rPr lang="en-US" dirty="0" err="1"/>
              <a:t>deshalb</a:t>
            </a:r>
            <a:r>
              <a:rPr lang="en-US" dirty="0"/>
              <a:t> </a:t>
            </a:r>
            <a:r>
              <a:rPr lang="en-US" dirty="0" err="1"/>
              <a:t>weiterhin</a:t>
            </a:r>
            <a:r>
              <a:rPr lang="en-US" dirty="0"/>
              <a:t> auf </a:t>
            </a:r>
            <a:r>
              <a:rPr lang="en-US" dirty="0" err="1"/>
              <a:t>bestehende</a:t>
            </a:r>
            <a:r>
              <a:rPr lang="en-US" dirty="0"/>
              <a:t> Modelle </a:t>
            </a:r>
            <a:r>
              <a:rPr lang="en-US" dirty="0" err="1"/>
              <a:t>wie</a:t>
            </a:r>
            <a:r>
              <a:rPr lang="en-US" dirty="0"/>
              <a:t> 911 </a:t>
            </a:r>
            <a:r>
              <a:rPr lang="en-US" dirty="0" err="1"/>
              <a:t>oder</a:t>
            </a:r>
            <a:r>
              <a:rPr lang="en-US" dirty="0"/>
              <a:t> den Panamera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Verbrennungsmotor</a:t>
            </a:r>
            <a:r>
              <a:rPr lang="en-US" dirty="0"/>
              <a:t> </a:t>
            </a:r>
          </a:p>
          <a:p>
            <a:r>
              <a:rPr lang="en-US" dirty="0"/>
              <a:t>Grund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klar</a:t>
            </a:r>
            <a:r>
              <a:rPr lang="en-US" dirty="0"/>
              <a:t>, </a:t>
            </a:r>
            <a:r>
              <a:rPr lang="en-US" dirty="0" err="1"/>
              <a:t>hohe</a:t>
            </a:r>
            <a:r>
              <a:rPr lang="en-US" dirty="0"/>
              <a:t> </a:t>
            </a:r>
            <a:r>
              <a:rPr lang="en-US" dirty="0" err="1"/>
              <a:t>Margen</a:t>
            </a:r>
            <a:endParaRPr lang="en-US" dirty="0"/>
          </a:p>
          <a:p>
            <a:r>
              <a:rPr lang="en-US" dirty="0" err="1"/>
              <a:t>Zusätzlich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das Design stark </a:t>
            </a:r>
            <a:r>
              <a:rPr lang="en-US" dirty="0" err="1"/>
              <a:t>emotionalisiert</a:t>
            </a:r>
            <a:r>
              <a:rPr lang="en-US" dirty="0"/>
              <a:t> und </a:t>
            </a:r>
            <a:r>
              <a:rPr lang="en-US" dirty="0" err="1"/>
              <a:t>ikonisch</a:t>
            </a:r>
            <a:r>
              <a:rPr lang="en-US" dirty="0"/>
              <a:t> </a:t>
            </a:r>
            <a:r>
              <a:rPr lang="en-US" dirty="0" err="1"/>
              <a:t>aufgeladen</a:t>
            </a:r>
            <a:endParaRPr lang="en-US" dirty="0"/>
          </a:p>
          <a:p>
            <a:r>
              <a:rPr lang="en-US" dirty="0" err="1"/>
              <a:t>Limitierte</a:t>
            </a:r>
            <a:r>
              <a:rPr lang="en-US" dirty="0"/>
              <a:t> </a:t>
            </a:r>
            <a:r>
              <a:rPr lang="en-US" dirty="0" err="1"/>
              <a:t>Sondermodelle</a:t>
            </a:r>
            <a:r>
              <a:rPr lang="en-US" dirty="0"/>
              <a:t> Sorgen </a:t>
            </a:r>
            <a:r>
              <a:rPr lang="en-US" dirty="0" err="1"/>
              <a:t>dafür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die </a:t>
            </a:r>
            <a:r>
              <a:rPr lang="en-US" dirty="0" err="1"/>
              <a:t>Preise</a:t>
            </a:r>
            <a:r>
              <a:rPr lang="en-US" dirty="0"/>
              <a:t> </a:t>
            </a:r>
            <a:r>
              <a:rPr lang="en-US" dirty="0" err="1"/>
              <a:t>weiter</a:t>
            </a:r>
            <a:r>
              <a:rPr lang="en-US" dirty="0"/>
              <a:t> </a:t>
            </a:r>
            <a:r>
              <a:rPr lang="en-US" dirty="0" err="1"/>
              <a:t>Steigen</a:t>
            </a:r>
            <a:endParaRPr lang="en-US" dirty="0"/>
          </a:p>
          <a:p>
            <a:endParaRPr lang="en-US" dirty="0"/>
          </a:p>
          <a:p>
            <a:r>
              <a:rPr lang="en-US" dirty="0"/>
              <a:t>Um die </a:t>
            </a:r>
            <a:r>
              <a:rPr lang="en-US" dirty="0" err="1"/>
              <a:t>Lebensdauer</a:t>
            </a:r>
            <a:r>
              <a:rPr lang="en-US" dirty="0"/>
              <a:t> </a:t>
            </a:r>
            <a:r>
              <a:rPr lang="en-US" dirty="0" err="1"/>
              <a:t>dieser</a:t>
            </a:r>
            <a:r>
              <a:rPr lang="en-US" dirty="0"/>
              <a:t> Technologie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verlängern</a:t>
            </a:r>
            <a:r>
              <a:rPr lang="en-US" dirty="0"/>
              <a:t>, </a:t>
            </a:r>
            <a:r>
              <a:rPr lang="en-US" dirty="0" err="1"/>
              <a:t>investiert</a:t>
            </a:r>
            <a:r>
              <a:rPr lang="en-US" dirty="0"/>
              <a:t> Porsche is </a:t>
            </a:r>
            <a:r>
              <a:rPr lang="en-US" dirty="0" err="1"/>
              <a:t>sogenannte</a:t>
            </a:r>
            <a:r>
              <a:rPr lang="en-US" dirty="0"/>
              <a:t> E-Fuels, </a:t>
            </a:r>
          </a:p>
          <a:p>
            <a:r>
              <a:rPr lang="en-US" dirty="0"/>
              <a:t>Ein </a:t>
            </a:r>
            <a:r>
              <a:rPr lang="en-US" dirty="0" err="1"/>
              <a:t>bespiel</a:t>
            </a:r>
            <a:r>
              <a:rPr lang="en-US" dirty="0"/>
              <a:t> für E-Fuels </a:t>
            </a:r>
            <a:r>
              <a:rPr lang="en-US" dirty="0" err="1"/>
              <a:t>ist</a:t>
            </a:r>
            <a:r>
              <a:rPr lang="en-US" dirty="0"/>
              <a:t> das Projekt in Chile, in dem Wasser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Windkraft</a:t>
            </a:r>
            <a:r>
              <a:rPr lang="en-US" dirty="0"/>
              <a:t> in </a:t>
            </a:r>
            <a:r>
              <a:rPr lang="en-US" dirty="0" err="1"/>
              <a:t>Wasserstoff</a:t>
            </a:r>
            <a:r>
              <a:rPr lang="en-US" dirty="0"/>
              <a:t> </a:t>
            </a:r>
            <a:r>
              <a:rPr lang="en-US" dirty="0" err="1"/>
              <a:t>zerlegt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 Dieses </a:t>
            </a:r>
            <a:r>
              <a:rPr lang="en-US" dirty="0" err="1"/>
              <a:t>Wasserstoff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Menthanol</a:t>
            </a:r>
            <a:r>
              <a:rPr lang="en-US" dirty="0"/>
              <a:t> welches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Synthetischen</a:t>
            </a:r>
            <a:r>
              <a:rPr lang="en-US" dirty="0"/>
              <a:t> </a:t>
            </a:r>
            <a:r>
              <a:rPr lang="en-US" dirty="0" err="1"/>
              <a:t>Kraftstoff</a:t>
            </a:r>
            <a:r>
              <a:rPr lang="en-US" dirty="0"/>
              <a:t> </a:t>
            </a:r>
            <a:r>
              <a:rPr lang="en-US" dirty="0" err="1"/>
              <a:t>umgewandelt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 </a:t>
            </a:r>
          </a:p>
          <a:p>
            <a:r>
              <a:rPr lang="en-US" dirty="0"/>
              <a:t>Damit </a:t>
            </a:r>
            <a:r>
              <a:rPr lang="en-US" dirty="0" err="1"/>
              <a:t>versucht</a:t>
            </a:r>
            <a:r>
              <a:rPr lang="en-US" dirty="0"/>
              <a:t> das </a:t>
            </a:r>
            <a:r>
              <a:rPr lang="en-US" dirty="0" err="1"/>
              <a:t>Unternehmen</a:t>
            </a:r>
            <a:r>
              <a:rPr lang="en-US" dirty="0"/>
              <a:t>, die </a:t>
            </a:r>
            <a:r>
              <a:rPr lang="en-US" dirty="0" err="1"/>
              <a:t>Nutzung</a:t>
            </a:r>
            <a:r>
              <a:rPr lang="en-US" dirty="0"/>
              <a:t> von </a:t>
            </a:r>
            <a:r>
              <a:rPr lang="en-US" dirty="0" err="1"/>
              <a:t>berennungsmotoren</a:t>
            </a:r>
            <a:r>
              <a:rPr lang="en-US" dirty="0"/>
              <a:t> </a:t>
            </a:r>
            <a:r>
              <a:rPr lang="en-US" dirty="0" err="1"/>
              <a:t>künstlich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verlängern</a:t>
            </a:r>
            <a:r>
              <a:rPr lang="en-US" dirty="0"/>
              <a:t>, </a:t>
            </a:r>
            <a:r>
              <a:rPr lang="en-US" dirty="0" err="1"/>
              <a:t>vorallem</a:t>
            </a:r>
            <a:r>
              <a:rPr lang="en-US" dirty="0"/>
              <a:t> für die </a:t>
            </a:r>
            <a:r>
              <a:rPr lang="en-US" dirty="0" err="1"/>
              <a:t>Liebhaberfahrzeuge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Zusammengefasst</a:t>
            </a:r>
            <a:r>
              <a:rPr lang="en-US" dirty="0"/>
              <a:t> </a:t>
            </a:r>
            <a:r>
              <a:rPr lang="en-US" dirty="0" err="1"/>
              <a:t>nutzt</a:t>
            </a:r>
            <a:r>
              <a:rPr lang="en-US" dirty="0"/>
              <a:t> Porsche die </a:t>
            </a:r>
            <a:r>
              <a:rPr lang="en-US" dirty="0" err="1"/>
              <a:t>Reifephase</a:t>
            </a:r>
            <a:r>
              <a:rPr lang="en-US" dirty="0"/>
              <a:t> </a:t>
            </a:r>
            <a:r>
              <a:rPr lang="en-US" dirty="0" err="1"/>
              <a:t>gezielt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um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Gewinne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erzielen</a:t>
            </a:r>
            <a:r>
              <a:rPr lang="en-US" dirty="0"/>
              <a:t>, </a:t>
            </a:r>
            <a:r>
              <a:rPr lang="en-US" dirty="0" err="1"/>
              <a:t>während</a:t>
            </a:r>
            <a:r>
              <a:rPr lang="en-US" dirty="0"/>
              <a:t> </a:t>
            </a:r>
            <a:r>
              <a:rPr lang="en-US" dirty="0" err="1"/>
              <a:t>paralellel</a:t>
            </a:r>
            <a:r>
              <a:rPr lang="en-US" dirty="0"/>
              <a:t> an </a:t>
            </a:r>
            <a:r>
              <a:rPr lang="en-US" dirty="0" err="1"/>
              <a:t>Zukunfstechnologien</a:t>
            </a:r>
            <a:r>
              <a:rPr lang="en-US" dirty="0"/>
              <a:t> </a:t>
            </a:r>
            <a:r>
              <a:rPr lang="en-US" dirty="0" err="1"/>
              <a:t>gearbeitet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604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gegensatz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/>
              <a:t>Verbrennungsmotoren</a:t>
            </a:r>
            <a:r>
              <a:rPr lang="en-US" dirty="0"/>
              <a:t> </a:t>
            </a:r>
            <a:r>
              <a:rPr lang="en-US" dirty="0" err="1"/>
              <a:t>befindet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</a:t>
            </a:r>
            <a:r>
              <a:rPr lang="en-US" dirty="0" err="1"/>
              <a:t>Elektromobilität</a:t>
            </a:r>
            <a:r>
              <a:rPr lang="en-US" dirty="0"/>
              <a:t> </a:t>
            </a:r>
            <a:r>
              <a:rPr lang="en-US" dirty="0" err="1"/>
              <a:t>aktuell</a:t>
            </a:r>
            <a:r>
              <a:rPr lang="en-US" dirty="0"/>
              <a:t> in der </a:t>
            </a:r>
            <a:r>
              <a:rPr lang="en-US" dirty="0" err="1"/>
              <a:t>Wachstumsphase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Hier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die </a:t>
            </a:r>
            <a:r>
              <a:rPr lang="en-US" dirty="0" err="1"/>
              <a:t>aktuell</a:t>
            </a:r>
            <a:r>
              <a:rPr lang="en-US" dirty="0"/>
              <a:t> </a:t>
            </a:r>
            <a:r>
              <a:rPr lang="en-US" dirty="0" err="1"/>
              <a:t>sehr</a:t>
            </a:r>
            <a:r>
              <a:rPr lang="en-US" dirty="0"/>
              <a:t> Schnelle </a:t>
            </a:r>
            <a:r>
              <a:rPr lang="en-US" dirty="0" err="1"/>
              <a:t>technologische</a:t>
            </a:r>
            <a:r>
              <a:rPr lang="en-US" dirty="0"/>
              <a:t> </a:t>
            </a:r>
            <a:r>
              <a:rPr lang="en-US" dirty="0" err="1"/>
              <a:t>fortschritte</a:t>
            </a:r>
            <a:r>
              <a:rPr lang="en-US" dirty="0"/>
              <a:t>.</a:t>
            </a:r>
          </a:p>
          <a:p>
            <a:r>
              <a:rPr lang="en-US" dirty="0"/>
              <a:t>Mit </a:t>
            </a:r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neuen</a:t>
            </a:r>
            <a:r>
              <a:rPr lang="en-US" dirty="0"/>
              <a:t> </a:t>
            </a:r>
            <a:r>
              <a:rPr lang="en-US" dirty="0" err="1"/>
              <a:t>Batteriegeneration</a:t>
            </a:r>
            <a:r>
              <a:rPr lang="en-US" dirty="0"/>
              <a:t> </a:t>
            </a:r>
            <a:r>
              <a:rPr lang="en-US" dirty="0" err="1"/>
              <a:t>verbessern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</a:t>
            </a:r>
            <a:r>
              <a:rPr lang="en-US" dirty="0" err="1"/>
              <a:t>Reichweite</a:t>
            </a:r>
            <a:r>
              <a:rPr lang="en-US" dirty="0"/>
              <a:t> und </a:t>
            </a:r>
            <a:r>
              <a:rPr lang="en-US" dirty="0" err="1"/>
              <a:t>gleichzeitig</a:t>
            </a:r>
            <a:r>
              <a:rPr lang="en-US" dirty="0"/>
              <a:t> </a:t>
            </a:r>
            <a:r>
              <a:rPr lang="en-US" dirty="0" err="1"/>
              <a:t>verkürzen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</a:t>
            </a:r>
            <a:r>
              <a:rPr lang="en-US" dirty="0" err="1"/>
              <a:t>Ladezeiten</a:t>
            </a:r>
            <a:r>
              <a:rPr lang="en-US" dirty="0"/>
              <a:t>,</a:t>
            </a:r>
          </a:p>
          <a:p>
            <a:r>
              <a:rPr lang="en-US" dirty="0"/>
              <a:t>Das </a:t>
            </a:r>
            <a:r>
              <a:rPr lang="en-US" dirty="0" err="1"/>
              <a:t>zeigt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dort</a:t>
            </a:r>
            <a:r>
              <a:rPr lang="en-US" dirty="0"/>
              <a:t>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nichts</a:t>
            </a:r>
            <a:r>
              <a:rPr lang="en-US" dirty="0"/>
              <a:t> </a:t>
            </a:r>
            <a:r>
              <a:rPr lang="en-US" dirty="0" err="1"/>
              <a:t>ausgereift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und es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dynamisch</a:t>
            </a:r>
            <a:r>
              <a:rPr lang="en-US" dirty="0"/>
              <a:t> </a:t>
            </a:r>
            <a:r>
              <a:rPr lang="en-US" dirty="0" err="1"/>
              <a:t>weiterentwickelt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Porsche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Taycan </a:t>
            </a:r>
            <a:r>
              <a:rPr lang="en-US" dirty="0" err="1"/>
              <a:t>früh</a:t>
            </a:r>
            <a:r>
              <a:rPr lang="en-US" dirty="0"/>
              <a:t> in den Markt </a:t>
            </a:r>
            <a:r>
              <a:rPr lang="en-US" dirty="0" err="1"/>
              <a:t>eingestiegen</a:t>
            </a:r>
            <a:endParaRPr lang="en-US" dirty="0"/>
          </a:p>
          <a:p>
            <a:r>
              <a:rPr lang="en-US" dirty="0"/>
              <a:t>Der Taycan </a:t>
            </a:r>
            <a:r>
              <a:rPr lang="en-US" dirty="0" err="1"/>
              <a:t>diente</a:t>
            </a:r>
            <a:r>
              <a:rPr lang="en-US" dirty="0"/>
              <a:t> </a:t>
            </a:r>
            <a:r>
              <a:rPr lang="en-US" dirty="0" err="1"/>
              <a:t>dabei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art “Proof of </a:t>
            </a:r>
            <a:r>
              <a:rPr lang="en-US" dirty="0" err="1"/>
              <a:t>Conecpt</a:t>
            </a:r>
            <a:r>
              <a:rPr lang="en-US" dirty="0"/>
              <a:t>”, </a:t>
            </a:r>
            <a:r>
              <a:rPr lang="en-US" dirty="0" err="1"/>
              <a:t>sozusagen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erster</a:t>
            </a:r>
            <a:r>
              <a:rPr lang="en-US" dirty="0"/>
              <a:t> </a:t>
            </a:r>
            <a:r>
              <a:rPr lang="en-US" dirty="0" err="1"/>
              <a:t>beweis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Elektromobilität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Premiumsegment</a:t>
            </a:r>
            <a:r>
              <a:rPr lang="en-US" dirty="0"/>
              <a:t> </a:t>
            </a:r>
            <a:r>
              <a:rPr lang="en-US" dirty="0" err="1"/>
              <a:t>funktioniert</a:t>
            </a:r>
            <a:endParaRPr lang="en-US" dirty="0"/>
          </a:p>
          <a:p>
            <a:r>
              <a:rPr lang="en-US" dirty="0"/>
              <a:t>Mit dem </a:t>
            </a:r>
            <a:r>
              <a:rPr lang="en-US" dirty="0" err="1"/>
              <a:t>macan</a:t>
            </a:r>
            <a:r>
              <a:rPr lang="en-US" dirty="0"/>
              <a:t> EV </a:t>
            </a:r>
            <a:r>
              <a:rPr lang="en-US" dirty="0" err="1"/>
              <a:t>geht</a:t>
            </a:r>
            <a:r>
              <a:rPr lang="en-US" dirty="0"/>
              <a:t> </a:t>
            </a:r>
            <a:r>
              <a:rPr lang="en-US" dirty="0" err="1"/>
              <a:t>Prosche</a:t>
            </a:r>
            <a:r>
              <a:rPr lang="en-US" dirty="0"/>
              <a:t> </a:t>
            </a:r>
            <a:r>
              <a:rPr lang="en-US" dirty="0" err="1"/>
              <a:t>jetzt</a:t>
            </a:r>
            <a:r>
              <a:rPr lang="en-US" dirty="0"/>
              <a:t> in den </a:t>
            </a:r>
            <a:r>
              <a:rPr lang="en-US" dirty="0" err="1"/>
              <a:t>nächsten</a:t>
            </a:r>
            <a:r>
              <a:rPr lang="en-US" dirty="0"/>
              <a:t> Schritt und </a:t>
            </a:r>
            <a:r>
              <a:rPr lang="en-US" dirty="0" err="1"/>
              <a:t>skaliert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technologie</a:t>
            </a:r>
            <a:r>
              <a:rPr lang="en-US" dirty="0"/>
              <a:t> in den </a:t>
            </a:r>
            <a:r>
              <a:rPr lang="en-US" dirty="0" err="1"/>
              <a:t>Massenmarkt</a:t>
            </a:r>
            <a:endParaRPr lang="en-US" dirty="0"/>
          </a:p>
          <a:p>
            <a:endParaRPr lang="en-US" dirty="0"/>
          </a:p>
          <a:p>
            <a:r>
              <a:rPr lang="en-US" dirty="0"/>
              <a:t>Der </a:t>
            </a:r>
            <a:r>
              <a:rPr lang="en-US" dirty="0" err="1"/>
              <a:t>übergang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dabei</a:t>
            </a:r>
            <a:r>
              <a:rPr lang="en-US" dirty="0"/>
              <a:t> in die </a:t>
            </a:r>
            <a:r>
              <a:rPr lang="en-US" dirty="0" err="1"/>
              <a:t>neue</a:t>
            </a:r>
            <a:r>
              <a:rPr lang="en-US" dirty="0"/>
              <a:t> Technologie </a:t>
            </a:r>
            <a:r>
              <a:rPr lang="en-US" dirty="0" err="1"/>
              <a:t>allerdings</a:t>
            </a:r>
            <a:r>
              <a:rPr lang="en-US" dirty="0"/>
              <a:t> nicht </a:t>
            </a:r>
            <a:r>
              <a:rPr lang="en-US" dirty="0" err="1"/>
              <a:t>einfach</a:t>
            </a:r>
            <a:endParaRPr lang="en-US" dirty="0"/>
          </a:p>
          <a:p>
            <a:r>
              <a:rPr lang="en-US" dirty="0"/>
              <a:t>Grade am Anfang </a:t>
            </a:r>
            <a:r>
              <a:rPr lang="en-US" dirty="0" err="1"/>
              <a:t>sind</a:t>
            </a:r>
            <a:r>
              <a:rPr lang="en-US" dirty="0"/>
              <a:t> die </a:t>
            </a:r>
            <a:r>
              <a:rPr lang="en-US" dirty="0" err="1"/>
              <a:t>Margen</a:t>
            </a:r>
            <a:r>
              <a:rPr lang="en-US" dirty="0"/>
              <a:t> </a:t>
            </a:r>
            <a:r>
              <a:rPr lang="en-US" dirty="0" err="1"/>
              <a:t>deutlich</a:t>
            </a:r>
            <a:r>
              <a:rPr lang="en-US" dirty="0"/>
              <a:t> Geringer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den </a:t>
            </a:r>
            <a:r>
              <a:rPr lang="en-US" dirty="0" err="1"/>
              <a:t>Verbrennern</a:t>
            </a:r>
            <a:endParaRPr lang="en-US" dirty="0"/>
          </a:p>
          <a:p>
            <a:r>
              <a:rPr lang="en-US" dirty="0" err="1"/>
              <a:t>Zusätzlich</a:t>
            </a:r>
            <a:r>
              <a:rPr lang="en-US" dirty="0"/>
              <a:t> </a:t>
            </a:r>
            <a:r>
              <a:rPr lang="en-US" dirty="0" err="1"/>
              <a:t>erfordert</a:t>
            </a:r>
            <a:r>
              <a:rPr lang="en-US" dirty="0"/>
              <a:t> </a:t>
            </a:r>
            <a:r>
              <a:rPr lang="en-US" dirty="0" err="1"/>
              <a:t>Elektromobilität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kompletten</a:t>
            </a:r>
            <a:r>
              <a:rPr lang="en-US" dirty="0"/>
              <a:t> </a:t>
            </a:r>
            <a:r>
              <a:rPr lang="en-US" dirty="0" err="1"/>
              <a:t>Umbau</a:t>
            </a:r>
            <a:r>
              <a:rPr lang="en-US" dirty="0"/>
              <a:t> der </a:t>
            </a:r>
            <a:r>
              <a:rPr lang="en-US" dirty="0" err="1"/>
              <a:t>Produktionsprozesse</a:t>
            </a:r>
            <a:r>
              <a:rPr lang="en-US" dirty="0"/>
              <a:t> und </a:t>
            </a:r>
            <a:r>
              <a:rPr lang="en-US" dirty="0" err="1"/>
              <a:t>Lieferketten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Zusammengefasst</a:t>
            </a:r>
            <a:r>
              <a:rPr lang="en-US" dirty="0"/>
              <a:t> </a:t>
            </a:r>
            <a:r>
              <a:rPr lang="en-US" dirty="0" err="1"/>
              <a:t>bietet</a:t>
            </a:r>
            <a:r>
              <a:rPr lang="en-US" dirty="0"/>
              <a:t> </a:t>
            </a:r>
            <a:r>
              <a:rPr lang="en-US" dirty="0" err="1"/>
              <a:t>Elektromobilität</a:t>
            </a:r>
            <a:r>
              <a:rPr lang="en-US" dirty="0"/>
              <a:t> </a:t>
            </a:r>
            <a:r>
              <a:rPr lang="en-US" dirty="0" err="1"/>
              <a:t>großes</a:t>
            </a:r>
            <a:r>
              <a:rPr lang="en-US" dirty="0"/>
              <a:t> </a:t>
            </a:r>
            <a:r>
              <a:rPr lang="en-US" dirty="0" err="1"/>
              <a:t>Wachstumspotenzial</a:t>
            </a:r>
            <a:r>
              <a:rPr lang="en-US" dirty="0"/>
              <a:t>,</a:t>
            </a:r>
          </a:p>
          <a:p>
            <a:r>
              <a:rPr lang="en-US" dirty="0" err="1"/>
              <a:t>Stellt</a:t>
            </a:r>
            <a:r>
              <a:rPr lang="en-US" dirty="0"/>
              <a:t> Porsche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gleichzeitig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große</a:t>
            </a:r>
            <a:r>
              <a:rPr lang="en-US" dirty="0"/>
              <a:t> </a:t>
            </a:r>
            <a:r>
              <a:rPr lang="en-US" dirty="0" err="1"/>
              <a:t>Wirtschaftliche</a:t>
            </a:r>
            <a:r>
              <a:rPr lang="en-US" dirty="0"/>
              <a:t> und </a:t>
            </a:r>
            <a:r>
              <a:rPr lang="en-US" dirty="0" err="1"/>
              <a:t>strukturelle</a:t>
            </a:r>
            <a:r>
              <a:rPr lang="en-US" dirty="0"/>
              <a:t> </a:t>
            </a:r>
            <a:r>
              <a:rPr lang="en-US" dirty="0" err="1"/>
              <a:t>Herausforderungen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8597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749A-6A18-7256-0E04-E7DA87C9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8BA20-8A6F-1146-BB74-D361DBE8C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3F686-0B85-746F-94DF-1EA00CEA9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Wettbewerb innerhalb der Branche</a:t>
            </a:r>
          </a:p>
          <a:p>
            <a:r>
              <a:rPr lang="en-US" b="1"/>
              <a:t>Verbrenner: </a:t>
            </a:r>
            <a:r>
              <a:rPr lang="en-US" b="0"/>
              <a:t>Hier kämpft Porsche Gegen etablierte Marken wie Ferrari, Aston Martin, BMW M, AMG Der Kampf wird über Rundenzeiten, emotionalen Sound und Marken Prestige ausgetragen</a:t>
            </a:r>
          </a:p>
          <a:p>
            <a:endParaRPr lang="en-US" b="1"/>
          </a:p>
          <a:p>
            <a:r>
              <a:rPr lang="en-US" b="1"/>
              <a:t>Elektro: </a:t>
            </a:r>
            <a:r>
              <a:rPr lang="en-US" b="0"/>
              <a:t>Hier trifft Porsche auf aggressive neue Konkurrenten wie Tesla (Plaid-Modelle), Lucid Motors oder extrem starke chinesische Premium-Marken wie Yangwang (BYD) oder Zeekr</a:t>
            </a:r>
          </a:p>
          <a:p>
            <a:endParaRPr lang="en-US" b="0"/>
          </a:p>
          <a:p>
            <a:r>
              <a:rPr lang="en-US" b="1"/>
              <a:t>Fazit: </a:t>
            </a:r>
            <a:r>
              <a:rPr lang="en-US" b="0"/>
              <a:t>Wettbewerb hoch, weil technologischer Wandel gigantische Investoren erfordert und jeder Hersteller versucht, sich als Technologieführer zu positionieren</a:t>
            </a:r>
            <a:endParaRPr lang="en-US" b="1"/>
          </a:p>
          <a:p>
            <a:endParaRPr lang="en-US" b="0"/>
          </a:p>
          <a:p>
            <a:r>
              <a:rPr lang="en-US" b="1"/>
              <a:t>Bedrohung durch Ersatzprodukte (sehr gering)</a:t>
            </a:r>
          </a:p>
          <a:p>
            <a:r>
              <a:rPr lang="en-US"/>
              <a:t>Ein Ersatzprodukt (Substitut) erfüllt denselben Zweck durch eine andere Technologie.</a:t>
            </a:r>
          </a:p>
          <a:p>
            <a:endParaRPr lang="en-US"/>
          </a:p>
          <a:p>
            <a:r>
              <a:rPr lang="en-US" b="1"/>
              <a:t>Status vs. Mobilität:</a:t>
            </a:r>
            <a:r>
              <a:rPr lang="en-US"/>
              <a:t> Ginge es nur um den Transport von A nach B, wären Bahn, Uber oder künftige Robotaxis echte Bedrohungen.</a:t>
            </a:r>
          </a:p>
          <a:p>
            <a:endParaRPr lang="en-US"/>
          </a:p>
          <a:p>
            <a:r>
              <a:rPr lang="en-US" b="1"/>
              <a:t>Emotionale Bindung:</a:t>
            </a:r>
            <a:r>
              <a:rPr lang="en-US"/>
              <a:t> Ein Porsche wird als Belohnung, Statussymbol und Fahrspaß-Maschine gekauft. Es gibt außerhalb der exklusiven Sportwagenwelt praktisch keine Substitutionsprodukte, die dieses spezifische Bündel an Emotionen und sozialer Signalwirkung ersetzen können.</a:t>
            </a:r>
          </a:p>
          <a:p>
            <a:endParaRPr lang="en-US" b="1"/>
          </a:p>
          <a:p>
            <a:endParaRPr lang="en-US" b="0"/>
          </a:p>
          <a:p>
            <a:r>
              <a:rPr lang="en-US" b="1"/>
              <a:t>Gefahr von Markteintritten</a:t>
            </a:r>
          </a:p>
          <a:p>
            <a:r>
              <a:rPr lang="en-US" b="1"/>
              <a:t>Niedrigere Barrieren durch BEV (Battery Electric Vehicle): </a:t>
            </a:r>
            <a:r>
              <a:rPr lang="en-US" b="0"/>
              <a:t>Elektromotor wesentlich einfacher zu bauen, als ein Hochleistungsverbrenner</a:t>
            </a:r>
          </a:p>
          <a:p>
            <a:endParaRPr lang="en-US" b="0"/>
          </a:p>
          <a:p>
            <a:r>
              <a:rPr lang="en-US" b="1"/>
              <a:t>Porsches Schutzschild:</a:t>
            </a:r>
            <a:r>
              <a:rPr lang="en-US"/>
              <a:t> Was Porsche jedoch massiv schützt, ist die </a:t>
            </a:r>
            <a:r>
              <a:rPr lang="en-US" i="1"/>
              <a:t>Markenheritage</a:t>
            </a:r>
            <a:r>
              <a:rPr lang="en-US"/>
              <a:t> (Motorsport-Historie) und das Markenimage. Einen schnellen Elektromotor kann heute fast jeder bauen; das Handling, die Verarbeitungsqualität und das Prestige eines Porsches lassen sich jedoch nicht über Nacht kopieren</a:t>
            </a:r>
          </a:p>
          <a:p>
            <a:endParaRPr lang="en-US"/>
          </a:p>
          <a:p>
            <a:r>
              <a:rPr lang="en-US" b="1"/>
              <a:t>Fazit: </a:t>
            </a:r>
            <a:r>
              <a:rPr lang="en-US" b="0"/>
              <a:t>Berohung ist gestiegen, wird druch Porsches Markenidentität abgefedert</a:t>
            </a:r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99066-E69B-7B95-ACA2-7C67BE6CC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8826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108D4-A9A9-0732-DC26-955324A0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402A-1D62-EE6F-8314-32EF2C9E7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DAE02-1AAB-2AC2-29D2-6A4810695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Macht von Abnehmern|Kunden</a:t>
            </a:r>
            <a:endParaRPr lang="en-US"/>
          </a:p>
          <a:p>
            <a:r>
              <a:rPr lang="en-US"/>
              <a:t>Kunden haben bei Massenmarkt-Autos viel Macht, weil sie leicht die günstigste Alternative wählen können. Bei Porsche greifen andere Mechanismen:</a:t>
            </a:r>
          </a:p>
          <a:p>
            <a:endParaRPr lang="en-US" b="0"/>
          </a:p>
          <a:p>
            <a:r>
              <a:rPr lang="en-US" b="1"/>
              <a:t>Luxusstrategie: </a:t>
            </a:r>
            <a:r>
              <a:rPr lang="en-US" b="0"/>
              <a:t>Porsche-Kunden sind wenig preissensibel. Preiserhöhungen bei Ikonen wie dem 911er führen meist nicht zum Nachfrageeinbruch, sondern stärken die Exklusivität</a:t>
            </a:r>
          </a:p>
          <a:p>
            <a:endParaRPr lang="en-US" b="0"/>
          </a:p>
          <a:p>
            <a:r>
              <a:rPr lang="en-US" b="1"/>
              <a:t>Individualisierung: </a:t>
            </a:r>
            <a:r>
              <a:rPr lang="en-US" b="0"/>
              <a:t>Wer sich in Porsche Exclusive Manufaktur sein hochgradig individuelles Traumauto konfiguriert, wechselt nicht wegen eines kleinen Preisvorteils zur Konkurrenz.</a:t>
            </a:r>
          </a:p>
          <a:p>
            <a:endParaRPr lang="en-US" b="0"/>
          </a:p>
          <a:p>
            <a:r>
              <a:rPr lang="en-US" b="1"/>
              <a:t>Macht von Lieferanten (Mittel bis Hoch – Tendenz steigend)</a:t>
            </a:r>
          </a:p>
          <a:p>
            <a:r>
              <a:rPr lang="en-US"/>
              <a:t>Hier findet durch die technologische S-Kurve eine massive Machtverschiebung statt:</a:t>
            </a:r>
          </a:p>
          <a:p>
            <a:endParaRPr lang="en-US"/>
          </a:p>
          <a:p>
            <a:r>
              <a:rPr lang="en-US" b="1"/>
              <a:t>Klassische Teile:</a:t>
            </a:r>
            <a:r>
              <a:rPr lang="en-US"/>
              <a:t> Bei Blechen, Sitzen oder Standardkomponenten hat Porsche als Teil des VW-Konzerns eine enorme Verhandlungsmacht und kann Preise diktiert.</a:t>
            </a:r>
          </a:p>
          <a:p>
            <a:endParaRPr lang="en-US"/>
          </a:p>
          <a:p>
            <a:r>
              <a:rPr lang="en-US" b="1"/>
              <a:t>Software &amp; Batterien:</a:t>
            </a:r>
            <a:r>
              <a:rPr lang="en-US"/>
              <a:t> Bei Batteriezellen, Halbleitern und High-End-Chips (z. B. Nvidia, TSMC) sieht das anders aus. Diese Tech-Giganten sind wenige an der Zahl und extrem gefragt. Je mehr das Auto zum "Software-Defined Vehicle" wird, desto stärker wächst die Abhängigkeit und damit die Preismacht dieser wenigen Hightech-Lieferanten.</a:t>
            </a:r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67168-D908-C092-A756-E21E0CDBE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2261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Unterstützungsaktivitäten</a:t>
            </a:r>
            <a:endParaRPr lang="en-US" b="1"/>
          </a:p>
          <a:p>
            <a:r>
              <a:rPr lang="en-US" b="1" err="1"/>
              <a:t>Unternehmens-Infrastruktur</a:t>
            </a:r>
            <a:endParaRPr lang="en-US" b="1"/>
          </a:p>
          <a:p>
            <a:r>
              <a:rPr lang="en-US" err="1"/>
              <a:t>Im</a:t>
            </a:r>
            <a:r>
              <a:rPr lang="en-US"/>
              <a:t> </a:t>
            </a:r>
            <a:r>
              <a:rPr lang="en-US" err="1"/>
              <a:t>oberen</a:t>
            </a:r>
            <a:r>
              <a:rPr lang="en-US"/>
              <a:t> </a:t>
            </a:r>
            <a:r>
              <a:rPr lang="en-US" err="1"/>
              <a:t>Bereich</a:t>
            </a:r>
            <a:r>
              <a:rPr lang="en-US"/>
              <a:t> </a:t>
            </a:r>
            <a:r>
              <a:rPr lang="en-US" err="1"/>
              <a:t>sehen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</a:t>
            </a:r>
            <a:r>
              <a:rPr lang="en-US" err="1"/>
              <a:t>zunächst</a:t>
            </a:r>
            <a:r>
              <a:rPr lang="en-US"/>
              <a:t> die </a:t>
            </a:r>
            <a:r>
              <a:rPr lang="en-US" err="1"/>
              <a:t>Unternehmensinfrastruktur</a:t>
            </a:r>
            <a:r>
              <a:rPr lang="en-US"/>
              <a:t>.</a:t>
            </a:r>
          </a:p>
          <a:p>
            <a:r>
              <a:rPr lang="en-US"/>
              <a:t>Dazu </a:t>
            </a:r>
            <a:r>
              <a:rPr lang="en-US" err="1"/>
              <a:t>gehören</a:t>
            </a:r>
            <a:r>
              <a:rPr lang="en-US"/>
              <a:t> Management, </a:t>
            </a:r>
            <a:r>
              <a:rPr lang="en-US" err="1"/>
              <a:t>Strategie</a:t>
            </a:r>
            <a:r>
              <a:rPr lang="en-US"/>
              <a:t>, </a:t>
            </a:r>
            <a:r>
              <a:rPr lang="en-US" err="1"/>
              <a:t>Finanzen</a:t>
            </a:r>
            <a:r>
              <a:rPr lang="en-US"/>
              <a:t> und </a:t>
            </a:r>
            <a:r>
              <a:rPr lang="en-US" err="1"/>
              <a:t>Qualitätsmanagement</a:t>
            </a:r>
            <a:r>
              <a:rPr lang="en-US"/>
              <a:t>.</a:t>
            </a:r>
          </a:p>
          <a:p>
            <a:r>
              <a:rPr lang="en-US" err="1"/>
              <a:t>Gerade</a:t>
            </a:r>
            <a:r>
              <a:rPr lang="en-US"/>
              <a:t> </a:t>
            </a:r>
            <a:r>
              <a:rPr lang="en-US" err="1"/>
              <a:t>bei</a:t>
            </a:r>
            <a:r>
              <a:rPr lang="en-US"/>
              <a:t> Porsche </a:t>
            </a:r>
            <a:r>
              <a:rPr lang="en-US" err="1"/>
              <a:t>ist</a:t>
            </a:r>
            <a:r>
              <a:rPr lang="en-US"/>
              <a:t> die </a:t>
            </a:r>
            <a:r>
              <a:rPr lang="en-US" err="1"/>
              <a:t>strategische</a:t>
            </a:r>
            <a:r>
              <a:rPr lang="en-US"/>
              <a:t> </a:t>
            </a:r>
            <a:r>
              <a:rPr lang="en-US" err="1"/>
              <a:t>Steuerung</a:t>
            </a:r>
            <a:r>
              <a:rPr lang="en-US"/>
              <a:t> </a:t>
            </a:r>
            <a:r>
              <a:rPr lang="en-US" err="1"/>
              <a:t>sehr</a:t>
            </a:r>
            <a:r>
              <a:rPr lang="en-US"/>
              <a:t> </a:t>
            </a:r>
            <a:r>
              <a:rPr lang="en-US" err="1"/>
              <a:t>wichtig</a:t>
            </a:r>
            <a:r>
              <a:rPr lang="en-US"/>
              <a:t>, da das </a:t>
            </a:r>
            <a:r>
              <a:rPr lang="en-US" err="1"/>
              <a:t>Unternehmen</a:t>
            </a:r>
            <a:r>
              <a:rPr lang="en-US"/>
              <a:t> stark auf </a:t>
            </a:r>
            <a:r>
              <a:rPr lang="en-US" err="1"/>
              <a:t>Premiumqualität</a:t>
            </a:r>
            <a:r>
              <a:rPr lang="en-US"/>
              <a:t> und </a:t>
            </a:r>
            <a:r>
              <a:rPr lang="en-US" err="1"/>
              <a:t>hohe</a:t>
            </a:r>
            <a:r>
              <a:rPr lang="en-US"/>
              <a:t> </a:t>
            </a:r>
            <a:r>
              <a:rPr lang="en-US" err="1"/>
              <a:t>Margen</a:t>
            </a:r>
            <a:r>
              <a:rPr lang="en-US"/>
              <a:t> </a:t>
            </a:r>
            <a:r>
              <a:rPr lang="en-US" err="1"/>
              <a:t>fokussiert</a:t>
            </a:r>
            <a:r>
              <a:rPr lang="en-US"/>
              <a:t> </a:t>
            </a:r>
            <a:r>
              <a:rPr lang="en-US" err="1"/>
              <a:t>ist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Human Resource Management</a:t>
            </a:r>
          </a:p>
          <a:p>
            <a:r>
              <a:rPr lang="en-US"/>
              <a:t>Ein </a:t>
            </a:r>
            <a:r>
              <a:rPr lang="en-US" err="1"/>
              <a:t>weiterer</a:t>
            </a:r>
            <a:r>
              <a:rPr lang="en-US"/>
              <a:t> </a:t>
            </a:r>
            <a:r>
              <a:rPr lang="en-US" err="1"/>
              <a:t>wichtiger</a:t>
            </a:r>
            <a:r>
              <a:rPr lang="en-US"/>
              <a:t> </a:t>
            </a:r>
            <a:r>
              <a:rPr lang="en-US" err="1"/>
              <a:t>Punkt</a:t>
            </a:r>
            <a:r>
              <a:rPr lang="en-US"/>
              <a:t> </a:t>
            </a:r>
            <a:r>
              <a:rPr lang="en-US" err="1"/>
              <a:t>ist</a:t>
            </a:r>
            <a:r>
              <a:rPr lang="en-US"/>
              <a:t> das </a:t>
            </a:r>
            <a:r>
              <a:rPr lang="en-US" err="1"/>
              <a:t>Personalmanagement</a:t>
            </a:r>
            <a:r>
              <a:rPr lang="en-US"/>
              <a:t>.</a:t>
            </a:r>
          </a:p>
          <a:p>
            <a:r>
              <a:rPr lang="en-US"/>
              <a:t>Porsche </a:t>
            </a:r>
            <a:r>
              <a:rPr lang="en-US" err="1"/>
              <a:t>benötigt</a:t>
            </a:r>
            <a:r>
              <a:rPr lang="en-US"/>
              <a:t> </a:t>
            </a:r>
            <a:r>
              <a:rPr lang="en-US" err="1"/>
              <a:t>hochqualifizierte</a:t>
            </a:r>
            <a:r>
              <a:rPr lang="en-US"/>
              <a:t> </a:t>
            </a:r>
            <a:r>
              <a:rPr lang="en-US" err="1"/>
              <a:t>Fachkräfte</a:t>
            </a:r>
            <a:r>
              <a:rPr lang="en-US"/>
              <a:t>, </a:t>
            </a:r>
            <a:r>
              <a:rPr lang="en-US" err="1"/>
              <a:t>Ingenieure</a:t>
            </a:r>
            <a:r>
              <a:rPr lang="en-US"/>
              <a:t> und </a:t>
            </a:r>
            <a:r>
              <a:rPr lang="en-US" err="1"/>
              <a:t>Softwareentwickler</a:t>
            </a:r>
            <a:r>
              <a:rPr lang="en-US"/>
              <a:t>.</a:t>
            </a:r>
          </a:p>
          <a:p>
            <a:r>
              <a:rPr lang="en-US" err="1"/>
              <a:t>Dadurch</a:t>
            </a:r>
            <a:r>
              <a:rPr lang="en-US"/>
              <a:t> </a:t>
            </a:r>
            <a:r>
              <a:rPr lang="en-US" err="1"/>
              <a:t>kann</a:t>
            </a:r>
            <a:r>
              <a:rPr lang="en-US"/>
              <a:t> das </a:t>
            </a:r>
            <a:r>
              <a:rPr lang="en-US" err="1"/>
              <a:t>Unternehmen</a:t>
            </a:r>
            <a:r>
              <a:rPr lang="en-US"/>
              <a:t> innovative </a:t>
            </a:r>
            <a:r>
              <a:rPr lang="en-US" err="1"/>
              <a:t>Technologien</a:t>
            </a:r>
            <a:r>
              <a:rPr lang="en-US"/>
              <a:t> und </a:t>
            </a:r>
            <a:r>
              <a:rPr lang="en-US" err="1"/>
              <a:t>hohe</a:t>
            </a:r>
            <a:r>
              <a:rPr lang="en-US"/>
              <a:t> </a:t>
            </a:r>
            <a:r>
              <a:rPr lang="en-US" err="1"/>
              <a:t>Qualitätsstandards</a:t>
            </a:r>
            <a:r>
              <a:rPr lang="en-US"/>
              <a:t> </a:t>
            </a:r>
            <a:r>
              <a:rPr lang="en-US" err="1"/>
              <a:t>sicherstellen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Technologie-</a:t>
            </a:r>
            <a:r>
              <a:rPr lang="en-US" b="1" err="1"/>
              <a:t>Entwicklung</a:t>
            </a:r>
            <a:endParaRPr lang="en-US" b="1"/>
          </a:p>
          <a:p>
            <a:r>
              <a:rPr lang="en-US" err="1"/>
              <a:t>Besonders</a:t>
            </a:r>
            <a:r>
              <a:rPr lang="en-US"/>
              <a:t> </a:t>
            </a:r>
            <a:r>
              <a:rPr lang="en-US" err="1"/>
              <a:t>wichtig</a:t>
            </a:r>
            <a:r>
              <a:rPr lang="en-US"/>
              <a:t> für Porsche </a:t>
            </a:r>
            <a:r>
              <a:rPr lang="en-US" err="1"/>
              <a:t>ist</a:t>
            </a:r>
            <a:r>
              <a:rPr lang="en-US"/>
              <a:t> die </a:t>
            </a:r>
            <a:r>
              <a:rPr lang="en-US" err="1"/>
              <a:t>Technologieentwicklung</a:t>
            </a:r>
            <a:r>
              <a:rPr lang="en-US"/>
              <a:t>.</a:t>
            </a:r>
          </a:p>
          <a:p>
            <a:r>
              <a:rPr lang="en-US"/>
              <a:t>Hier </a:t>
            </a:r>
            <a:r>
              <a:rPr lang="en-US" err="1"/>
              <a:t>investiert</a:t>
            </a:r>
            <a:r>
              <a:rPr lang="en-US"/>
              <a:t> das </a:t>
            </a:r>
            <a:r>
              <a:rPr lang="en-US" err="1"/>
              <a:t>Unternehmen</a:t>
            </a:r>
            <a:r>
              <a:rPr lang="en-US"/>
              <a:t> stark in </a:t>
            </a:r>
            <a:r>
              <a:rPr lang="en-US" err="1"/>
              <a:t>Elektromobilität</a:t>
            </a:r>
            <a:r>
              <a:rPr lang="en-US"/>
              <a:t>, </a:t>
            </a:r>
            <a:r>
              <a:rPr lang="en-US" err="1"/>
              <a:t>Batterietechnik</a:t>
            </a:r>
            <a:r>
              <a:rPr lang="en-US"/>
              <a:t>, Software und </a:t>
            </a:r>
            <a:r>
              <a:rPr lang="en-US" err="1"/>
              <a:t>digitale</a:t>
            </a:r>
            <a:r>
              <a:rPr lang="en-US"/>
              <a:t> Systeme.</a:t>
            </a:r>
          </a:p>
          <a:p>
            <a:r>
              <a:rPr lang="en-US" err="1"/>
              <a:t>Diese</a:t>
            </a:r>
            <a:r>
              <a:rPr lang="en-US"/>
              <a:t> </a:t>
            </a:r>
            <a:r>
              <a:rPr lang="en-US" err="1"/>
              <a:t>Innovationen</a:t>
            </a:r>
            <a:r>
              <a:rPr lang="en-US"/>
              <a:t> </a:t>
            </a:r>
            <a:r>
              <a:rPr lang="en-US" err="1"/>
              <a:t>sind</a:t>
            </a:r>
            <a:r>
              <a:rPr lang="en-US"/>
              <a:t> </a:t>
            </a:r>
            <a:r>
              <a:rPr lang="en-US" err="1"/>
              <a:t>entscheidend</a:t>
            </a:r>
            <a:r>
              <a:rPr lang="en-US"/>
              <a:t>, um </a:t>
            </a:r>
            <a:r>
              <a:rPr lang="en-US" err="1"/>
              <a:t>langfristig</a:t>
            </a:r>
            <a:r>
              <a:rPr lang="en-US"/>
              <a:t> </a:t>
            </a:r>
            <a:r>
              <a:rPr lang="en-US" err="1"/>
              <a:t>wettbewerbsfähig</a:t>
            </a:r>
            <a:r>
              <a:rPr lang="en-US"/>
              <a:t> </a:t>
            </a:r>
            <a:r>
              <a:rPr lang="en-US" err="1"/>
              <a:t>zu</a:t>
            </a:r>
            <a:r>
              <a:rPr lang="en-US"/>
              <a:t> </a:t>
            </a:r>
            <a:r>
              <a:rPr lang="en-US" err="1"/>
              <a:t>bleiben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 err="1"/>
              <a:t>Beschaffung</a:t>
            </a:r>
            <a:endParaRPr lang="en-US" b="1"/>
          </a:p>
          <a:p>
            <a:r>
              <a:rPr lang="en-US"/>
              <a:t>Die </a:t>
            </a:r>
            <a:r>
              <a:rPr lang="en-US" err="1"/>
              <a:t>Beschaffung</a:t>
            </a:r>
            <a:r>
              <a:rPr lang="en-US"/>
              <a:t> </a:t>
            </a:r>
            <a:r>
              <a:rPr lang="en-US" err="1"/>
              <a:t>sorgt</a:t>
            </a:r>
            <a:r>
              <a:rPr lang="en-US"/>
              <a:t> </a:t>
            </a:r>
            <a:r>
              <a:rPr lang="en-US" err="1"/>
              <a:t>dafür</a:t>
            </a:r>
            <a:r>
              <a:rPr lang="en-US"/>
              <a:t>, </a:t>
            </a:r>
            <a:r>
              <a:rPr lang="en-US" err="1"/>
              <a:t>dass</a:t>
            </a:r>
            <a:r>
              <a:rPr lang="en-US"/>
              <a:t> </a:t>
            </a:r>
            <a:r>
              <a:rPr lang="en-US" err="1"/>
              <a:t>wichtige</a:t>
            </a:r>
            <a:r>
              <a:rPr lang="en-US"/>
              <a:t> </a:t>
            </a:r>
            <a:r>
              <a:rPr lang="en-US" err="1"/>
              <a:t>Komponenten</a:t>
            </a:r>
            <a:r>
              <a:rPr lang="en-US"/>
              <a:t> </a:t>
            </a:r>
            <a:r>
              <a:rPr lang="en-US" err="1"/>
              <a:t>wie</a:t>
            </a:r>
            <a:r>
              <a:rPr lang="en-US"/>
              <a:t> </a:t>
            </a:r>
            <a:r>
              <a:rPr lang="en-US" err="1"/>
              <a:t>Batterien</a:t>
            </a:r>
            <a:r>
              <a:rPr lang="en-US"/>
              <a:t>, </a:t>
            </a:r>
            <a:r>
              <a:rPr lang="en-US" err="1"/>
              <a:t>Halbleiter</a:t>
            </a:r>
            <a:r>
              <a:rPr lang="en-US"/>
              <a:t> und </a:t>
            </a:r>
            <a:r>
              <a:rPr lang="en-US" err="1"/>
              <a:t>Rohstoffe</a:t>
            </a:r>
            <a:r>
              <a:rPr lang="en-US"/>
              <a:t> </a:t>
            </a:r>
            <a:r>
              <a:rPr lang="en-US" err="1"/>
              <a:t>verfügbar</a:t>
            </a:r>
            <a:r>
              <a:rPr lang="en-US"/>
              <a:t> </a:t>
            </a:r>
            <a:r>
              <a:rPr lang="en-US" err="1"/>
              <a:t>sind</a:t>
            </a:r>
            <a:r>
              <a:rPr lang="en-US"/>
              <a:t>.</a:t>
            </a:r>
          </a:p>
          <a:p>
            <a:r>
              <a:rPr lang="en-US"/>
              <a:t>Vor </a:t>
            </a:r>
            <a:r>
              <a:rPr lang="en-US" err="1"/>
              <a:t>allem</a:t>
            </a:r>
            <a:r>
              <a:rPr lang="en-US"/>
              <a:t> </a:t>
            </a:r>
            <a:r>
              <a:rPr lang="en-US" err="1"/>
              <a:t>bei</a:t>
            </a:r>
            <a:r>
              <a:rPr lang="en-US"/>
              <a:t> </a:t>
            </a:r>
            <a:r>
              <a:rPr lang="en-US" err="1"/>
              <a:t>Elektrofahrzeugen</a:t>
            </a:r>
            <a:r>
              <a:rPr lang="en-US"/>
              <a:t> </a:t>
            </a:r>
            <a:r>
              <a:rPr lang="en-US" err="1"/>
              <a:t>ist</a:t>
            </a:r>
            <a:r>
              <a:rPr lang="en-US"/>
              <a:t> die </a:t>
            </a:r>
            <a:r>
              <a:rPr lang="en-US" err="1"/>
              <a:t>Versorgung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Batterien</a:t>
            </a:r>
            <a:r>
              <a:rPr lang="en-US"/>
              <a:t> und Chips </a:t>
            </a:r>
            <a:r>
              <a:rPr lang="en-US" err="1"/>
              <a:t>mittlerweile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zentraler</a:t>
            </a:r>
            <a:r>
              <a:rPr lang="en-US"/>
              <a:t> </a:t>
            </a:r>
            <a:r>
              <a:rPr lang="en-US" err="1"/>
              <a:t>Wettbewerbsfaktor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 err="1"/>
              <a:t>Primäraktivitäten</a:t>
            </a:r>
            <a:endParaRPr lang="en-US" b="1"/>
          </a:p>
          <a:p>
            <a:r>
              <a:rPr lang="en-US" b="1"/>
              <a:t>Interne Logistik</a:t>
            </a:r>
          </a:p>
          <a:p>
            <a:r>
              <a:rPr lang="en-US"/>
              <a:t>Die </a:t>
            </a:r>
            <a:r>
              <a:rPr lang="en-US" err="1"/>
              <a:t>Wertschöpfung</a:t>
            </a:r>
            <a:r>
              <a:rPr lang="en-US"/>
              <a:t> </a:t>
            </a:r>
            <a:r>
              <a:rPr lang="en-US" err="1"/>
              <a:t>beginnt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der </a:t>
            </a:r>
            <a:r>
              <a:rPr lang="en-US" err="1"/>
              <a:t>internen</a:t>
            </a:r>
            <a:r>
              <a:rPr lang="en-US"/>
              <a:t> Logistik.</a:t>
            </a:r>
          </a:p>
          <a:p>
            <a:r>
              <a:rPr lang="en-US"/>
              <a:t>Hier </a:t>
            </a:r>
            <a:r>
              <a:rPr lang="en-US" err="1"/>
              <a:t>werden</a:t>
            </a:r>
            <a:r>
              <a:rPr lang="en-US"/>
              <a:t> </a:t>
            </a:r>
            <a:r>
              <a:rPr lang="en-US" err="1"/>
              <a:t>Materialien</a:t>
            </a:r>
            <a:r>
              <a:rPr lang="en-US"/>
              <a:t>, </a:t>
            </a:r>
            <a:r>
              <a:rPr lang="en-US" err="1"/>
              <a:t>Bauteile</a:t>
            </a:r>
            <a:r>
              <a:rPr lang="en-US"/>
              <a:t> und </a:t>
            </a:r>
            <a:r>
              <a:rPr lang="en-US" err="1"/>
              <a:t>Lieferanten</a:t>
            </a:r>
            <a:r>
              <a:rPr lang="en-US"/>
              <a:t> </a:t>
            </a:r>
            <a:r>
              <a:rPr lang="en-US" err="1"/>
              <a:t>organisiert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Produktion</a:t>
            </a:r>
          </a:p>
          <a:p>
            <a:r>
              <a:rPr lang="en-US"/>
              <a:t>Danach </a:t>
            </a:r>
            <a:r>
              <a:rPr lang="en-US" err="1"/>
              <a:t>folgt</a:t>
            </a:r>
            <a:r>
              <a:rPr lang="en-US"/>
              <a:t> die Produktion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Fahrzeugfertigung</a:t>
            </a:r>
            <a:r>
              <a:rPr lang="en-US"/>
              <a:t>, </a:t>
            </a:r>
            <a:r>
              <a:rPr lang="en-US" err="1"/>
              <a:t>Lackierung</a:t>
            </a:r>
            <a:r>
              <a:rPr lang="en-US"/>
              <a:t> und </a:t>
            </a:r>
            <a:r>
              <a:rPr lang="en-US" err="1"/>
              <a:t>Qualitätskontrolle</a:t>
            </a:r>
            <a:r>
              <a:rPr lang="en-US"/>
              <a:t>.</a:t>
            </a:r>
          </a:p>
          <a:p>
            <a:r>
              <a:rPr lang="en-US"/>
              <a:t>Porsche </a:t>
            </a:r>
            <a:r>
              <a:rPr lang="en-US" err="1"/>
              <a:t>setzt</a:t>
            </a:r>
            <a:r>
              <a:rPr lang="en-US"/>
              <a:t> </a:t>
            </a:r>
            <a:r>
              <a:rPr lang="en-US" err="1"/>
              <a:t>dabei</a:t>
            </a:r>
            <a:r>
              <a:rPr lang="en-US"/>
              <a:t> </a:t>
            </a:r>
            <a:r>
              <a:rPr lang="en-US" err="1"/>
              <a:t>besonders</a:t>
            </a:r>
            <a:r>
              <a:rPr lang="en-US"/>
              <a:t> auf </a:t>
            </a:r>
            <a:r>
              <a:rPr lang="en-US" err="1"/>
              <a:t>hohe</a:t>
            </a:r>
            <a:r>
              <a:rPr lang="en-US"/>
              <a:t> </a:t>
            </a:r>
            <a:r>
              <a:rPr lang="en-US" err="1"/>
              <a:t>Qualität</a:t>
            </a:r>
            <a:r>
              <a:rPr lang="en-US"/>
              <a:t> und </a:t>
            </a:r>
            <a:r>
              <a:rPr lang="en-US" err="1"/>
              <a:t>Präzision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Externe Logistik</a:t>
            </a:r>
          </a:p>
          <a:p>
            <a:r>
              <a:rPr lang="en-US"/>
              <a:t>Die externe Logistik </a:t>
            </a:r>
            <a:r>
              <a:rPr lang="en-US" err="1"/>
              <a:t>übernimmt</a:t>
            </a:r>
            <a:r>
              <a:rPr lang="en-US"/>
              <a:t> </a:t>
            </a:r>
            <a:r>
              <a:rPr lang="en-US" err="1"/>
              <a:t>anschließend</a:t>
            </a:r>
            <a:r>
              <a:rPr lang="en-US"/>
              <a:t> den </a:t>
            </a:r>
            <a:r>
              <a:rPr lang="en-US" err="1"/>
              <a:t>weltweiten</a:t>
            </a:r>
            <a:r>
              <a:rPr lang="en-US"/>
              <a:t> Transport und die Auslieferung der </a:t>
            </a:r>
            <a:r>
              <a:rPr lang="en-US" err="1"/>
              <a:t>Fahrzeuge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Marketing &amp; </a:t>
            </a:r>
            <a:r>
              <a:rPr lang="en-US" b="1" err="1"/>
              <a:t>Verkauf</a:t>
            </a:r>
            <a:endParaRPr lang="en-US" b="1"/>
          </a:p>
          <a:p>
            <a:r>
              <a:rPr lang="en-US" err="1"/>
              <a:t>Im</a:t>
            </a:r>
            <a:r>
              <a:rPr lang="en-US"/>
              <a:t> Marketing </a:t>
            </a:r>
            <a:r>
              <a:rPr lang="en-US" err="1"/>
              <a:t>konzentriert</a:t>
            </a:r>
            <a:r>
              <a:rPr lang="en-US"/>
              <a:t> </a:t>
            </a:r>
            <a:r>
              <a:rPr lang="en-US" err="1"/>
              <a:t>sich</a:t>
            </a:r>
            <a:r>
              <a:rPr lang="en-US"/>
              <a:t> Porsche stark auf </a:t>
            </a:r>
            <a:r>
              <a:rPr lang="en-US" err="1"/>
              <a:t>Exklusivität</a:t>
            </a:r>
            <a:r>
              <a:rPr lang="en-US"/>
              <a:t>, </a:t>
            </a:r>
            <a:r>
              <a:rPr lang="en-US" err="1"/>
              <a:t>Emotionen</a:t>
            </a:r>
            <a:r>
              <a:rPr lang="en-US"/>
              <a:t> und </a:t>
            </a:r>
            <a:r>
              <a:rPr lang="en-US" err="1"/>
              <a:t>Markenimage</a:t>
            </a:r>
            <a:r>
              <a:rPr lang="en-US"/>
              <a:t>.</a:t>
            </a:r>
          </a:p>
          <a:p>
            <a:r>
              <a:rPr lang="en-US" err="1"/>
              <a:t>Dadurch</a:t>
            </a:r>
            <a:r>
              <a:rPr lang="en-US"/>
              <a:t> </a:t>
            </a:r>
            <a:r>
              <a:rPr lang="en-US" err="1"/>
              <a:t>kann</a:t>
            </a:r>
            <a:r>
              <a:rPr lang="en-US"/>
              <a:t> das </a:t>
            </a:r>
            <a:r>
              <a:rPr lang="en-US" err="1"/>
              <a:t>Unternehmen</a:t>
            </a:r>
            <a:r>
              <a:rPr lang="en-US"/>
              <a:t> </a:t>
            </a:r>
            <a:r>
              <a:rPr lang="en-US" err="1"/>
              <a:t>hohe</a:t>
            </a:r>
            <a:r>
              <a:rPr lang="en-US"/>
              <a:t> </a:t>
            </a:r>
            <a:r>
              <a:rPr lang="en-US" err="1"/>
              <a:t>Preise</a:t>
            </a:r>
            <a:r>
              <a:rPr lang="en-US"/>
              <a:t> und </a:t>
            </a:r>
            <a:r>
              <a:rPr lang="en-US" err="1"/>
              <a:t>starke</a:t>
            </a:r>
            <a:r>
              <a:rPr lang="en-US"/>
              <a:t> </a:t>
            </a:r>
            <a:r>
              <a:rPr lang="en-US" err="1"/>
              <a:t>Kundenbindungen</a:t>
            </a:r>
            <a:r>
              <a:rPr lang="en-US"/>
              <a:t> </a:t>
            </a:r>
            <a:r>
              <a:rPr lang="en-US" err="1"/>
              <a:t>erzielen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Service</a:t>
            </a:r>
          </a:p>
          <a:p>
            <a:r>
              <a:rPr lang="en-US"/>
              <a:t>Der </a:t>
            </a:r>
            <a:r>
              <a:rPr lang="en-US" err="1"/>
              <a:t>Servicebereich</a:t>
            </a:r>
            <a:r>
              <a:rPr lang="en-US"/>
              <a:t> </a:t>
            </a:r>
            <a:r>
              <a:rPr lang="en-US" err="1"/>
              <a:t>umfasst</a:t>
            </a:r>
            <a:r>
              <a:rPr lang="en-US"/>
              <a:t> </a:t>
            </a:r>
            <a:r>
              <a:rPr lang="en-US" err="1"/>
              <a:t>Wartung</a:t>
            </a:r>
            <a:r>
              <a:rPr lang="en-US"/>
              <a:t>, </a:t>
            </a:r>
            <a:r>
              <a:rPr lang="en-US" err="1"/>
              <a:t>Ersatzteile</a:t>
            </a:r>
            <a:r>
              <a:rPr lang="en-US"/>
              <a:t>, </a:t>
            </a:r>
            <a:r>
              <a:rPr lang="en-US" err="1"/>
              <a:t>Finanzierung</a:t>
            </a:r>
            <a:r>
              <a:rPr lang="en-US"/>
              <a:t> und </a:t>
            </a:r>
            <a:r>
              <a:rPr lang="en-US" err="1"/>
              <a:t>digitale</a:t>
            </a:r>
            <a:r>
              <a:rPr lang="en-US"/>
              <a:t> </a:t>
            </a:r>
            <a:r>
              <a:rPr lang="en-US" err="1"/>
              <a:t>Dienste</a:t>
            </a:r>
            <a:r>
              <a:rPr lang="en-US"/>
              <a:t> </a:t>
            </a:r>
            <a:r>
              <a:rPr lang="en-US" err="1"/>
              <a:t>wie</a:t>
            </a:r>
            <a:r>
              <a:rPr lang="en-US"/>
              <a:t> Porsche Connect.</a:t>
            </a:r>
          </a:p>
          <a:p>
            <a:r>
              <a:rPr lang="en-US"/>
              <a:t>Auch </a:t>
            </a:r>
            <a:r>
              <a:rPr lang="en-US" err="1"/>
              <a:t>nach</a:t>
            </a:r>
            <a:r>
              <a:rPr lang="en-US"/>
              <a:t> dem </a:t>
            </a:r>
            <a:r>
              <a:rPr lang="en-US" err="1"/>
              <a:t>Fahrzeugverkauf</a:t>
            </a:r>
            <a:r>
              <a:rPr lang="en-US"/>
              <a:t> </a:t>
            </a:r>
            <a:r>
              <a:rPr lang="en-US" err="1"/>
              <a:t>erzielt</a:t>
            </a:r>
            <a:r>
              <a:rPr lang="en-US"/>
              <a:t> Porsche </a:t>
            </a:r>
            <a:r>
              <a:rPr lang="en-US" err="1"/>
              <a:t>dadurch</a:t>
            </a:r>
            <a:r>
              <a:rPr lang="en-US"/>
              <a:t> </a:t>
            </a:r>
            <a:r>
              <a:rPr lang="en-US" err="1"/>
              <a:t>langfristige</a:t>
            </a:r>
            <a:r>
              <a:rPr lang="en-US"/>
              <a:t> </a:t>
            </a:r>
            <a:r>
              <a:rPr lang="en-US" err="1"/>
              <a:t>Umsätze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553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947BD-AC0A-9B48-9B0D-917726E2A866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530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7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835BB-5024-A1C7-ABE9-0341D5F0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3681413"/>
            <a:ext cx="5552089" cy="1008062"/>
          </a:xfrm>
        </p:spPr>
        <p:txBody>
          <a:bodyPr anchor="b">
            <a:noAutofit/>
          </a:bodyPr>
          <a:lstStyle>
            <a:lvl1pPr marL="0" indent="0" algn="l">
              <a:tabLst>
                <a:tab pos="1196975" algn="l"/>
              </a:tabLst>
              <a:defRPr sz="4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4B903B-E824-DC2A-D5EE-832438D3D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911" y="4689475"/>
            <a:ext cx="5552089" cy="13684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49AFDA-1445-F383-D815-4307B756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8975-BF0A-7B44-92E1-7652B37C0A9E}" type="datetime1">
              <a:rPr lang="de-DE" smtClean="0"/>
              <a:t>17.05.26</a:t>
            </a:fld>
            <a:endParaRPr lang="de-DE"/>
          </a:p>
        </p:txBody>
      </p:sp>
      <p:pic>
        <p:nvPicPr>
          <p:cNvPr id="8" name="Grafik 7" descr="Ein Bild, das Screenshot, Grafiken, Farbigkeit, Design enthält.&#10;&#10;KI-generierte Inhalte können fehlerhaft sein.">
            <a:extLst>
              <a:ext uri="{FF2B5EF4-FFF2-40B4-BE49-F238E27FC236}">
                <a16:creationId xmlns:a16="http://schemas.microsoft.com/office/drawing/2014/main" id="{8416B358-A337-2326-C132-A831054AC8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3683" r="9036"/>
          <a:stretch>
            <a:fillRect/>
          </a:stretch>
        </p:blipFill>
        <p:spPr>
          <a:xfrm>
            <a:off x="4588149" y="0"/>
            <a:ext cx="7603852" cy="65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87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9">
            <a:extLst>
              <a:ext uri="{FF2B5EF4-FFF2-40B4-BE49-F238E27FC236}">
                <a16:creationId xmlns:a16="http://schemas.microsoft.com/office/drawing/2014/main" id="{4BB9CDF1-B297-003F-51F3-9B2108EDE0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4438" y="0"/>
            <a:ext cx="5897562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4" name="Bildplatzhalter 9">
            <a:extLst>
              <a:ext uri="{FF2B5EF4-FFF2-40B4-BE49-F238E27FC236}">
                <a16:creationId xmlns:a16="http://schemas.microsoft.com/office/drawing/2014/main" id="{6AEE34B1-50E2-4B47-C5CE-1BCDB66B0C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4438" y="0"/>
            <a:ext cx="5897562" cy="6858000"/>
          </a:xfrm>
          <a:blipFill>
            <a:blip r:embed="rId2"/>
            <a:srcRect/>
            <a:stretch>
              <a:fillRect l="-18202" t="-37000" r="-20897" b="-3966"/>
            </a:stretch>
          </a:blipFill>
        </p:spPr>
        <p:txBody>
          <a:bodyPr anchor="ctr" anchorCtr="0"/>
          <a:lstStyle>
            <a:lvl1pPr marL="0" indent="0" algn="ctr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3B5EF654-B420-054C-7747-7097602FA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3681413"/>
            <a:ext cx="5552089" cy="100806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5B781F5A-9C0B-2307-5AB3-FDE2111EE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911" y="4689475"/>
            <a:ext cx="5552089" cy="13684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C6D50DC1-23BE-8003-930B-142EDFF7F8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3911" y="6356350"/>
            <a:ext cx="840272" cy="365125"/>
          </a:xfrm>
        </p:spPr>
        <p:txBody>
          <a:bodyPr/>
          <a:lstStyle/>
          <a:p>
            <a:fld id="{E6908975-BF0A-7B44-92E1-7652B37C0A9E}" type="datetime1">
              <a:rPr lang="de-DE" smtClean="0"/>
              <a:t>17.05.26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5463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elfol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835BB-5024-A1C7-ABE9-0341D5F0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3681414"/>
            <a:ext cx="7622627" cy="100806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4B903B-E824-DC2A-D5EE-832438D3D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911" y="4689475"/>
            <a:ext cx="7622627" cy="13684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B41D2F4-E2E9-663D-6BE3-B10F57AAFA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9DDC081-102F-BDE1-6BB3-B036B127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0CFF0C-8F05-5B4F-958E-2D3A512F7134}" type="datetime1">
              <a:rPr lang="de-DE" smtClean="0"/>
              <a:t>17.05.26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8C5D519-039E-19B9-8822-25159C1E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D2ED714-94F1-BB28-0FE4-72A19E3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868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835BB-5024-A1C7-ABE9-0341D5F0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3681413"/>
            <a:ext cx="7622627" cy="1008062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4B903B-E824-DC2A-D5EE-832438D3D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911" y="4689475"/>
            <a:ext cx="7622627" cy="13684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FC81DED-1C61-A990-4421-BF93530D0B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133322-570A-5589-86B2-A7491CEA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0C1A-4C90-2E4A-9FBA-73421506A88D}" type="datetime1">
              <a:rPr lang="de-DE" smtClean="0"/>
              <a:t>17.05.26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8E312DC-69B4-455B-CCC0-EB07715C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E32844-810C-5533-00CD-55FE0F27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362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835BB-5024-A1C7-ABE9-0341D5F0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3681414"/>
            <a:ext cx="5552089" cy="100806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4B903B-E824-DC2A-D5EE-832438D3D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911" y="4689477"/>
            <a:ext cx="5552089" cy="1368424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A604256-841C-4D2B-3243-CEEBD1168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3650" y="850102"/>
            <a:ext cx="5395913" cy="5207797"/>
          </a:xfrm>
          <a:prstGeom prst="roundRect">
            <a:avLst>
              <a:gd name="adj" fmla="val 2169"/>
            </a:avLst>
          </a:prstGeom>
          <a:blipFill dpi="0" rotWithShape="1">
            <a:blip r:embed="rId2"/>
            <a:srcRect/>
            <a:stretch>
              <a:fillRect t="-28000" b="-28000"/>
            </a:stretch>
          </a:blipFill>
        </p:spPr>
        <p:txBody>
          <a:bodyPr anchor="ctr" anchorCtr="0"/>
          <a:lstStyle>
            <a:lvl1pPr marL="0" indent="0" algn="ctr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D1F493-3119-07FB-1D11-7D97704B7A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56552F4-6F3B-C44D-96F7-080D1640F3B7}" type="datetime1">
              <a:rPr lang="de-DE" smtClean="0"/>
              <a:t>17.05.26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21BFB02B-6F25-DA0D-B965-E6FA03B517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88C1931-7273-AF4A-4986-4C61AE7EF2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0DB4244-4AA7-4A30-568D-86E7A7B37C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80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30F62-F4F4-9A4B-FFF1-F7E15857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697" y="1484314"/>
            <a:ext cx="7256605" cy="2197100"/>
          </a:xfrm>
        </p:spPr>
        <p:txBody>
          <a:bodyPr anchor="b">
            <a:normAutofit/>
          </a:bodyPr>
          <a:lstStyle>
            <a:lvl1pPr algn="ctr">
              <a:defRPr lang="de-DE" sz="3200" smtClean="0">
                <a:effectLst/>
              </a:defRPr>
            </a:lvl1pPr>
          </a:lstStyle>
          <a:p>
            <a:endParaRPr lang="de-DE" dirty="0">
              <a:solidFill>
                <a:srgbClr val="28153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74D24C-D863-144A-34E1-4B91A08AC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7697" y="3681414"/>
            <a:ext cx="7256605" cy="1008061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6874D23-37EF-2E90-E1CB-DBA8AEAB5B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D721BC-88F0-FAC7-6C03-BA460883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0C23B-F603-0B4F-8B62-A0A61135CA55}" type="datetime1">
              <a:rPr lang="de-DE" smtClean="0"/>
              <a:t>17.05.26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355C3F-8289-E7E0-81EC-1473B512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DC4492-B4A0-A18B-342D-870A7835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09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CFDD4-DF7C-FA52-ADF0-FAE138EF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29977E-34F7-D280-09DC-5E5D0D55F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11" y="1484314"/>
            <a:ext cx="11104178" cy="45735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4FC1702-27D6-4CED-913B-B2FB36238C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031C7D-7194-F853-8B38-7CA3FBFEAC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20A95A9-9D15-B549-B5F5-E03914B12E3F}" type="datetime1">
              <a:rPr lang="de-DE" smtClean="0"/>
              <a:t>17.05.26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8A65E2A-6071-7785-1799-AF9F21EA54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FEDE1AA-1A8C-D552-94F8-9A1FAC8241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93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C5052-DE91-A250-59D5-8BBB82E5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C1BD87-7F2E-B790-884E-E542896EE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909" y="1484313"/>
            <a:ext cx="5242037" cy="45735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FAFD16-88B3-20A6-AF3B-4AEB243EC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6052" y="1484313"/>
            <a:ext cx="5242037" cy="45735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672A6BA-22DE-4931-F349-02DD4F7C30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9493376-CDDE-90F2-464C-71BBBAEA94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CD6FDA-B7F6-5047-985E-6A0FD4BA3661}" type="datetime1">
              <a:rPr lang="de-DE" smtClean="0"/>
              <a:t>17.05.26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3F1EA03-6679-4810-0864-83DEEEE3FE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C76C0EA-23C6-B2DB-AAAE-174A3FD65F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23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C5052-DE91-A250-59D5-8BBB82E5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11" y="692150"/>
            <a:ext cx="5242039" cy="576264"/>
          </a:xfrm>
        </p:spPr>
        <p:txBody>
          <a:bodyPr/>
          <a:lstStyle/>
          <a:p>
            <a:r>
              <a:rPr lang="de-DE" dirty="0"/>
              <a:t>Mastertitelformat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C1BD87-7F2E-B790-884E-E542896EE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910" y="1484313"/>
            <a:ext cx="5242040" cy="45735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970ECD-A41E-AD56-2419-461B104717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E347064-846C-BF4C-B56D-8A607B294559}" type="datetime1">
              <a:rPr lang="de-DE" smtClean="0"/>
              <a:t>17.05.26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11290D-2078-84D6-496D-313EF1242C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4211101-125D-96FE-8103-367BD75D38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B8757C-D8A0-2CDA-F4E0-4960E00AFA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  <p:sp>
        <p:nvSpPr>
          <p:cNvPr id="8" name="Bildplatzhalter 9">
            <a:extLst>
              <a:ext uri="{FF2B5EF4-FFF2-40B4-BE49-F238E27FC236}">
                <a16:creationId xmlns:a16="http://schemas.microsoft.com/office/drawing/2014/main" id="{D1B2CA4E-4EB2-B740-93BE-744C543F1F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3650" y="850102"/>
            <a:ext cx="5395913" cy="5207797"/>
          </a:xfrm>
          <a:prstGeom prst="roundRect">
            <a:avLst>
              <a:gd name="adj" fmla="val 2169"/>
            </a:avLst>
          </a:prstGeom>
          <a:blipFill>
            <a:blip r:embed="rId3"/>
            <a:srcRect/>
            <a:stretch>
              <a:fillRect t="-27659" b="-27659"/>
            </a:stretch>
          </a:blipFill>
        </p:spPr>
        <p:txBody>
          <a:bodyPr anchor="ctr" anchorCtr="0"/>
          <a:lstStyle>
            <a:lvl1pPr marL="0" indent="0" algn="ctr"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96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851010C-A6A3-33DF-E906-3768FEF56C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blipFill>
            <a:blip r:embed="rId2"/>
            <a:srcRect/>
            <a:stretch>
              <a:fillRect t="-83239" b="-83239"/>
            </a:stretch>
          </a:blipFill>
        </p:spPr>
        <p:txBody>
          <a:bodyPr anchor="ctr" anchorCtr="0"/>
          <a:lstStyle>
            <a:lvl1pPr marL="0" indent="0" algn="ctr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6835BB-5024-A1C7-ABE9-0341D5F0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692150"/>
            <a:ext cx="11104178" cy="57626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4B903B-E824-DC2A-D5EE-832438D3D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911" y="1484313"/>
            <a:ext cx="11104178" cy="968437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081DAF1-D109-E614-F056-52DAE2BC59B3}"/>
              </a:ext>
            </a:extLst>
          </p:cNvPr>
          <p:cNvGrpSpPr/>
          <p:nvPr userDrawn="1"/>
        </p:nvGrpSpPr>
        <p:grpSpPr>
          <a:xfrm>
            <a:off x="10884141" y="488730"/>
            <a:ext cx="891145" cy="214962"/>
            <a:chOff x="10884141" y="488730"/>
            <a:chExt cx="891145" cy="214962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AC4B619C-86C7-4835-475D-CDDF7F43EE45}"/>
                </a:ext>
              </a:extLst>
            </p:cNvPr>
            <p:cNvSpPr/>
            <p:nvPr/>
          </p:nvSpPr>
          <p:spPr>
            <a:xfrm>
              <a:off x="10884141" y="490542"/>
              <a:ext cx="676635" cy="213150"/>
            </a:xfrm>
            <a:custGeom>
              <a:avLst/>
              <a:gdLst>
                <a:gd name="connsiteX0" fmla="*/ 0 w 676635"/>
                <a:gd name="connsiteY0" fmla="*/ 0 h 213150"/>
                <a:gd name="connsiteX1" fmla="*/ 36691 w 676635"/>
                <a:gd name="connsiteY1" fmla="*/ 0 h 213150"/>
                <a:gd name="connsiteX2" fmla="*/ 36691 w 676635"/>
                <a:gd name="connsiteY2" fmla="*/ 77765 h 213150"/>
                <a:gd name="connsiteX3" fmla="*/ 37614 w 676635"/>
                <a:gd name="connsiteY3" fmla="*/ 77765 h 213150"/>
                <a:gd name="connsiteX4" fmla="*/ 80044 w 676635"/>
                <a:gd name="connsiteY4" fmla="*/ 56319 h 213150"/>
                <a:gd name="connsiteX5" fmla="*/ 133954 w 676635"/>
                <a:gd name="connsiteY5" fmla="*/ 113440 h 213150"/>
                <a:gd name="connsiteX6" fmla="*/ 133954 w 676635"/>
                <a:gd name="connsiteY6" fmla="*/ 210044 h 213150"/>
                <a:gd name="connsiteX7" fmla="*/ 97263 w 676635"/>
                <a:gd name="connsiteY7" fmla="*/ 210044 h 213150"/>
                <a:gd name="connsiteX8" fmla="*/ 97263 w 676635"/>
                <a:gd name="connsiteY8" fmla="*/ 122659 h 213150"/>
                <a:gd name="connsiteX9" fmla="*/ 68668 w 676635"/>
                <a:gd name="connsiteY9" fmla="*/ 87886 h 213150"/>
                <a:gd name="connsiteX10" fmla="*/ 36794 w 676635"/>
                <a:gd name="connsiteY10" fmla="*/ 125566 h 213150"/>
                <a:gd name="connsiteX11" fmla="*/ 36794 w 676635"/>
                <a:gd name="connsiteY11" fmla="*/ 210044 h 213150"/>
                <a:gd name="connsiteX12" fmla="*/ 102 w 676635"/>
                <a:gd name="connsiteY12" fmla="*/ 210044 h 213150"/>
                <a:gd name="connsiteX13" fmla="*/ 102 w 676635"/>
                <a:gd name="connsiteY13" fmla="*/ 0 h 213150"/>
                <a:gd name="connsiteX14" fmla="*/ 161626 w 676635"/>
                <a:gd name="connsiteY14" fmla="*/ 183989 h 213150"/>
                <a:gd name="connsiteX15" fmla="*/ 230601 w 676635"/>
                <a:gd name="connsiteY15" fmla="*/ 213151 h 213150"/>
                <a:gd name="connsiteX16" fmla="*/ 298654 w 676635"/>
                <a:gd name="connsiteY16" fmla="*/ 161943 h 213150"/>
                <a:gd name="connsiteX17" fmla="*/ 257454 w 676635"/>
                <a:gd name="connsiteY17" fmla="*/ 119854 h 213150"/>
                <a:gd name="connsiteX18" fmla="*/ 234291 w 676635"/>
                <a:gd name="connsiteY18" fmla="*/ 115444 h 213150"/>
                <a:gd name="connsiteX19" fmla="*/ 205081 w 676635"/>
                <a:gd name="connsiteY19" fmla="*/ 100412 h 213150"/>
                <a:gd name="connsiteX20" fmla="*/ 230089 w 676635"/>
                <a:gd name="connsiteY20" fmla="*/ 83677 h 213150"/>
                <a:gd name="connsiteX21" fmla="*/ 264423 w 676635"/>
                <a:gd name="connsiteY21" fmla="*/ 98408 h 213150"/>
                <a:gd name="connsiteX22" fmla="*/ 290968 w 676635"/>
                <a:gd name="connsiteY22" fmla="*/ 80771 h 213150"/>
                <a:gd name="connsiteX23" fmla="*/ 230499 w 676635"/>
                <a:gd name="connsiteY23" fmla="*/ 56019 h 213150"/>
                <a:gd name="connsiteX24" fmla="*/ 169415 w 676635"/>
                <a:gd name="connsiteY24" fmla="*/ 105523 h 213150"/>
                <a:gd name="connsiteX25" fmla="*/ 211538 w 676635"/>
                <a:gd name="connsiteY25" fmla="*/ 144706 h 213150"/>
                <a:gd name="connsiteX26" fmla="*/ 231729 w 676635"/>
                <a:gd name="connsiteY26" fmla="*/ 148214 h 213150"/>
                <a:gd name="connsiteX27" fmla="*/ 260631 w 676635"/>
                <a:gd name="connsiteY27" fmla="*/ 166152 h 213150"/>
                <a:gd name="connsiteX28" fmla="*/ 230191 w 676635"/>
                <a:gd name="connsiteY28" fmla="*/ 184691 h 213150"/>
                <a:gd name="connsiteX29" fmla="*/ 187761 w 676635"/>
                <a:gd name="connsiteY29" fmla="*/ 164949 h 213150"/>
                <a:gd name="connsiteX30" fmla="*/ 161831 w 676635"/>
                <a:gd name="connsiteY30" fmla="*/ 184089 h 213150"/>
                <a:gd name="connsiteX31" fmla="*/ 327249 w 676635"/>
                <a:gd name="connsiteY31" fmla="*/ 209944 h 213150"/>
                <a:gd name="connsiteX32" fmla="*/ 363940 w 676635"/>
                <a:gd name="connsiteY32" fmla="*/ 209944 h 213150"/>
                <a:gd name="connsiteX33" fmla="*/ 363940 w 676635"/>
                <a:gd name="connsiteY33" fmla="*/ 132781 h 213150"/>
                <a:gd name="connsiteX34" fmla="*/ 412418 w 676635"/>
                <a:gd name="connsiteY34" fmla="*/ 89189 h 213150"/>
                <a:gd name="connsiteX35" fmla="*/ 426254 w 676635"/>
                <a:gd name="connsiteY35" fmla="*/ 90091 h 213150"/>
                <a:gd name="connsiteX36" fmla="*/ 426254 w 676635"/>
                <a:gd name="connsiteY36" fmla="*/ 57121 h 213150"/>
                <a:gd name="connsiteX37" fmla="*/ 413955 w 676635"/>
                <a:gd name="connsiteY37" fmla="*/ 56219 h 213150"/>
                <a:gd name="connsiteX38" fmla="*/ 363633 w 676635"/>
                <a:gd name="connsiteY38" fmla="*/ 84178 h 213150"/>
                <a:gd name="connsiteX39" fmla="*/ 363018 w 676635"/>
                <a:gd name="connsiteY39" fmla="*/ 84178 h 213150"/>
                <a:gd name="connsiteX40" fmla="*/ 363018 w 676635"/>
                <a:gd name="connsiteY40" fmla="*/ 59125 h 213150"/>
                <a:gd name="connsiteX41" fmla="*/ 327146 w 676635"/>
                <a:gd name="connsiteY41" fmla="*/ 59125 h 213150"/>
                <a:gd name="connsiteX42" fmla="*/ 327146 w 676635"/>
                <a:gd name="connsiteY42" fmla="*/ 209844 h 213150"/>
                <a:gd name="connsiteX43" fmla="*/ 451261 w 676635"/>
                <a:gd name="connsiteY43" fmla="*/ 209944 h 213150"/>
                <a:gd name="connsiteX44" fmla="*/ 487952 w 676635"/>
                <a:gd name="connsiteY44" fmla="*/ 209944 h 213150"/>
                <a:gd name="connsiteX45" fmla="*/ 487952 w 676635"/>
                <a:gd name="connsiteY45" fmla="*/ 121357 h 213150"/>
                <a:gd name="connsiteX46" fmla="*/ 517777 w 676635"/>
                <a:gd name="connsiteY46" fmla="*/ 87786 h 213150"/>
                <a:gd name="connsiteX47" fmla="*/ 545756 w 676635"/>
                <a:gd name="connsiteY47" fmla="*/ 122860 h 213150"/>
                <a:gd name="connsiteX48" fmla="*/ 545756 w 676635"/>
                <a:gd name="connsiteY48" fmla="*/ 210044 h 213150"/>
                <a:gd name="connsiteX49" fmla="*/ 582448 w 676635"/>
                <a:gd name="connsiteY49" fmla="*/ 210044 h 213150"/>
                <a:gd name="connsiteX50" fmla="*/ 582448 w 676635"/>
                <a:gd name="connsiteY50" fmla="*/ 123161 h 213150"/>
                <a:gd name="connsiteX51" fmla="*/ 611965 w 676635"/>
                <a:gd name="connsiteY51" fmla="*/ 87786 h 213150"/>
                <a:gd name="connsiteX52" fmla="*/ 639944 w 676635"/>
                <a:gd name="connsiteY52" fmla="*/ 122259 h 213150"/>
                <a:gd name="connsiteX53" fmla="*/ 639944 w 676635"/>
                <a:gd name="connsiteY53" fmla="*/ 209944 h 213150"/>
                <a:gd name="connsiteX54" fmla="*/ 676635 w 676635"/>
                <a:gd name="connsiteY54" fmla="*/ 209944 h 213150"/>
                <a:gd name="connsiteX55" fmla="*/ 676635 w 676635"/>
                <a:gd name="connsiteY55" fmla="*/ 109231 h 213150"/>
                <a:gd name="connsiteX56" fmla="*/ 622726 w 676635"/>
                <a:gd name="connsiteY56" fmla="*/ 56219 h 213150"/>
                <a:gd name="connsiteX57" fmla="*/ 575171 w 676635"/>
                <a:gd name="connsiteY57" fmla="*/ 78566 h 213150"/>
                <a:gd name="connsiteX58" fmla="*/ 574863 w 676635"/>
                <a:gd name="connsiteY58" fmla="*/ 78566 h 213150"/>
                <a:gd name="connsiteX59" fmla="*/ 530895 w 676635"/>
                <a:gd name="connsiteY59" fmla="*/ 56219 h 213150"/>
                <a:gd name="connsiteX60" fmla="*/ 487235 w 676635"/>
                <a:gd name="connsiteY60" fmla="*/ 77464 h 213150"/>
                <a:gd name="connsiteX61" fmla="*/ 486620 w 676635"/>
                <a:gd name="connsiteY61" fmla="*/ 77464 h 213150"/>
                <a:gd name="connsiteX62" fmla="*/ 486620 w 676635"/>
                <a:gd name="connsiteY62" fmla="*/ 59225 h 213150"/>
                <a:gd name="connsiteX63" fmla="*/ 451056 w 676635"/>
                <a:gd name="connsiteY63" fmla="*/ 59225 h 213150"/>
                <a:gd name="connsiteX64" fmla="*/ 451056 w 676635"/>
                <a:gd name="connsiteY64" fmla="*/ 209944 h 21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676635" h="213150">
                  <a:moveTo>
                    <a:pt x="0" y="0"/>
                  </a:moveTo>
                  <a:lnTo>
                    <a:pt x="36691" y="0"/>
                  </a:lnTo>
                  <a:lnTo>
                    <a:pt x="36691" y="77765"/>
                  </a:lnTo>
                  <a:lnTo>
                    <a:pt x="37614" y="77765"/>
                  </a:lnTo>
                  <a:cubicBezTo>
                    <a:pt x="47863" y="63334"/>
                    <a:pt x="64056" y="56319"/>
                    <a:pt x="80044" y="56319"/>
                  </a:cubicBezTo>
                  <a:cubicBezTo>
                    <a:pt x="114686" y="56319"/>
                    <a:pt x="133954" y="77464"/>
                    <a:pt x="133954" y="113440"/>
                  </a:cubicBezTo>
                  <a:lnTo>
                    <a:pt x="133954" y="210044"/>
                  </a:lnTo>
                  <a:lnTo>
                    <a:pt x="97263" y="210044"/>
                  </a:lnTo>
                  <a:lnTo>
                    <a:pt x="97263" y="122659"/>
                  </a:lnTo>
                  <a:cubicBezTo>
                    <a:pt x="97263" y="100012"/>
                    <a:pt x="87321" y="87886"/>
                    <a:pt x="68668" y="87886"/>
                  </a:cubicBezTo>
                  <a:cubicBezTo>
                    <a:pt x="48478" y="87886"/>
                    <a:pt x="36794" y="99911"/>
                    <a:pt x="36794" y="125566"/>
                  </a:cubicBezTo>
                  <a:lnTo>
                    <a:pt x="36794" y="210044"/>
                  </a:lnTo>
                  <a:lnTo>
                    <a:pt x="102" y="210044"/>
                  </a:lnTo>
                  <a:lnTo>
                    <a:pt x="102" y="0"/>
                  </a:lnTo>
                  <a:close/>
                  <a:moveTo>
                    <a:pt x="161626" y="183989"/>
                  </a:moveTo>
                  <a:cubicBezTo>
                    <a:pt x="176999" y="206036"/>
                    <a:pt x="202827" y="213151"/>
                    <a:pt x="230601" y="213151"/>
                  </a:cubicBezTo>
                  <a:cubicBezTo>
                    <a:pt x="262168" y="213151"/>
                    <a:pt x="298654" y="196616"/>
                    <a:pt x="298654" y="161943"/>
                  </a:cubicBezTo>
                  <a:cubicBezTo>
                    <a:pt x="298654" y="139295"/>
                    <a:pt x="283588" y="124864"/>
                    <a:pt x="257454" y="119854"/>
                  </a:cubicBezTo>
                  <a:lnTo>
                    <a:pt x="234291" y="115444"/>
                  </a:lnTo>
                  <a:cubicBezTo>
                    <a:pt x="218303" y="112538"/>
                    <a:pt x="205081" y="111035"/>
                    <a:pt x="205081" y="100412"/>
                  </a:cubicBezTo>
                  <a:cubicBezTo>
                    <a:pt x="205081" y="88888"/>
                    <a:pt x="215638" y="83677"/>
                    <a:pt x="230089" y="83677"/>
                  </a:cubicBezTo>
                  <a:cubicBezTo>
                    <a:pt x="244540" y="83677"/>
                    <a:pt x="255404" y="88086"/>
                    <a:pt x="264423" y="98408"/>
                  </a:cubicBezTo>
                  <a:lnTo>
                    <a:pt x="290968" y="80771"/>
                  </a:lnTo>
                  <a:cubicBezTo>
                    <a:pt x="278054" y="62833"/>
                    <a:pt x="258171" y="56019"/>
                    <a:pt x="230499" y="56019"/>
                  </a:cubicBezTo>
                  <a:cubicBezTo>
                    <a:pt x="197702" y="56019"/>
                    <a:pt x="169415" y="73956"/>
                    <a:pt x="169415" y="105523"/>
                  </a:cubicBezTo>
                  <a:cubicBezTo>
                    <a:pt x="169415" y="128171"/>
                    <a:pt x="186326" y="140297"/>
                    <a:pt x="211538" y="144706"/>
                  </a:cubicBezTo>
                  <a:lnTo>
                    <a:pt x="231729" y="148214"/>
                  </a:lnTo>
                  <a:cubicBezTo>
                    <a:pt x="252534" y="151721"/>
                    <a:pt x="260631" y="154427"/>
                    <a:pt x="260631" y="166152"/>
                  </a:cubicBezTo>
                  <a:cubicBezTo>
                    <a:pt x="260631" y="179680"/>
                    <a:pt x="245257" y="184691"/>
                    <a:pt x="230191" y="184691"/>
                  </a:cubicBezTo>
                  <a:cubicBezTo>
                    <a:pt x="212768" y="184691"/>
                    <a:pt x="197395" y="177375"/>
                    <a:pt x="187761" y="164949"/>
                  </a:cubicBezTo>
                  <a:lnTo>
                    <a:pt x="161831" y="184089"/>
                  </a:lnTo>
                  <a:moveTo>
                    <a:pt x="327249" y="209944"/>
                  </a:moveTo>
                  <a:lnTo>
                    <a:pt x="363940" y="209944"/>
                  </a:lnTo>
                  <a:lnTo>
                    <a:pt x="363940" y="132781"/>
                  </a:lnTo>
                  <a:cubicBezTo>
                    <a:pt x="363940" y="104822"/>
                    <a:pt x="384745" y="89189"/>
                    <a:pt x="412418" y="89189"/>
                  </a:cubicBezTo>
                  <a:cubicBezTo>
                    <a:pt x="417542" y="89189"/>
                    <a:pt x="421437" y="89189"/>
                    <a:pt x="426254" y="90091"/>
                  </a:cubicBezTo>
                  <a:lnTo>
                    <a:pt x="426254" y="57121"/>
                  </a:lnTo>
                  <a:cubicBezTo>
                    <a:pt x="422359" y="56219"/>
                    <a:pt x="417850" y="56219"/>
                    <a:pt x="413955" y="56219"/>
                  </a:cubicBezTo>
                  <a:cubicBezTo>
                    <a:pt x="395609" y="56219"/>
                    <a:pt x="372754" y="68244"/>
                    <a:pt x="363633" y="84178"/>
                  </a:cubicBezTo>
                  <a:lnTo>
                    <a:pt x="363018" y="84178"/>
                  </a:lnTo>
                  <a:lnTo>
                    <a:pt x="363018" y="59125"/>
                  </a:lnTo>
                  <a:lnTo>
                    <a:pt x="327146" y="59125"/>
                  </a:lnTo>
                  <a:lnTo>
                    <a:pt x="327146" y="209844"/>
                  </a:lnTo>
                  <a:close/>
                  <a:moveTo>
                    <a:pt x="451261" y="209944"/>
                  </a:moveTo>
                  <a:lnTo>
                    <a:pt x="487952" y="209944"/>
                  </a:lnTo>
                  <a:lnTo>
                    <a:pt x="487952" y="121357"/>
                  </a:lnTo>
                  <a:cubicBezTo>
                    <a:pt x="487952" y="96304"/>
                    <a:pt x="504863" y="87786"/>
                    <a:pt x="517777" y="87786"/>
                  </a:cubicBezTo>
                  <a:cubicBezTo>
                    <a:pt x="540017" y="87786"/>
                    <a:pt x="545756" y="103719"/>
                    <a:pt x="545756" y="122860"/>
                  </a:cubicBezTo>
                  <a:lnTo>
                    <a:pt x="545756" y="210044"/>
                  </a:lnTo>
                  <a:lnTo>
                    <a:pt x="582448" y="210044"/>
                  </a:lnTo>
                  <a:lnTo>
                    <a:pt x="582448" y="123161"/>
                  </a:lnTo>
                  <a:cubicBezTo>
                    <a:pt x="582448" y="103419"/>
                    <a:pt x="591159" y="87786"/>
                    <a:pt x="611965" y="87786"/>
                  </a:cubicBezTo>
                  <a:cubicBezTo>
                    <a:pt x="632770" y="87786"/>
                    <a:pt x="639944" y="101916"/>
                    <a:pt x="639944" y="122259"/>
                  </a:cubicBezTo>
                  <a:lnTo>
                    <a:pt x="639944" y="209944"/>
                  </a:lnTo>
                  <a:lnTo>
                    <a:pt x="676635" y="209944"/>
                  </a:lnTo>
                  <a:lnTo>
                    <a:pt x="676635" y="109231"/>
                  </a:lnTo>
                  <a:cubicBezTo>
                    <a:pt x="676635" y="72453"/>
                    <a:pt x="651321" y="56219"/>
                    <a:pt x="622726" y="56219"/>
                  </a:cubicBezTo>
                  <a:cubicBezTo>
                    <a:pt x="601613" y="56219"/>
                    <a:pt x="586035" y="65038"/>
                    <a:pt x="575171" y="78566"/>
                  </a:cubicBezTo>
                  <a:lnTo>
                    <a:pt x="574863" y="78566"/>
                  </a:lnTo>
                  <a:cubicBezTo>
                    <a:pt x="565229" y="64136"/>
                    <a:pt x="551393" y="56219"/>
                    <a:pt x="530895" y="56219"/>
                  </a:cubicBezTo>
                  <a:cubicBezTo>
                    <a:pt x="512857" y="56219"/>
                    <a:pt x="497791" y="63534"/>
                    <a:pt x="487235" y="77464"/>
                  </a:cubicBezTo>
                  <a:lnTo>
                    <a:pt x="486620" y="77464"/>
                  </a:lnTo>
                  <a:lnTo>
                    <a:pt x="486620" y="59225"/>
                  </a:lnTo>
                  <a:lnTo>
                    <a:pt x="451056" y="59225"/>
                  </a:lnTo>
                  <a:lnTo>
                    <a:pt x="451056" y="209944"/>
                  </a:lnTo>
                  <a:close/>
                </a:path>
              </a:pathLst>
            </a:custGeom>
            <a:solidFill>
              <a:schemeClr val="bg1"/>
            </a:solidFill>
            <a:ln w="102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066EB5D5-073F-A3C1-DE10-87DFD1E8B3C2}"/>
                </a:ext>
              </a:extLst>
            </p:cNvPr>
            <p:cNvSpPr/>
            <p:nvPr/>
          </p:nvSpPr>
          <p:spPr>
            <a:xfrm>
              <a:off x="11617786" y="488730"/>
              <a:ext cx="157500" cy="150926"/>
            </a:xfrm>
            <a:custGeom>
              <a:avLst/>
              <a:gdLst>
                <a:gd name="connsiteX0" fmla="*/ 156886 w 157500"/>
                <a:gd name="connsiteY0" fmla="*/ 77772 h 150926"/>
                <a:gd name="connsiteX1" fmla="*/ 151351 w 157500"/>
                <a:gd name="connsiteY1" fmla="*/ 87493 h 150926"/>
                <a:gd name="connsiteX2" fmla="*/ 147047 w 157500"/>
                <a:gd name="connsiteY2" fmla="*/ 89898 h 150926"/>
                <a:gd name="connsiteX3" fmla="*/ 93547 w 157500"/>
                <a:gd name="connsiteY3" fmla="*/ 89898 h 150926"/>
                <a:gd name="connsiteX4" fmla="*/ 100722 w 157500"/>
                <a:gd name="connsiteY4" fmla="*/ 102124 h 150926"/>
                <a:gd name="connsiteX5" fmla="*/ 100722 w 157500"/>
                <a:gd name="connsiteY5" fmla="*/ 106834 h 150926"/>
                <a:gd name="connsiteX6" fmla="*/ 94982 w 157500"/>
                <a:gd name="connsiteY6" fmla="*/ 116654 h 150926"/>
                <a:gd name="connsiteX7" fmla="*/ 90780 w 157500"/>
                <a:gd name="connsiteY7" fmla="*/ 118959 h 150926"/>
                <a:gd name="connsiteX8" fmla="*/ 79404 w 157500"/>
                <a:gd name="connsiteY8" fmla="*/ 118959 h 150926"/>
                <a:gd name="connsiteX9" fmla="*/ 75202 w 157500"/>
                <a:gd name="connsiteY9" fmla="*/ 116755 h 150926"/>
                <a:gd name="connsiteX10" fmla="*/ 67822 w 157500"/>
                <a:gd name="connsiteY10" fmla="*/ 104328 h 150926"/>
                <a:gd name="connsiteX11" fmla="*/ 41688 w 157500"/>
                <a:gd name="connsiteY11" fmla="*/ 148522 h 150926"/>
                <a:gd name="connsiteX12" fmla="*/ 37486 w 157500"/>
                <a:gd name="connsiteY12" fmla="*/ 150927 h 150926"/>
                <a:gd name="connsiteX13" fmla="*/ 26109 w 157500"/>
                <a:gd name="connsiteY13" fmla="*/ 150927 h 150926"/>
                <a:gd name="connsiteX14" fmla="*/ 22010 w 157500"/>
                <a:gd name="connsiteY14" fmla="*/ 148522 h 150926"/>
                <a:gd name="connsiteX15" fmla="*/ 16168 w 157500"/>
                <a:gd name="connsiteY15" fmla="*/ 138901 h 150926"/>
                <a:gd name="connsiteX16" fmla="*/ 16168 w 157500"/>
                <a:gd name="connsiteY16" fmla="*/ 134091 h 150926"/>
                <a:gd name="connsiteX17" fmla="*/ 42303 w 157500"/>
                <a:gd name="connsiteY17" fmla="*/ 89898 h 150926"/>
                <a:gd name="connsiteX18" fmla="*/ 10428 w 157500"/>
                <a:gd name="connsiteY18" fmla="*/ 89898 h 150926"/>
                <a:gd name="connsiteX19" fmla="*/ 6226 w 157500"/>
                <a:gd name="connsiteY19" fmla="*/ 87493 h 150926"/>
                <a:gd name="connsiteX20" fmla="*/ 692 w 157500"/>
                <a:gd name="connsiteY20" fmla="*/ 77772 h 150926"/>
                <a:gd name="connsiteX21" fmla="*/ 692 w 157500"/>
                <a:gd name="connsiteY21" fmla="*/ 73162 h 150926"/>
                <a:gd name="connsiteX22" fmla="*/ 6226 w 157500"/>
                <a:gd name="connsiteY22" fmla="*/ 63442 h 150926"/>
                <a:gd name="connsiteX23" fmla="*/ 10428 w 157500"/>
                <a:gd name="connsiteY23" fmla="*/ 61037 h 150926"/>
                <a:gd name="connsiteX24" fmla="*/ 42405 w 157500"/>
                <a:gd name="connsiteY24" fmla="*/ 61037 h 150926"/>
                <a:gd name="connsiteX25" fmla="*/ 16270 w 157500"/>
                <a:gd name="connsiteY25" fmla="*/ 16643 h 150926"/>
                <a:gd name="connsiteX26" fmla="*/ 16373 w 157500"/>
                <a:gd name="connsiteY26" fmla="*/ 11933 h 150926"/>
                <a:gd name="connsiteX27" fmla="*/ 22112 w 157500"/>
                <a:gd name="connsiteY27" fmla="*/ 2312 h 150926"/>
                <a:gd name="connsiteX28" fmla="*/ 26212 w 157500"/>
                <a:gd name="connsiteY28" fmla="*/ 8 h 150926"/>
                <a:gd name="connsiteX29" fmla="*/ 37690 w 157500"/>
                <a:gd name="connsiteY29" fmla="*/ 8 h 150926"/>
                <a:gd name="connsiteX30" fmla="*/ 41893 w 157500"/>
                <a:gd name="connsiteY30" fmla="*/ 2312 h 150926"/>
                <a:gd name="connsiteX31" fmla="*/ 68027 w 157500"/>
                <a:gd name="connsiteY31" fmla="*/ 46606 h 150926"/>
                <a:gd name="connsiteX32" fmla="*/ 75202 w 157500"/>
                <a:gd name="connsiteY32" fmla="*/ 34380 h 150926"/>
                <a:gd name="connsiteX33" fmla="*/ 79301 w 157500"/>
                <a:gd name="connsiteY33" fmla="*/ 31975 h 150926"/>
                <a:gd name="connsiteX34" fmla="*/ 90883 w 157500"/>
                <a:gd name="connsiteY34" fmla="*/ 31975 h 150926"/>
                <a:gd name="connsiteX35" fmla="*/ 95085 w 157500"/>
                <a:gd name="connsiteY35" fmla="*/ 34280 h 150926"/>
                <a:gd name="connsiteX36" fmla="*/ 100824 w 157500"/>
                <a:gd name="connsiteY36" fmla="*/ 43900 h 150926"/>
                <a:gd name="connsiteX37" fmla="*/ 100824 w 157500"/>
                <a:gd name="connsiteY37" fmla="*/ 48610 h 150926"/>
                <a:gd name="connsiteX38" fmla="*/ 93445 w 157500"/>
                <a:gd name="connsiteY38" fmla="*/ 61037 h 150926"/>
                <a:gd name="connsiteX39" fmla="*/ 146842 w 157500"/>
                <a:gd name="connsiteY39" fmla="*/ 61037 h 150926"/>
                <a:gd name="connsiteX40" fmla="*/ 151044 w 157500"/>
                <a:gd name="connsiteY40" fmla="*/ 63342 h 150926"/>
                <a:gd name="connsiteX41" fmla="*/ 156886 w 157500"/>
                <a:gd name="connsiteY41" fmla="*/ 73062 h 150926"/>
                <a:gd name="connsiteX42" fmla="*/ 156886 w 157500"/>
                <a:gd name="connsiteY42" fmla="*/ 77772 h 150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7500" h="150926">
                  <a:moveTo>
                    <a:pt x="156886" y="77772"/>
                  </a:moveTo>
                  <a:lnTo>
                    <a:pt x="151351" y="87493"/>
                  </a:lnTo>
                  <a:cubicBezTo>
                    <a:pt x="150429" y="88996"/>
                    <a:pt x="148789" y="89898"/>
                    <a:pt x="147047" y="89898"/>
                  </a:cubicBezTo>
                  <a:lnTo>
                    <a:pt x="93547" y="89898"/>
                  </a:lnTo>
                  <a:lnTo>
                    <a:pt x="100722" y="102124"/>
                  </a:lnTo>
                  <a:cubicBezTo>
                    <a:pt x="101541" y="103627"/>
                    <a:pt x="101541" y="105431"/>
                    <a:pt x="100722" y="106834"/>
                  </a:cubicBezTo>
                  <a:lnTo>
                    <a:pt x="94982" y="116654"/>
                  </a:lnTo>
                  <a:cubicBezTo>
                    <a:pt x="94060" y="118057"/>
                    <a:pt x="92522" y="118959"/>
                    <a:pt x="90780" y="118959"/>
                  </a:cubicBezTo>
                  <a:lnTo>
                    <a:pt x="79404" y="118959"/>
                  </a:lnTo>
                  <a:cubicBezTo>
                    <a:pt x="77661" y="119160"/>
                    <a:pt x="76124" y="118158"/>
                    <a:pt x="75202" y="116755"/>
                  </a:cubicBezTo>
                  <a:lnTo>
                    <a:pt x="67822" y="104328"/>
                  </a:lnTo>
                  <a:lnTo>
                    <a:pt x="41688" y="148522"/>
                  </a:lnTo>
                  <a:cubicBezTo>
                    <a:pt x="40868" y="150025"/>
                    <a:pt x="39228" y="150927"/>
                    <a:pt x="37486" y="150927"/>
                  </a:cubicBezTo>
                  <a:lnTo>
                    <a:pt x="26109" y="150927"/>
                  </a:lnTo>
                  <a:cubicBezTo>
                    <a:pt x="24367" y="150827"/>
                    <a:pt x="22830" y="149925"/>
                    <a:pt x="22010" y="148522"/>
                  </a:cubicBezTo>
                  <a:lnTo>
                    <a:pt x="16168" y="138901"/>
                  </a:lnTo>
                  <a:cubicBezTo>
                    <a:pt x="15245" y="137398"/>
                    <a:pt x="15245" y="135594"/>
                    <a:pt x="16168" y="134091"/>
                  </a:cubicBezTo>
                  <a:lnTo>
                    <a:pt x="42303" y="89898"/>
                  </a:lnTo>
                  <a:lnTo>
                    <a:pt x="10428" y="89898"/>
                  </a:lnTo>
                  <a:cubicBezTo>
                    <a:pt x="8686" y="89898"/>
                    <a:pt x="7149" y="88996"/>
                    <a:pt x="6226" y="87493"/>
                  </a:cubicBezTo>
                  <a:lnTo>
                    <a:pt x="692" y="77772"/>
                  </a:lnTo>
                  <a:cubicBezTo>
                    <a:pt x="-231" y="76369"/>
                    <a:pt x="-231" y="74565"/>
                    <a:pt x="692" y="73162"/>
                  </a:cubicBezTo>
                  <a:lnTo>
                    <a:pt x="6226" y="63442"/>
                  </a:lnTo>
                  <a:cubicBezTo>
                    <a:pt x="7149" y="61939"/>
                    <a:pt x="8686" y="61037"/>
                    <a:pt x="10428" y="61037"/>
                  </a:cubicBezTo>
                  <a:lnTo>
                    <a:pt x="42405" y="61037"/>
                  </a:lnTo>
                  <a:lnTo>
                    <a:pt x="16270" y="16643"/>
                  </a:lnTo>
                  <a:cubicBezTo>
                    <a:pt x="15450" y="15240"/>
                    <a:pt x="15450" y="13336"/>
                    <a:pt x="16373" y="11933"/>
                  </a:cubicBezTo>
                  <a:lnTo>
                    <a:pt x="22112" y="2312"/>
                  </a:lnTo>
                  <a:cubicBezTo>
                    <a:pt x="23034" y="909"/>
                    <a:pt x="24572" y="8"/>
                    <a:pt x="26212" y="8"/>
                  </a:cubicBezTo>
                  <a:lnTo>
                    <a:pt x="37690" y="8"/>
                  </a:lnTo>
                  <a:cubicBezTo>
                    <a:pt x="39433" y="-93"/>
                    <a:pt x="41073" y="809"/>
                    <a:pt x="41893" y="2312"/>
                  </a:cubicBezTo>
                  <a:lnTo>
                    <a:pt x="68027" y="46606"/>
                  </a:lnTo>
                  <a:lnTo>
                    <a:pt x="75202" y="34380"/>
                  </a:lnTo>
                  <a:cubicBezTo>
                    <a:pt x="76022" y="32977"/>
                    <a:pt x="77661" y="32075"/>
                    <a:pt x="79301" y="31975"/>
                  </a:cubicBezTo>
                  <a:lnTo>
                    <a:pt x="90883" y="31975"/>
                  </a:lnTo>
                  <a:cubicBezTo>
                    <a:pt x="92625" y="31975"/>
                    <a:pt x="94162" y="32877"/>
                    <a:pt x="95085" y="34280"/>
                  </a:cubicBezTo>
                  <a:lnTo>
                    <a:pt x="100824" y="43900"/>
                  </a:lnTo>
                  <a:cubicBezTo>
                    <a:pt x="101746" y="45303"/>
                    <a:pt x="101746" y="47207"/>
                    <a:pt x="100824" y="48610"/>
                  </a:cubicBezTo>
                  <a:lnTo>
                    <a:pt x="93445" y="61037"/>
                  </a:lnTo>
                  <a:lnTo>
                    <a:pt x="146842" y="61037"/>
                  </a:lnTo>
                  <a:cubicBezTo>
                    <a:pt x="148584" y="61037"/>
                    <a:pt x="150224" y="61939"/>
                    <a:pt x="151044" y="63342"/>
                  </a:cubicBezTo>
                  <a:lnTo>
                    <a:pt x="156886" y="73062"/>
                  </a:lnTo>
                  <a:cubicBezTo>
                    <a:pt x="157706" y="74565"/>
                    <a:pt x="157706" y="76369"/>
                    <a:pt x="156886" y="77772"/>
                  </a:cubicBezTo>
                  <a:close/>
                </a:path>
              </a:pathLst>
            </a:custGeom>
            <a:solidFill>
              <a:schemeClr val="accent1"/>
            </a:solidFill>
            <a:ln w="102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43D30D-1D91-3199-89C1-20BAD1A7FF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86E517-27FD-724C-8CDA-B9CAAB2FEEB1}" type="datetime1">
              <a:rPr lang="de-DE" smtClean="0"/>
              <a:t>17.05.26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F01B15E-3E55-C75D-8858-B3156D9F71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3922B38-E7F6-47F2-2A52-609C409347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011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835BB-5024-A1C7-ABE9-0341D5F0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692150"/>
            <a:ext cx="11104178" cy="57626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22767E8-7326-B0A0-4B9E-47D77B89D3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81380" y="399148"/>
            <a:ext cx="1793117" cy="704438"/>
          </a:xfrm>
          <a:prstGeom prst="rect">
            <a:avLst/>
          </a:prstGeom>
        </p:spPr>
      </p:pic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9F7FC999-F62E-061E-F41B-CBB884B30B9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06052" y="1484313"/>
            <a:ext cx="2296543" cy="2296543"/>
          </a:xfrm>
          <a:prstGeom prst="roundRect">
            <a:avLst>
              <a:gd name="adj" fmla="val 5165"/>
            </a:avLst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403" b="403"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4DE462C7-3B2B-2AA6-B5D2-2DECF08C3A4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351546" y="1484313"/>
            <a:ext cx="2296543" cy="2296543"/>
          </a:xfrm>
          <a:prstGeom prst="roundRect">
            <a:avLst>
              <a:gd name="adj" fmla="val 5165"/>
            </a:avLst>
          </a:prstGeom>
          <a:blipFill>
            <a:blip r:embed="rId4"/>
            <a:srcRect/>
            <a:stretch>
              <a:fillRect t="403" b="403"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accent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B00A997-7239-06A6-8E65-C1850534A35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3910" y="1484313"/>
            <a:ext cx="5242040" cy="457358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endParaRPr lang="de-DE" dirty="0">
              <a:solidFill>
                <a:srgbClr val="28153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E1180FBE-B9EA-F1E6-DAAF-C4F163BF974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85910" y="3937376"/>
            <a:ext cx="2316685" cy="107626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endParaRPr lang="de-DE" dirty="0">
              <a:solidFill>
                <a:srgbClr val="28153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94BA8414-1060-1FDE-6C7F-2D65D19732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372950" y="3937376"/>
            <a:ext cx="2316685" cy="107626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endParaRPr lang="de-DE" dirty="0">
              <a:solidFill>
                <a:srgbClr val="281537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0EB91DC-8562-5438-E804-47186B9D12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E5A395-86D0-61D2-C5BF-26A9A0ECD7FC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3DE585E0-48C3-384E-8A1D-33D83C2E17AD}" type="datetime1">
              <a:rPr lang="de-DE" smtClean="0"/>
              <a:t>17.05.26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6F9FB85-CD16-6E42-906D-1BCA2230218D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C27AB4-DE0B-E444-986C-E37739C4753C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006C6BFE-10C3-7B49-A3EE-08AD7A863B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588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0FD8F30-277A-6EAB-8DAA-C227F0B87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6615" y="399149"/>
            <a:ext cx="1147882" cy="45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0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FED4C9-7565-BACA-6DCF-DFA87C7F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11" y="692150"/>
            <a:ext cx="11104178" cy="5762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B75D1A-A8DF-8695-5702-1585A0CBF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911" y="1484313"/>
            <a:ext cx="11104178" cy="4571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A726522-8C68-2CBF-36EB-9E22A4E23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1" y="6356350"/>
            <a:ext cx="4448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Mustervorlage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EDF63-05FF-DE46-B038-6EE9C8CD8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3911" y="6356350"/>
            <a:ext cx="840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9EADE5-CDD8-3D49-9A13-7C2A5618FC37}" type="datetime1">
              <a:rPr lang="de-DE" smtClean="0"/>
              <a:pPr/>
              <a:t>17.05.26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A2E9A5-B66B-4DF2-6572-5E9456347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288" y="6356350"/>
            <a:ext cx="685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06C6BFE-10C3-7B49-A3EE-08AD7A863B9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817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63" r:id="rId5"/>
    <p:sldLayoutId id="2147483651" r:id="rId6"/>
    <p:sldLayoutId id="2147483650" r:id="rId7"/>
    <p:sldLayoutId id="2147483652" r:id="rId8"/>
    <p:sldLayoutId id="2147483664" r:id="rId9"/>
    <p:sldLayoutId id="2147483665" r:id="rId10"/>
    <p:sldLayoutId id="2147483666" r:id="rId11"/>
    <p:sldLayoutId id="214748365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1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884" userDrawn="1">
          <p15:clr>
            <a:srgbClr val="F26B43"/>
          </p15:clr>
        </p15:guide>
        <p15:guide id="4" orient="horz" pos="436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29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nvestorrelations.porsche.com/de/ueber-uns/strategie" TargetMode="External"/><Relationship Id="rId2" Type="http://schemas.openxmlformats.org/officeDocument/2006/relationships/hyperlink" Target="https://newsroom.porsche.com/dam/jcr:fef9c29d-c204-4311-b143-61a68251ee58/Geschaefts-und_Nachhaltigkeitsbericht_2025_Porsche_AG.pdf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DD9CFA5-F758-1F1E-7095-500D6D77E3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noProof="1"/>
              <a:t>Porsche AG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88DC92D6-3823-52B7-906A-06586FDD2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noProof="1"/>
              <a:t>Erick, Jonas und Tizian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043B93-7D02-2D2C-328B-421FD5D6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C4D2-B752-7842-BC54-29CA897C7A0B}" type="datetime1">
              <a:rPr lang="en-US" noProof="1" smtClean="0"/>
              <a:t>5/17/26</a:t>
            </a:fld>
            <a:endParaRPr lang="de-DE" noProof="1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D78AD1A-12B3-BC86-1B22-239467888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6615" y="399150"/>
            <a:ext cx="1147882" cy="45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4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BD7966C-4250-3D76-8469-A743242CF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noProof="1"/>
              <a:t>Kurzvorstellung Porsche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46FEF16-8EEF-8347-E370-F1CF63B3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 noProof="1"/>
              <a:t>Wer ist Porsche?</a:t>
            </a:r>
          </a:p>
          <a:p>
            <a:r>
              <a:rPr lang="de-DE" noProof="1"/>
              <a:t>Deutscher Premium- und Luxusautohersteller</a:t>
            </a:r>
          </a:p>
          <a:p>
            <a:r>
              <a:rPr lang="de-DE" noProof="1"/>
              <a:t>Sitz in Stuttgart</a:t>
            </a:r>
          </a:p>
          <a:p>
            <a:r>
              <a:rPr lang="de-DE" noProof="1"/>
              <a:t>Teil des Volkswagen Konzern</a:t>
            </a:r>
          </a:p>
          <a:p>
            <a:r>
              <a:rPr lang="de-DE" noProof="1"/>
              <a:t>Fokus aus Sportwagen, SUVs und Elektromobilität</a:t>
            </a:r>
          </a:p>
          <a:p>
            <a:r>
              <a:rPr lang="de-DE" noProof="1"/>
              <a:t>High Tech/ Medium-High-Tech Automobilsektor</a:t>
            </a:r>
          </a:p>
          <a:p>
            <a:pPr marL="0" indent="0">
              <a:buNone/>
            </a:pPr>
            <a:endParaRPr lang="de-DE" noProof="1"/>
          </a:p>
          <a:p>
            <a:pPr marL="0" indent="0">
              <a:buNone/>
            </a:pPr>
            <a:r>
              <a:rPr lang="de-DE" sz="2400" b="1" noProof="1"/>
              <a:t>Kennzahlen 2025:</a:t>
            </a:r>
          </a:p>
          <a:p>
            <a:r>
              <a:rPr lang="de-DE" noProof="1"/>
              <a:t>Umsatz: 36,27 Mrd. €</a:t>
            </a:r>
          </a:p>
          <a:p>
            <a:r>
              <a:rPr lang="de-DE" noProof="1"/>
              <a:t>Ausgelieferte Fahrzeuge: 279.449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B72C6F-6B79-073F-A15E-10D6D22F18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ECCF49-F9F1-F44B-A18C-FAF24F70FFC5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0651520-E00E-332F-DA9F-3B7A39F509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2</a:t>
            </a:fld>
            <a:endParaRPr lang="de-DE" noProof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A489F3-8221-3037-1159-4F9FABCA0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140" y="1566862"/>
            <a:ext cx="4077949" cy="4077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A46C16-B50D-E24A-46EA-202594FC6074}"/>
              </a:ext>
            </a:extLst>
          </p:cNvPr>
          <p:cNvSpPr txBox="1"/>
          <p:nvPr/>
        </p:nvSpPr>
        <p:spPr>
          <a:xfrm>
            <a:off x="5710239" y="635635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noProof="1"/>
              <a:t>[1]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7374C068-155C-E031-963B-A7352B02E9EB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90D606B-8C64-FAC5-82B1-58287D7B6C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Technology Management</a:t>
            </a:r>
          </a:p>
        </p:txBody>
      </p:sp>
    </p:spTree>
    <p:extLst>
      <p:ext uri="{BB962C8B-B14F-4D97-AF65-F5344CB8AC3E}">
        <p14:creationId xmlns:p14="http://schemas.microsoft.com/office/powerpoint/2010/main" val="18062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AB88C29C-C7C9-D18C-9814-D313661C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noProof="1"/>
              <a:t>Mit Welchen Produkten und Dienstleistungen verdient Porsche sein Geld?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5484A38-45B0-441D-9BCB-F6247F437C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de-DE" b="1" noProof="1"/>
              <a:t>Fahrzeugverkauf:</a:t>
            </a:r>
          </a:p>
          <a:p>
            <a:pPr lvl="1"/>
            <a:r>
              <a:rPr lang="de-DE" noProof="1"/>
              <a:t>Größter Umsatzanteil</a:t>
            </a:r>
          </a:p>
          <a:p>
            <a:pPr lvl="1"/>
            <a:r>
              <a:rPr lang="de-DE" noProof="1"/>
              <a:t>Verkauf von Premiumfahrzeugen weltweit</a:t>
            </a:r>
          </a:p>
          <a:p>
            <a:pPr marL="457200" lvl="1" indent="0">
              <a:buNone/>
            </a:pPr>
            <a:endParaRPr lang="de-DE" noProof="1"/>
          </a:p>
          <a:p>
            <a:pPr marL="457200" indent="-457200">
              <a:buFont typeface="+mj-lt"/>
              <a:buAutoNum type="arabicPeriod"/>
            </a:pPr>
            <a:r>
              <a:rPr lang="de-DE" b="1" noProof="1"/>
              <a:t>Finanzdienstleistungen:</a:t>
            </a:r>
          </a:p>
          <a:p>
            <a:pPr lvl="1"/>
            <a:r>
              <a:rPr lang="de-DE" noProof="1"/>
              <a:t>Leasing</a:t>
            </a:r>
          </a:p>
          <a:p>
            <a:pPr lvl="1"/>
            <a:r>
              <a:rPr lang="de-DE" noProof="1"/>
              <a:t>Finanzierung</a:t>
            </a:r>
          </a:p>
          <a:p>
            <a:pPr lvl="1"/>
            <a:r>
              <a:rPr lang="de-DE" noProof="1"/>
              <a:t>Versicherungen</a:t>
            </a:r>
          </a:p>
          <a:p>
            <a:pPr marL="0" indent="0">
              <a:buNone/>
            </a:pPr>
            <a:endParaRPr lang="de-DE" noProof="1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ADA129A-F433-4F80-F3F3-3F5BD4E405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de-DE" b="1" noProof="1"/>
              <a:t>Aftersales</a:t>
            </a:r>
          </a:p>
          <a:p>
            <a:pPr lvl="1"/>
            <a:r>
              <a:rPr lang="de-DE" noProof="1"/>
              <a:t>Wartung</a:t>
            </a:r>
          </a:p>
          <a:p>
            <a:pPr lvl="1"/>
            <a:r>
              <a:rPr lang="de-DE" noProof="1"/>
              <a:t>Ersatzteile</a:t>
            </a:r>
          </a:p>
          <a:p>
            <a:pPr lvl="1"/>
            <a:r>
              <a:rPr lang="de-DE" noProof="1"/>
              <a:t>Zubehör</a:t>
            </a:r>
          </a:p>
          <a:p>
            <a:pPr marL="457200" lvl="1" indent="0">
              <a:buNone/>
            </a:pPr>
            <a:endParaRPr lang="de-DE" noProof="1"/>
          </a:p>
          <a:p>
            <a:pPr marL="457200" indent="-457200">
              <a:buFont typeface="+mj-lt"/>
              <a:buAutoNum type="arabicPeriod" startAt="4"/>
            </a:pPr>
            <a:r>
              <a:rPr lang="de-DE" b="1" noProof="1"/>
              <a:t>Dienstleistungen</a:t>
            </a:r>
          </a:p>
          <a:p>
            <a:pPr lvl="1"/>
            <a:r>
              <a:rPr lang="de-DE" noProof="1"/>
              <a:t>Porsche Engineering</a:t>
            </a:r>
          </a:p>
          <a:p>
            <a:pPr lvl="1"/>
            <a:r>
              <a:rPr lang="de-DE" noProof="1"/>
              <a:t>Porsche Consulting</a:t>
            </a:r>
          </a:p>
          <a:p>
            <a:pPr marL="457200" lvl="1" indent="0">
              <a:buNone/>
            </a:pPr>
            <a:r>
              <a:rPr lang="de-DE" noProof="1"/>
              <a:t>	</a:t>
            </a:r>
          </a:p>
          <a:p>
            <a:pPr marL="457200" lvl="1" indent="0">
              <a:buNone/>
            </a:pPr>
            <a:endParaRPr lang="de-DE" noProof="1"/>
          </a:p>
          <a:p>
            <a:pPr marL="457200" lvl="1" indent="0">
              <a:buNone/>
            </a:pPr>
            <a:endParaRPr lang="de-DE" noProof="1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35C11C-1596-9EB4-D314-3D362DA48E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009E88-CF23-5244-A477-B17F7302E0E4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B73E4BD-AC13-FB53-0E5C-46EA022DD2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3</a:t>
            </a:fld>
            <a:endParaRPr lang="de-DE" noProof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0EF39-FEE1-042E-6FD3-03B2FD1627C7}"/>
              </a:ext>
            </a:extLst>
          </p:cNvPr>
          <p:cNvSpPr txBox="1"/>
          <p:nvPr/>
        </p:nvSpPr>
        <p:spPr>
          <a:xfrm>
            <a:off x="690828" y="4538364"/>
            <a:ext cx="511138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</a:pPr>
            <a:r>
              <a:rPr lang="de-DE" sz="2400" b="1" noProof="1"/>
              <a:t>Erfolgreichsten Modelle 2025: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Porsche Macan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Top-Seller mit 84.328 Einheiten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Porsche 911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Hohe Marge, Markenikone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de-DE" sz="2000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673BD-31A0-3133-447A-7D33C6FB26AD}"/>
              </a:ext>
            </a:extLst>
          </p:cNvPr>
          <p:cNvSpPr txBox="1"/>
          <p:nvPr/>
        </p:nvSpPr>
        <p:spPr>
          <a:xfrm>
            <a:off x="6373510" y="4538364"/>
            <a:ext cx="52420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Porsche Cayenne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Starkes SUV-Segment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Porsche Taycan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Elektromobilität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Porsche Panamera</a:t>
            </a:r>
          </a:p>
          <a:p>
            <a:pPr marL="742950" lvl="1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sz="2000" noProof="1"/>
              <a:t>Luxuslimousine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774B99-3090-38AB-E6E0-435A786624D6}"/>
              </a:ext>
            </a:extLst>
          </p:cNvPr>
          <p:cNvSpPr txBox="1"/>
          <p:nvPr/>
        </p:nvSpPr>
        <p:spPr>
          <a:xfrm>
            <a:off x="5710239" y="635635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noProof="1"/>
              <a:t>[1]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B9EF2BBE-4D3A-B197-6C09-936892977D0F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8A2191-2DB5-DE05-66BF-DA655D28B9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Technology Management</a:t>
            </a:r>
          </a:p>
        </p:txBody>
      </p:sp>
    </p:spTree>
    <p:extLst>
      <p:ext uri="{BB962C8B-B14F-4D97-AF65-F5344CB8AC3E}">
        <p14:creationId xmlns:p14="http://schemas.microsoft.com/office/powerpoint/2010/main" val="101695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556DE-3A06-4C99-4325-A13B3366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F9D806A-601C-4DDF-9C82-A049A90E3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de-DE" b="1" noProof="1"/>
              <a:t>Eigentümerstruktur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A25F74-4BE5-425C-8A7E-25C795EA2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noProof="1"/>
              <a:t>Volkswagen AG </a:t>
            </a:r>
          </a:p>
          <a:p>
            <a:r>
              <a:rPr lang="de-DE" noProof="1"/>
              <a:t>Mehrheitseigentümer</a:t>
            </a:r>
          </a:p>
          <a:p>
            <a:r>
              <a:rPr lang="de-DE" noProof="1"/>
              <a:t>Kontrolliert Porsche operativ</a:t>
            </a:r>
          </a:p>
          <a:p>
            <a:pPr marL="0" indent="0">
              <a:buNone/>
            </a:pPr>
            <a:endParaRPr lang="de-DE" noProof="1"/>
          </a:p>
          <a:p>
            <a:pPr marL="0" indent="0">
              <a:buNone/>
            </a:pPr>
            <a:r>
              <a:rPr lang="de-DE" noProof="1"/>
              <a:t>Porsche Automobil Holding SE</a:t>
            </a:r>
          </a:p>
          <a:p>
            <a:r>
              <a:rPr lang="de-DE" noProof="1"/>
              <a:t>Sperrminorität</a:t>
            </a:r>
          </a:p>
          <a:p>
            <a:r>
              <a:rPr lang="de-DE" noProof="1"/>
              <a:t>Kann wichtige Entscheidungen blockieren</a:t>
            </a:r>
          </a:p>
          <a:p>
            <a:pPr marL="0" indent="0">
              <a:buNone/>
            </a:pPr>
            <a:endParaRPr lang="de-DE" noProof="1"/>
          </a:p>
          <a:p>
            <a:pPr marL="0" indent="0">
              <a:buNone/>
            </a:pPr>
            <a:r>
              <a:rPr lang="de-DE" noProof="1"/>
              <a:t>Börseninvestoren</a:t>
            </a:r>
          </a:p>
          <a:p>
            <a:r>
              <a:rPr lang="de-DE" noProof="1"/>
              <a:t>Können investieren</a:t>
            </a:r>
          </a:p>
          <a:p>
            <a:r>
              <a:rPr lang="de-DE" noProof="1"/>
              <a:t>Haben aber kein Stimmrecht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246ABC-3CCA-F2FB-C73B-DC8BAEE0DD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8773AF-2259-0B42-AEF5-3C6C7EBEB81F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6366D72-717A-C045-5F85-C3F2F9B0E7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4</a:t>
            </a:fld>
            <a:endParaRPr lang="de-DE" noProof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0982F-49E5-F3B0-1319-C2F2A3AC3432}"/>
              </a:ext>
            </a:extLst>
          </p:cNvPr>
          <p:cNvSpPr txBox="1"/>
          <p:nvPr/>
        </p:nvSpPr>
        <p:spPr>
          <a:xfrm>
            <a:off x="5710239" y="635635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noProof="1"/>
              <a:t>[1]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676754CD-C28A-FCE2-0092-F1169230C68C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6FEC1-082E-97F1-5C55-52AE9162B35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Technology Management</a:t>
            </a:r>
          </a:p>
        </p:txBody>
      </p:sp>
    </p:spTree>
    <p:extLst>
      <p:ext uri="{BB962C8B-B14F-4D97-AF65-F5344CB8AC3E}">
        <p14:creationId xmlns:p14="http://schemas.microsoft.com/office/powerpoint/2010/main" val="388356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82EF-0F9B-E2E1-D2D1-53AA416A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1E4218E6-D486-7429-7CD6-418C9E1E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de-DE" b="1" noProof="1"/>
              <a:t>Unternehmensführung und Organisation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392806C-A7A9-4597-06EC-FA3E42740C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3911" y="1484314"/>
          <a:ext cx="11104178" cy="468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A30877-4CE6-ECB0-3692-25AE23BB11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1497B2-677C-1347-8B94-A5ED10CDCD13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597BD3C-4768-D260-298C-D44D191254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5</a:t>
            </a:fld>
            <a:endParaRPr lang="de-DE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8AAB80-B25B-228E-D72A-33928362770A}"/>
              </a:ext>
            </a:extLst>
          </p:cNvPr>
          <p:cNvSpPr txBox="1"/>
          <p:nvPr/>
        </p:nvSpPr>
        <p:spPr>
          <a:xfrm>
            <a:off x="5710239" y="635635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noProof="1"/>
              <a:t>[1]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A00CC9B5-9C57-0CAC-0DA6-66BF30B68943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1427464-6586-7493-5C2B-4E497E60015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Technology Management</a:t>
            </a:r>
          </a:p>
        </p:txBody>
      </p:sp>
    </p:spTree>
    <p:extLst>
      <p:ext uri="{BB962C8B-B14F-4D97-AF65-F5344CB8AC3E}">
        <p14:creationId xmlns:p14="http://schemas.microsoft.com/office/powerpoint/2010/main" val="43007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762DA-B97A-A1FB-EC58-50C469EA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sz="4000" noProof="1">
                <a:latin typeface="+mj-lt"/>
              </a:rPr>
              <a:t>Werteversprechen </a:t>
            </a:r>
          </a:p>
        </p:txBody>
      </p:sp>
      <p:pic>
        <p:nvPicPr>
          <p:cNvPr id="8" name="Grafik 7" descr="Ein Bild, das Fahrzeug, Landfahrzeug, draußen, Himmel enthält.&#10;&#10;KI-generierte Inhalte können fehlerhaft sein.">
            <a:extLst>
              <a:ext uri="{FF2B5EF4-FFF2-40B4-BE49-F238E27FC236}">
                <a16:creationId xmlns:a16="http://schemas.microsoft.com/office/drawing/2014/main" id="{CCEF079C-FF85-0800-0262-E016F13E7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02" r="10850" b="-2"/>
          <a:stretch>
            <a:fillRect/>
          </a:stretch>
        </p:blipFill>
        <p:spPr>
          <a:xfrm>
            <a:off x="1" y="0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483371-F81F-5F8B-9B47-10FE98C7DB9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1013" y="6356350"/>
            <a:ext cx="685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de-DE" sz="1200" noProof="1">
                <a:solidFill>
                  <a:srgbClr val="FFFFFF"/>
                </a:solidFill>
                <a:latin typeface="Calibri" panose="020F0502020204030204"/>
                <a:cs typeface="+mn-cs"/>
              </a:rPr>
              <a:t>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44C887-A807-128E-10B6-7937F3CB2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sz="1800" noProof="1">
                <a:latin typeface="+mn-lt"/>
              </a:rPr>
              <a:t>Zentraler Begriff: "Modern Luxury"</a:t>
            </a:r>
          </a:p>
          <a:p>
            <a:pPr lvl="1"/>
            <a:endParaRPr lang="de-DE" noProof="1">
              <a:latin typeface="+mn-lt"/>
            </a:endParaRPr>
          </a:p>
          <a:p>
            <a:pPr lvl="1"/>
            <a:r>
              <a:rPr lang="de-DE" b="1" noProof="1">
                <a:latin typeface="+mn-lt"/>
              </a:rPr>
              <a:t>Performance trifft Alltagstauglichkeit: </a:t>
            </a:r>
            <a:r>
              <a:rPr lang="de-DE" noProof="1">
                <a:latin typeface="+mn-lt"/>
              </a:rPr>
              <a:t>Die Fahrdynamik eines Sportwagens, nutzbar für den alltäglichen Bedarf.</a:t>
            </a:r>
          </a:p>
          <a:p>
            <a:pPr lvl="1"/>
            <a:endParaRPr lang="de-DE" noProof="1">
              <a:latin typeface="+mn-lt"/>
            </a:endParaRPr>
          </a:p>
          <a:p>
            <a:pPr lvl="1"/>
            <a:r>
              <a:rPr lang="de-DE" b="1" noProof="1">
                <a:latin typeface="+mn-lt"/>
              </a:rPr>
              <a:t>Ikonisches Design &amp; Heritage:</a:t>
            </a:r>
            <a:r>
              <a:rPr lang="de-DE" noProof="1">
                <a:latin typeface="+mn-lt"/>
              </a:rPr>
              <a:t> Zeitlosigkeit und ein Stück Automobilgeschichte.</a:t>
            </a:r>
          </a:p>
          <a:p>
            <a:pPr lvl="1"/>
            <a:endParaRPr lang="de-DE" noProof="1">
              <a:latin typeface="+mn-lt"/>
            </a:endParaRPr>
          </a:p>
          <a:p>
            <a:pPr lvl="1"/>
            <a:r>
              <a:rPr lang="de-DE" b="1" noProof="1">
                <a:latin typeface="+mn-lt"/>
              </a:rPr>
              <a:t>Exklusivität &amp; Individualisierung: </a:t>
            </a:r>
            <a:r>
              <a:rPr lang="de-DE" noProof="1">
                <a:latin typeface="+mn-lt"/>
              </a:rPr>
              <a:t>Maßgeschneiderte Unikate durch die "Porsche Exclusive Manufaktur" für ein maximales Status- und Luxusgefühl.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AB6BC2-3488-3263-E17F-A6007814048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17733" y="6356350"/>
            <a:ext cx="52916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3C2E5B-2C2E-9697-9E3F-F77F42AFBFE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30789" y="6356350"/>
            <a:ext cx="252634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CF55AB4-D6EA-284B-A368-EC93CB23A3B8}" type="datetime1">
              <a:rPr lang="en-US" sz="1200" noProof="1" smtClean="0">
                <a:solidFill>
                  <a:srgbClr val="FFFFFF"/>
                </a:solidFill>
                <a:latin typeface="Calibri" panose="020F0502020204030204"/>
                <a:cs typeface="+mn-cs"/>
              </a:rPr>
              <a:t>5/17/26</a:t>
            </a:fld>
            <a:endParaRPr lang="de-DE" sz="1200" noProof="1">
              <a:solidFill>
                <a:srgbClr val="FFFFFF"/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594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DB7C7F-960D-B543-75F3-73990789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sz="4000" noProof="1">
                <a:latin typeface="+mj-lt"/>
              </a:rPr>
              <a:t>Wettbewerbsvorteil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CA879-B495-31E3-2430-E62556E29F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81" r="19471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62AEAC-E0A6-9268-F2EA-37062CD2ED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1013" y="6356350"/>
            <a:ext cx="685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de-DE" sz="1200" noProof="1">
                <a:solidFill>
                  <a:srgbClr val="FFFFFF"/>
                </a:solidFill>
                <a:latin typeface="Calibri" panose="020F0502020204030204"/>
                <a:cs typeface="+mn-cs"/>
              </a:rPr>
              <a:t>2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A6794A-8D43-095C-8234-7AFE7709EE9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30789" y="6356350"/>
            <a:ext cx="252634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EA4BF1E-3784-D34A-801C-B732C0EBFB9A}" type="datetime1">
              <a:rPr lang="en-US" sz="1200" noProof="1" smtClean="0">
                <a:solidFill>
                  <a:srgbClr val="FFFFFF"/>
                </a:solidFill>
                <a:latin typeface="Calibri" panose="020F0502020204030204"/>
                <a:cs typeface="+mn-cs"/>
              </a:rPr>
              <a:t>5/17/26</a:t>
            </a:fld>
            <a:endParaRPr lang="de-DE" sz="1200" noProof="1">
              <a:solidFill>
                <a:srgbClr val="FFFFFF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7BA9DC-5285-E57C-7FF9-00037B5C8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sz="1500" b="1" noProof="1">
                <a:latin typeface="+mn-lt"/>
              </a:rPr>
              <a:t>Überlegene Preissetzungsmacht: </a:t>
            </a:r>
            <a:r>
              <a:rPr lang="de-DE" sz="1500" noProof="1">
                <a:latin typeface="+mn-lt"/>
              </a:rPr>
              <a:t>Sehr starke Marke und hohe Zahlungsbereitschaft der Kunden ermöglichen überdurchschnittliche Margen; die Höhe schwankt jedoch je nach Markt- und Sondereffekten.</a:t>
            </a:r>
          </a:p>
          <a:p>
            <a:endParaRPr lang="de-DE" sz="1500" noProof="1">
              <a:latin typeface="+mn-lt"/>
            </a:endParaRPr>
          </a:p>
          <a:p>
            <a:r>
              <a:rPr lang="de-DE" sz="1500" b="1" i="1" noProof="1">
                <a:latin typeface="+mn-lt"/>
              </a:rPr>
              <a:t>Skaleneffekte im Konzernverbund:</a:t>
            </a:r>
            <a:r>
              <a:rPr lang="de-DE" sz="1500" noProof="1">
                <a:latin typeface="+mn-lt"/>
              </a:rPr>
              <a:t> Geteilte Entwicklungs- und Plattformkosten, etwa bei PPE und Software, kombiniert mit Premium-Positionierung und hoher Wertschöpfung.</a:t>
            </a:r>
          </a:p>
          <a:p>
            <a:endParaRPr lang="de-DE" sz="1500" noProof="1">
              <a:latin typeface="+mn-lt"/>
            </a:endParaRPr>
          </a:p>
          <a:p>
            <a:r>
              <a:rPr lang="de-DE" sz="1500" b="1" noProof="1">
                <a:latin typeface="+mn-lt"/>
              </a:rPr>
              <a:t>Engineering Know-How: </a:t>
            </a:r>
            <a:r>
              <a:rPr lang="de-DE" sz="1500" noProof="1">
                <a:latin typeface="+mn-lt"/>
              </a:rPr>
              <a:t>Branchenführend bei Fahrdynamik und Fahrwerkabstimmung, was das typische Sportwagen-Fahrgefühl selbst bei schweren E-Autos erhält.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CA2FD016-0DCB-A927-92C1-9C12EAC309E8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150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14358-286E-0BBD-CA48-C895C176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Phasen der S-Kurve</a:t>
            </a:r>
          </a:p>
        </p:txBody>
      </p:sp>
      <p:sp>
        <p:nvSpPr>
          <p:cNvPr id="90" name="Content Placeholder 78">
            <a:extLst>
              <a:ext uri="{FF2B5EF4-FFF2-40B4-BE49-F238E27FC236}">
                <a16:creationId xmlns:a16="http://schemas.microsoft.com/office/drawing/2014/main" id="{F4F93E74-7EF4-6B6D-DA09-4C3F9DC17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noProof="1">
                <a:solidFill>
                  <a:srgbClr val="C00000"/>
                </a:solidFill>
                <a:latin typeface="+mn-lt"/>
              </a:rPr>
              <a:t>Verbrennungsmotoren </a:t>
            </a:r>
            <a:r>
              <a:rPr lang="de-DE" noProof="1">
                <a:solidFill>
                  <a:srgbClr val="000000"/>
                </a:solidFill>
                <a:latin typeface="+mn-lt"/>
              </a:rPr>
              <a:t>in der Reifephase</a:t>
            </a:r>
          </a:p>
          <a:p>
            <a:r>
              <a:rPr lang="de-DE" noProof="1">
                <a:solidFill>
                  <a:srgbClr val="00B050"/>
                </a:solidFill>
                <a:latin typeface="+mn-lt"/>
              </a:rPr>
              <a:t>Elektromobilität </a:t>
            </a:r>
            <a:r>
              <a:rPr lang="de-DE" noProof="1">
                <a:solidFill>
                  <a:schemeClr val="bg2">
                    <a:lumMod val="10000"/>
                  </a:schemeClr>
                </a:solidFill>
                <a:latin typeface="+mn-lt"/>
              </a:rPr>
              <a:t>ist in der Wachstumsphase</a:t>
            </a:r>
          </a:p>
          <a:p>
            <a:pPr lvl="1"/>
            <a:r>
              <a:rPr lang="de-DE" noProof="1">
                <a:solidFill>
                  <a:schemeClr val="bg2">
                    <a:lumMod val="10000"/>
                  </a:schemeClr>
                </a:solidFill>
                <a:latin typeface="+mn-lt"/>
              </a:rPr>
              <a:t>Beginnend 2019 mit Porsche Taycan</a:t>
            </a:r>
            <a:endParaRPr lang="de-DE" noProof="1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44" name="Content Placeholder 43">
            <a:extLst>
              <a:ext uri="{FF2B5EF4-FFF2-40B4-BE49-F238E27FC236}">
                <a16:creationId xmlns:a16="http://schemas.microsoft.com/office/drawing/2014/main" id="{AB3D7390-BE06-C868-CA79-971A0F38A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72" y="1572758"/>
            <a:ext cx="6389346" cy="372179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FD133-A286-3BEB-970B-77671E480A0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AEE3910-6009-424F-9F5B-847DD9F39D55}" type="datetime1">
              <a:rPr lang="en-US" sz="1200" noProof="1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5/17/26</a:t>
            </a:fld>
            <a:endParaRPr lang="de-DE" sz="1200" noProof="1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CDB73F-84C2-CFF2-69BE-BF767B8BCC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sz="1200" noProof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6905CC-177A-FE41-ED76-12DE0FFE409A}"/>
              </a:ext>
            </a:extLst>
          </p:cNvPr>
          <p:cNvSpPr txBox="1"/>
          <p:nvPr/>
        </p:nvSpPr>
        <p:spPr>
          <a:xfrm>
            <a:off x="5132965" y="5285242"/>
            <a:ext cx="35938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noProof="1">
                <a:solidFill>
                  <a:srgbClr val="FF0000"/>
                </a:solidFill>
              </a:rPr>
              <a:t>Verbrennungsmotoren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noProof="1">
                <a:solidFill>
                  <a:srgbClr val="00B050"/>
                </a:solidFill>
              </a:rPr>
              <a:t>Elektromobilität</a:t>
            </a:r>
          </a:p>
        </p:txBody>
      </p:sp>
      <p:sp>
        <p:nvSpPr>
          <p:cNvPr id="49" name="Fußzeilenplatzhalter 4">
            <a:extLst>
              <a:ext uri="{FF2B5EF4-FFF2-40B4-BE49-F238E27FC236}">
                <a16:creationId xmlns:a16="http://schemas.microsoft.com/office/drawing/2014/main" id="{0DB2C786-F134-FDF6-D0FC-D4B57F4D1174}"/>
              </a:ext>
            </a:extLst>
          </p:cNvPr>
          <p:cNvSpPr txBox="1">
            <a:spLocks/>
          </p:cNvSpPr>
          <p:nvPr/>
        </p:nvSpPr>
        <p:spPr>
          <a:xfrm>
            <a:off x="6417734" y="6356239"/>
            <a:ext cx="52249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8C585F-508E-D7AD-11D4-B1FF675569F8}"/>
              </a:ext>
            </a:extLst>
          </p:cNvPr>
          <p:cNvCxnSpPr>
            <a:cxnSpLocks/>
          </p:cNvCxnSpPr>
          <p:nvPr/>
        </p:nvCxnSpPr>
        <p:spPr>
          <a:xfrm flipV="1">
            <a:off x="9956800" y="1955409"/>
            <a:ext cx="0" cy="2911231"/>
          </a:xfrm>
          <a:prstGeom prst="line">
            <a:avLst/>
          </a:prstGeom>
          <a:ln w="12700" cap="rnd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383013-0BA2-3C6F-7FC9-1FCAB8DE48E7}"/>
              </a:ext>
            </a:extLst>
          </p:cNvPr>
          <p:cNvCxnSpPr>
            <a:cxnSpLocks/>
          </p:cNvCxnSpPr>
          <p:nvPr/>
        </p:nvCxnSpPr>
        <p:spPr>
          <a:xfrm flipV="1">
            <a:off x="7266366" y="2005037"/>
            <a:ext cx="0" cy="2847926"/>
          </a:xfrm>
          <a:prstGeom prst="line">
            <a:avLst/>
          </a:prstGeom>
          <a:ln w="12700" cap="rnd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613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B943-D89E-412F-2A7E-FE82A6B4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1"/>
              <a:t>Verbrennungsmotoren (Reifephase)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19A3A4F-EC00-47A9-3D0A-8767560FBD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3911" y="1484314"/>
          <a:ext cx="11104178" cy="4573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3B52-209E-A13C-41E0-9F9B798789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A6CE84-93A4-2747-8935-A06C6A07EAE2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609D8-3125-6610-6210-68DC48852A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1"/>
              <a:t>4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275D658-1415-029E-954B-180F1968A14B}"/>
              </a:ext>
            </a:extLst>
          </p:cNvPr>
          <p:cNvSpPr txBox="1">
            <a:spLocks/>
          </p:cNvSpPr>
          <p:nvPr/>
        </p:nvSpPr>
        <p:spPr>
          <a:xfrm>
            <a:off x="6417734" y="6356239"/>
            <a:ext cx="52249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907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DD421-4B67-397F-EB39-899164C2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D0E6-A703-9093-638E-3878E242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1"/>
              <a:t>Elektromobilität (Wachstumsphase)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F35E2FD4-A4F4-E4D7-9DE6-B8B451F088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3911" y="1484314"/>
          <a:ext cx="11104178" cy="4573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589F-E2D7-3C61-7224-A1F735E0BD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DD18DE-507E-E942-97F5-EF162F1CDDF4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858B3-8372-E2DE-5A33-9B31EF2DB1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1"/>
              <a:t>5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A056C095-7419-9B15-D3B0-8206D478B147}"/>
              </a:ext>
            </a:extLst>
          </p:cNvPr>
          <p:cNvSpPr txBox="1">
            <a:spLocks/>
          </p:cNvSpPr>
          <p:nvPr/>
        </p:nvSpPr>
        <p:spPr>
          <a:xfrm>
            <a:off x="6417734" y="6356239"/>
            <a:ext cx="52249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831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F18A8-0685-C5B2-DBC8-52A35175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3D5B62-C238-19C9-461E-04D97848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de-DE" b="1" noProof="1"/>
              <a:t>Analyse der 5 Wettbewerbskräfte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4F9BC6E-E26B-0AC3-010F-AF7D9A8B6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10" y="1558189"/>
            <a:ext cx="11104177" cy="4573586"/>
          </a:xfrm>
        </p:spPr>
        <p:txBody>
          <a:bodyPr/>
          <a:lstStyle/>
          <a:p>
            <a:pPr lvl="0"/>
            <a:r>
              <a:rPr lang="de-DE"/>
              <a:t>Wettbewerb im Premium- &amp; Luxussegment ist hoch und spielt auf 2 Fronten</a:t>
            </a:r>
            <a:endParaRPr lang="en-US"/>
          </a:p>
          <a:p>
            <a:pPr lvl="1"/>
            <a:r>
              <a:rPr lang="de-DE"/>
              <a:t>Die Traditionelle Front: Verbrenner, Performance, Emotionen</a:t>
            </a:r>
            <a:endParaRPr lang="en-US"/>
          </a:p>
          <a:p>
            <a:pPr lvl="1"/>
            <a:r>
              <a:rPr lang="de-DE"/>
              <a:t>Die Neue Front E-Autos: Unterhaltskosten, Umweltvorteile</a:t>
            </a:r>
            <a:endParaRPr lang="en-US"/>
          </a:p>
          <a:p>
            <a:pPr lvl="0"/>
            <a:r>
              <a:rPr lang="de-DE"/>
              <a:t>Bedrohung durch Ersatzprodukte niedrig</a:t>
            </a:r>
            <a:endParaRPr lang="en-US"/>
          </a:p>
          <a:p>
            <a:pPr lvl="1"/>
            <a:r>
              <a:rPr lang="de-DE"/>
              <a:t>Status vs Mobilität: Ginge es nur um Transport würde Porsche in den nächsten Jahren ersetzt werden</a:t>
            </a:r>
            <a:endParaRPr lang="en-US"/>
          </a:p>
          <a:p>
            <a:pPr lvl="1"/>
            <a:r>
              <a:rPr lang="de-DE"/>
              <a:t>Emotionale Bindung: Kauf nach Emotionen, Fahrspaß, Statussymbol</a:t>
            </a:r>
          </a:p>
          <a:p>
            <a:r>
              <a:rPr lang="de-DE"/>
              <a:t>Historisch: Gefahr von Markteintritten niedrig, durch hohen Kapitalbedarf &amp; komplexen Motorbau</a:t>
            </a:r>
            <a:endParaRPr lang="en-US"/>
          </a:p>
          <a:p>
            <a:pPr lvl="1"/>
            <a:r>
              <a:rPr lang="de-DE"/>
              <a:t>Elektromotor einfacher zu bauen, als komplexer Hochleistungsverbrenner</a:t>
            </a:r>
            <a:endParaRPr lang="en-US"/>
          </a:p>
          <a:p>
            <a:pPr lvl="1"/>
            <a:r>
              <a:rPr lang="de-DE"/>
              <a:t>Gewissen „Schutz“ durch Markenheritage</a:t>
            </a:r>
            <a:endParaRPr lang="en-US"/>
          </a:p>
          <a:p>
            <a:pPr lvl="1"/>
            <a:endParaRPr lang="en-US"/>
          </a:p>
          <a:p>
            <a:pPr lvl="1"/>
            <a:endParaRPr lang="de-DE" noProof="1"/>
          </a:p>
          <a:p>
            <a:pPr marL="0" indent="0">
              <a:buNone/>
            </a:pPr>
            <a:endParaRPr lang="de-DE" noProof="1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B7D117-0FF1-3820-7CB2-B7145E4CB7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8773AF-2259-0B42-AEF5-3C6C7EBEB81F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AB16D47-324E-DC63-6517-8D35255417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11</a:t>
            </a:fld>
            <a:endParaRPr lang="de-DE" noProof="1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E6EE1D55-9A31-94AC-5A8B-0357C7BBEE3C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94197-2690-174E-0061-A4B485D38ED5}"/>
              </a:ext>
            </a:extLst>
          </p:cNvPr>
          <p:cNvSpPr txBox="1"/>
          <p:nvPr/>
        </p:nvSpPr>
        <p:spPr>
          <a:xfrm>
            <a:off x="2115879" y="27538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1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190DC-D4A9-0B5D-80D7-1AD2755C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AEFAA50-3367-67ED-AE64-461954D0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de-DE" b="1" noProof="1"/>
              <a:t>Analyse der 5 Wettbewerbskräfte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FD7FF6D-2889-35B3-8AD8-8A1FF4728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10" y="1558189"/>
            <a:ext cx="11104177" cy="4573586"/>
          </a:xfrm>
        </p:spPr>
        <p:txBody>
          <a:bodyPr/>
          <a:lstStyle/>
          <a:p>
            <a:r>
              <a:rPr lang="de-DE" noProof="1"/>
              <a:t>Macht von Abnehmern </a:t>
            </a:r>
          </a:p>
          <a:p>
            <a:pPr lvl="1"/>
            <a:r>
              <a:rPr lang="de-DE" noProof="1"/>
              <a:t>Porsche Kunden wenig preissensibel, höhere Preise stärken die Exklusivität</a:t>
            </a:r>
          </a:p>
          <a:p>
            <a:pPr lvl="1"/>
            <a:r>
              <a:rPr lang="de-DE" noProof="1"/>
              <a:t>Individualisierung: Traumautokonfiguration (Porsche Exclusive Manufaktur) bindet Kunden stärker an die Marke</a:t>
            </a:r>
          </a:p>
          <a:p>
            <a:r>
              <a:rPr lang="de-DE" noProof="1"/>
              <a:t>Macht von Lieferanten</a:t>
            </a:r>
          </a:p>
          <a:p>
            <a:pPr lvl="1"/>
            <a:r>
              <a:rPr lang="de-DE" noProof="1"/>
              <a:t>Klassische Autoteile hat Porsche enorme Verhandlungsmacht als Teil des VW-Konzerns</a:t>
            </a:r>
          </a:p>
          <a:p>
            <a:pPr lvl="1"/>
            <a:r>
              <a:rPr lang="de-DE" noProof="1"/>
              <a:t>Bei Software &amp; Batterien für Elektromobilität, erhöhte Abhängigkeit von Hightech-Lieferanten</a:t>
            </a:r>
          </a:p>
          <a:p>
            <a:pPr lvl="1"/>
            <a:endParaRPr lang="de-DE" noProof="1"/>
          </a:p>
          <a:p>
            <a:pPr marL="0" indent="0">
              <a:buNone/>
            </a:pPr>
            <a:endParaRPr lang="de-DE" noProof="1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6EFA28-8AB4-BB18-1FA6-1822FFA30E9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8773AF-2259-0B42-AEF5-3C6C7EBEB81F}" type="datetime1">
              <a:rPr lang="en-US" noProof="1" smtClean="0"/>
              <a:pPr/>
              <a:t>5/17/26</a:t>
            </a:fld>
            <a:r>
              <a:rPr lang="en-US" noProof="1"/>
              <a:t>        </a:t>
            </a:r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97950812-5881-D2E5-E170-298A3CB6B5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12</a:t>
            </a:fld>
            <a:endParaRPr lang="de-DE" noProof="1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D8A12B1C-5A45-E91B-9CE3-65EC4C160769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08858-32EC-C2CC-C3CE-83694228F929}"/>
              </a:ext>
            </a:extLst>
          </p:cNvPr>
          <p:cNvSpPr txBox="1"/>
          <p:nvPr/>
        </p:nvSpPr>
        <p:spPr>
          <a:xfrm>
            <a:off x="2115879" y="27538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DA52F8DF-F0A8-A0CA-72ED-F8EBCEC08D5D}"/>
              </a:ext>
            </a:extLst>
          </p:cNvPr>
          <p:cNvSpPr txBox="1">
            <a:spLocks/>
          </p:cNvSpPr>
          <p:nvPr/>
        </p:nvSpPr>
        <p:spPr>
          <a:xfrm>
            <a:off x="6570133" y="65086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337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8B41-7150-DE04-CB68-A904861A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98A9A04-99E1-478E-4679-5F55615A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de-DE" b="1" noProof="1"/>
              <a:t>Wertschöpfungskette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BFC8BB-70BB-1C90-1300-76FCFB30BF4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8773AF-2259-0B42-AEF5-3C6C7EBEB81F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E2B4F3C-1861-7782-D835-06BF324B8D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13</a:t>
            </a:fld>
            <a:endParaRPr lang="de-DE" noProof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3EBDC-544C-1FE4-E3CA-03BE30D5FAAF}"/>
              </a:ext>
            </a:extLst>
          </p:cNvPr>
          <p:cNvSpPr txBox="1"/>
          <p:nvPr/>
        </p:nvSpPr>
        <p:spPr>
          <a:xfrm>
            <a:off x="5710239" y="635635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noProof="1"/>
              <a:t>[1]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DAE24-B850-C0E8-8AFB-65826F0674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Technology Management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1C0ED4F-C305-4B1E-6B98-C60B28464BD7}"/>
              </a:ext>
            </a:extLst>
          </p:cNvPr>
          <p:cNvSpPr>
            <a:spLocks/>
          </p:cNvSpPr>
          <p:nvPr/>
        </p:nvSpPr>
        <p:spPr>
          <a:xfrm>
            <a:off x="554949" y="1465943"/>
            <a:ext cx="9701922" cy="566057"/>
          </a:xfrm>
          <a:custGeom>
            <a:avLst/>
            <a:gdLst>
              <a:gd name="csX0" fmla="*/ 0 w 9509760"/>
              <a:gd name="csY0" fmla="*/ 0 h 566057"/>
              <a:gd name="csX1" fmla="*/ 9509760 w 9509760"/>
              <a:gd name="csY1" fmla="*/ 0 h 566057"/>
              <a:gd name="csX2" fmla="*/ 9509760 w 9509760"/>
              <a:gd name="csY2" fmla="*/ 566057 h 566057"/>
              <a:gd name="csX3" fmla="*/ 0 w 9509760"/>
              <a:gd name="csY3" fmla="*/ 566057 h 566057"/>
              <a:gd name="csX4" fmla="*/ 0 w 9509760"/>
              <a:gd name="csY4" fmla="*/ 0 h 566057"/>
              <a:gd name="csX0" fmla="*/ 0 w 9712960"/>
              <a:gd name="csY0" fmla="*/ 0 h 566057"/>
              <a:gd name="csX1" fmla="*/ 9509760 w 9712960"/>
              <a:gd name="csY1" fmla="*/ 0 h 566057"/>
              <a:gd name="csX2" fmla="*/ 9712960 w 9712960"/>
              <a:gd name="csY2" fmla="*/ 566057 h 566057"/>
              <a:gd name="csX3" fmla="*/ 0 w 9712960"/>
              <a:gd name="csY3" fmla="*/ 566057 h 566057"/>
              <a:gd name="csX4" fmla="*/ 0 w 9712960"/>
              <a:gd name="csY4" fmla="*/ 0 h 566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12960" h="566057">
                <a:moveTo>
                  <a:pt x="0" y="0"/>
                </a:moveTo>
                <a:lnTo>
                  <a:pt x="9509760" y="0"/>
                </a:lnTo>
                <a:lnTo>
                  <a:pt x="9712960" y="566057"/>
                </a:lnTo>
                <a:lnTo>
                  <a:pt x="0" y="566057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 w="9231" cap="flat">
            <a:noFill/>
            <a:prstDash val="solid"/>
            <a:miter/>
          </a:ln>
          <a:effectLst>
            <a:outerShdw blurRad="50800" dist="50800" dir="7680000" algn="ctr" rotWithShape="0">
              <a:srgbClr val="C00000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bg1"/>
                </a:solidFill>
              </a:rPr>
              <a:t>Unternehmens</a:t>
            </a:r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sz="1600" b="1" err="1">
                <a:solidFill>
                  <a:schemeClr val="bg1"/>
                </a:solidFill>
              </a:rPr>
              <a:t>Infrastruktur</a:t>
            </a:r>
            <a:endParaRPr lang="en-US" sz="1600" b="1">
              <a:solidFill>
                <a:schemeClr val="bg1"/>
              </a:solidFill>
            </a:endParaRPr>
          </a:p>
          <a:p>
            <a:pPr algn="ctr"/>
            <a:r>
              <a:rPr lang="en-US" sz="1600" b="1">
                <a:solidFill>
                  <a:schemeClr val="bg1"/>
                </a:solidFill>
              </a:rPr>
              <a:t>Management, </a:t>
            </a:r>
            <a:r>
              <a:rPr lang="en-US" sz="1600" b="1" err="1">
                <a:solidFill>
                  <a:schemeClr val="bg1"/>
                </a:solidFill>
              </a:rPr>
              <a:t>Strategie</a:t>
            </a:r>
            <a:r>
              <a:rPr lang="en-US" sz="1600" b="1">
                <a:solidFill>
                  <a:schemeClr val="bg1"/>
                </a:solidFill>
              </a:rPr>
              <a:t>, </a:t>
            </a:r>
            <a:r>
              <a:rPr lang="en-US" sz="1600" b="1" err="1">
                <a:solidFill>
                  <a:schemeClr val="bg1"/>
                </a:solidFill>
              </a:rPr>
              <a:t>Finanzen</a:t>
            </a:r>
            <a:r>
              <a:rPr lang="en-US" sz="1600" b="1">
                <a:solidFill>
                  <a:schemeClr val="bg1"/>
                </a:solidFill>
              </a:rPr>
              <a:t> und </a:t>
            </a:r>
            <a:r>
              <a:rPr lang="en-US" sz="1600" b="1" err="1">
                <a:solidFill>
                  <a:schemeClr val="bg1"/>
                </a:solidFill>
              </a:rPr>
              <a:t>Qualitätsmanagement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72" name="Chevron 71">
            <a:extLst>
              <a:ext uri="{FF2B5EF4-FFF2-40B4-BE49-F238E27FC236}">
                <a16:creationId xmlns:a16="http://schemas.microsoft.com/office/drawing/2014/main" id="{7287437B-DEED-9ED4-A90F-D52D2AC5ACE5}"/>
              </a:ext>
            </a:extLst>
          </p:cNvPr>
          <p:cNvSpPr/>
          <p:nvPr/>
        </p:nvSpPr>
        <p:spPr>
          <a:xfrm>
            <a:off x="10256871" y="1434872"/>
            <a:ext cx="1807403" cy="4921478"/>
          </a:xfrm>
          <a:custGeom>
            <a:avLst/>
            <a:gdLst>
              <a:gd name="csX0" fmla="*/ 0 w 1807403"/>
              <a:gd name="csY0" fmla="*/ 0 h 4921478"/>
              <a:gd name="csX1" fmla="*/ 903702 w 1807403"/>
              <a:gd name="csY1" fmla="*/ 0 h 4921478"/>
              <a:gd name="csX2" fmla="*/ 1807403 w 1807403"/>
              <a:gd name="csY2" fmla="*/ 2460739 h 4921478"/>
              <a:gd name="csX3" fmla="*/ 903702 w 1807403"/>
              <a:gd name="csY3" fmla="*/ 4921478 h 4921478"/>
              <a:gd name="csX4" fmla="*/ 0 w 1807403"/>
              <a:gd name="csY4" fmla="*/ 4921478 h 4921478"/>
              <a:gd name="csX5" fmla="*/ 903702 w 1807403"/>
              <a:gd name="csY5" fmla="*/ 2460739 h 4921478"/>
              <a:gd name="csX6" fmla="*/ 0 w 1807403"/>
              <a:gd name="csY6" fmla="*/ 0 h 4921478"/>
              <a:gd name="csX0" fmla="*/ 0 w 1807403"/>
              <a:gd name="csY0" fmla="*/ 0 h 4921478"/>
              <a:gd name="csX1" fmla="*/ 903702 w 1807403"/>
              <a:gd name="csY1" fmla="*/ 0 h 4921478"/>
              <a:gd name="csX2" fmla="*/ 1807403 w 1807403"/>
              <a:gd name="csY2" fmla="*/ 2460739 h 4921478"/>
              <a:gd name="csX3" fmla="*/ 903702 w 1807403"/>
              <a:gd name="csY3" fmla="*/ 4921478 h 4921478"/>
              <a:gd name="csX4" fmla="*/ 319315 w 1807403"/>
              <a:gd name="csY4" fmla="*/ 4921478 h 4921478"/>
              <a:gd name="csX5" fmla="*/ 903702 w 1807403"/>
              <a:gd name="csY5" fmla="*/ 2460739 h 4921478"/>
              <a:gd name="csX6" fmla="*/ 0 w 1807403"/>
              <a:gd name="csY6" fmla="*/ 0 h 49214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07403" h="4921478">
                <a:moveTo>
                  <a:pt x="0" y="0"/>
                </a:moveTo>
                <a:lnTo>
                  <a:pt x="903702" y="0"/>
                </a:lnTo>
                <a:lnTo>
                  <a:pt x="1807403" y="2460739"/>
                </a:lnTo>
                <a:lnTo>
                  <a:pt x="903702" y="4921478"/>
                </a:lnTo>
                <a:lnTo>
                  <a:pt x="319315" y="4921478"/>
                </a:lnTo>
                <a:lnTo>
                  <a:pt x="903702" y="246073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50800" dir="540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                  Marge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2169984-62CB-A5CD-54BB-E5EF2FD4DBF5}"/>
              </a:ext>
            </a:extLst>
          </p:cNvPr>
          <p:cNvSpPr/>
          <p:nvPr/>
        </p:nvSpPr>
        <p:spPr>
          <a:xfrm>
            <a:off x="549917" y="2063071"/>
            <a:ext cx="9881126" cy="566057"/>
          </a:xfrm>
          <a:custGeom>
            <a:avLst/>
            <a:gdLst>
              <a:gd name="csX0" fmla="*/ 0 w 9712960"/>
              <a:gd name="csY0" fmla="*/ 0 h 566057"/>
              <a:gd name="csX1" fmla="*/ 9712960 w 9712960"/>
              <a:gd name="csY1" fmla="*/ 0 h 566057"/>
              <a:gd name="csX2" fmla="*/ 9712960 w 9712960"/>
              <a:gd name="csY2" fmla="*/ 566057 h 566057"/>
              <a:gd name="csX3" fmla="*/ 0 w 9712960"/>
              <a:gd name="csY3" fmla="*/ 566057 h 566057"/>
              <a:gd name="csX4" fmla="*/ 0 w 9712960"/>
              <a:gd name="csY4" fmla="*/ 0 h 566057"/>
              <a:gd name="csX0" fmla="*/ 0 w 9887132"/>
              <a:gd name="csY0" fmla="*/ 0 h 566057"/>
              <a:gd name="csX1" fmla="*/ 9712960 w 9887132"/>
              <a:gd name="csY1" fmla="*/ 0 h 566057"/>
              <a:gd name="csX2" fmla="*/ 9887132 w 9887132"/>
              <a:gd name="csY2" fmla="*/ 566057 h 566057"/>
              <a:gd name="csX3" fmla="*/ 0 w 9887132"/>
              <a:gd name="csY3" fmla="*/ 566057 h 566057"/>
              <a:gd name="csX4" fmla="*/ 0 w 9887132"/>
              <a:gd name="csY4" fmla="*/ 0 h 566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887132" h="566057">
                <a:moveTo>
                  <a:pt x="0" y="0"/>
                </a:moveTo>
                <a:lnTo>
                  <a:pt x="9712960" y="0"/>
                </a:lnTo>
                <a:lnTo>
                  <a:pt x="9887132" y="566057"/>
                </a:lnTo>
                <a:lnTo>
                  <a:pt x="0" y="566057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 w="9231" cap="flat">
            <a:noFill/>
            <a:prstDash val="solid"/>
            <a:miter/>
          </a:ln>
          <a:effectLst>
            <a:outerShdw blurRad="50800" dist="50800" dir="7680000" algn="ctr" rotWithShape="0">
              <a:srgbClr val="C00000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Human Resource Management </a:t>
            </a:r>
          </a:p>
          <a:p>
            <a:pPr algn="ctr"/>
            <a:r>
              <a:rPr lang="en-US" sz="1600" b="1" err="1">
                <a:solidFill>
                  <a:schemeClr val="bg1"/>
                </a:solidFill>
              </a:rPr>
              <a:t>Fachkräfte</a:t>
            </a:r>
            <a:r>
              <a:rPr lang="en-US" sz="1600" b="1">
                <a:solidFill>
                  <a:schemeClr val="bg1"/>
                </a:solidFill>
              </a:rPr>
              <a:t>, </a:t>
            </a:r>
            <a:r>
              <a:rPr lang="en-US" sz="1600" b="1" err="1">
                <a:solidFill>
                  <a:schemeClr val="bg1"/>
                </a:solidFill>
              </a:rPr>
              <a:t>Ausbildung</a:t>
            </a:r>
            <a:r>
              <a:rPr lang="en-US" sz="1600" b="1">
                <a:solidFill>
                  <a:schemeClr val="bg1"/>
                </a:solidFill>
              </a:rPr>
              <a:t> und </a:t>
            </a:r>
            <a:r>
              <a:rPr lang="en-US" sz="1600" b="1" err="1">
                <a:solidFill>
                  <a:schemeClr val="bg1"/>
                </a:solidFill>
              </a:rPr>
              <a:t>Personalentwicklung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75" name="Rectangle 73">
            <a:extLst>
              <a:ext uri="{FF2B5EF4-FFF2-40B4-BE49-F238E27FC236}">
                <a16:creationId xmlns:a16="http://schemas.microsoft.com/office/drawing/2014/main" id="{A0B615E8-E9DA-DC2B-A25D-EA8713B0AA0A}"/>
              </a:ext>
            </a:extLst>
          </p:cNvPr>
          <p:cNvSpPr/>
          <p:nvPr/>
        </p:nvSpPr>
        <p:spPr>
          <a:xfrm>
            <a:off x="543911" y="2691270"/>
            <a:ext cx="10095060" cy="566057"/>
          </a:xfrm>
          <a:custGeom>
            <a:avLst/>
            <a:gdLst>
              <a:gd name="csX0" fmla="*/ 0 w 9712960"/>
              <a:gd name="csY0" fmla="*/ 0 h 566057"/>
              <a:gd name="csX1" fmla="*/ 9712960 w 9712960"/>
              <a:gd name="csY1" fmla="*/ 0 h 566057"/>
              <a:gd name="csX2" fmla="*/ 9712960 w 9712960"/>
              <a:gd name="csY2" fmla="*/ 566057 h 566057"/>
              <a:gd name="csX3" fmla="*/ 0 w 9712960"/>
              <a:gd name="csY3" fmla="*/ 566057 h 566057"/>
              <a:gd name="csX4" fmla="*/ 0 w 9712960"/>
              <a:gd name="csY4" fmla="*/ 0 h 566057"/>
              <a:gd name="csX0" fmla="*/ 0 w 9887132"/>
              <a:gd name="csY0" fmla="*/ 0 h 566057"/>
              <a:gd name="csX1" fmla="*/ 9712960 w 9887132"/>
              <a:gd name="csY1" fmla="*/ 0 h 566057"/>
              <a:gd name="csX2" fmla="*/ 9887132 w 9887132"/>
              <a:gd name="csY2" fmla="*/ 566057 h 566057"/>
              <a:gd name="csX3" fmla="*/ 0 w 9887132"/>
              <a:gd name="csY3" fmla="*/ 566057 h 566057"/>
              <a:gd name="csX4" fmla="*/ 0 w 9887132"/>
              <a:gd name="csY4" fmla="*/ 0 h 566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887132" h="566057">
                <a:moveTo>
                  <a:pt x="0" y="0"/>
                </a:moveTo>
                <a:lnTo>
                  <a:pt x="9712960" y="0"/>
                </a:lnTo>
                <a:lnTo>
                  <a:pt x="9887132" y="566057"/>
                </a:lnTo>
                <a:lnTo>
                  <a:pt x="0" y="566057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 w="9231" cap="flat">
            <a:noFill/>
            <a:prstDash val="solid"/>
            <a:miter/>
          </a:ln>
          <a:effectLst>
            <a:outerShdw blurRad="50800" dist="50800" dir="7680000" algn="ctr" rotWithShape="0">
              <a:srgbClr val="C00000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Technologie-</a:t>
            </a:r>
            <a:r>
              <a:rPr lang="en-US" sz="1600" b="1" err="1">
                <a:solidFill>
                  <a:schemeClr val="bg1"/>
                </a:solidFill>
              </a:rPr>
              <a:t>Entwicklung</a:t>
            </a:r>
            <a:endParaRPr lang="en-US" sz="1600" b="1">
              <a:solidFill>
                <a:schemeClr val="bg1"/>
              </a:solidFill>
            </a:endParaRPr>
          </a:p>
          <a:p>
            <a:pPr algn="ctr"/>
            <a:r>
              <a:rPr lang="en-US" sz="1600" b="1" err="1">
                <a:solidFill>
                  <a:schemeClr val="bg1"/>
                </a:solidFill>
              </a:rPr>
              <a:t>Elektromobilität</a:t>
            </a:r>
            <a:r>
              <a:rPr lang="en-US" sz="1600" b="1">
                <a:solidFill>
                  <a:schemeClr val="bg1"/>
                </a:solidFill>
              </a:rPr>
              <a:t>, Software, </a:t>
            </a:r>
            <a:r>
              <a:rPr lang="en-US" sz="1600" b="1" err="1">
                <a:solidFill>
                  <a:schemeClr val="bg1"/>
                </a:solidFill>
              </a:rPr>
              <a:t>Batterietechnik</a:t>
            </a:r>
            <a:r>
              <a:rPr lang="en-US" sz="1600" b="1">
                <a:solidFill>
                  <a:schemeClr val="bg1"/>
                </a:solidFill>
              </a:rPr>
              <a:t> und Innovation</a:t>
            </a:r>
          </a:p>
        </p:txBody>
      </p:sp>
      <p:sp>
        <p:nvSpPr>
          <p:cNvPr id="76" name="Rectangle 73">
            <a:extLst>
              <a:ext uri="{FF2B5EF4-FFF2-40B4-BE49-F238E27FC236}">
                <a16:creationId xmlns:a16="http://schemas.microsoft.com/office/drawing/2014/main" id="{786B5E1E-1E66-97A8-1EDF-67F69B830499}"/>
              </a:ext>
            </a:extLst>
          </p:cNvPr>
          <p:cNvSpPr/>
          <p:nvPr/>
        </p:nvSpPr>
        <p:spPr>
          <a:xfrm>
            <a:off x="538461" y="3298483"/>
            <a:ext cx="10289195" cy="566057"/>
          </a:xfrm>
          <a:custGeom>
            <a:avLst/>
            <a:gdLst>
              <a:gd name="csX0" fmla="*/ 0 w 9712960"/>
              <a:gd name="csY0" fmla="*/ 0 h 566057"/>
              <a:gd name="csX1" fmla="*/ 9712960 w 9712960"/>
              <a:gd name="csY1" fmla="*/ 0 h 566057"/>
              <a:gd name="csX2" fmla="*/ 9712960 w 9712960"/>
              <a:gd name="csY2" fmla="*/ 566057 h 566057"/>
              <a:gd name="csX3" fmla="*/ 0 w 9712960"/>
              <a:gd name="csY3" fmla="*/ 566057 h 566057"/>
              <a:gd name="csX4" fmla="*/ 0 w 9712960"/>
              <a:gd name="csY4" fmla="*/ 0 h 566057"/>
              <a:gd name="csX0" fmla="*/ 0 w 9887132"/>
              <a:gd name="csY0" fmla="*/ 0 h 566057"/>
              <a:gd name="csX1" fmla="*/ 9712960 w 9887132"/>
              <a:gd name="csY1" fmla="*/ 0 h 566057"/>
              <a:gd name="csX2" fmla="*/ 9887132 w 9887132"/>
              <a:gd name="csY2" fmla="*/ 566057 h 566057"/>
              <a:gd name="csX3" fmla="*/ 0 w 9887132"/>
              <a:gd name="csY3" fmla="*/ 566057 h 566057"/>
              <a:gd name="csX4" fmla="*/ 0 w 9887132"/>
              <a:gd name="csY4" fmla="*/ 0 h 566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887132" h="566057">
                <a:moveTo>
                  <a:pt x="0" y="0"/>
                </a:moveTo>
                <a:lnTo>
                  <a:pt x="9712960" y="0"/>
                </a:lnTo>
                <a:lnTo>
                  <a:pt x="9887132" y="566057"/>
                </a:lnTo>
                <a:lnTo>
                  <a:pt x="0" y="566057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 w="9231" cap="flat">
            <a:noFill/>
            <a:prstDash val="solid"/>
            <a:miter/>
          </a:ln>
          <a:effectLst>
            <a:outerShdw blurRad="50800" dist="50800" dir="7680000" algn="ctr" rotWithShape="0">
              <a:srgbClr val="C00000">
                <a:alpha val="43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bg1"/>
                </a:solidFill>
              </a:rPr>
              <a:t>Beschaffung</a:t>
            </a:r>
            <a:endParaRPr lang="en-US" sz="1600" b="1">
              <a:solidFill>
                <a:schemeClr val="bg1"/>
              </a:solidFill>
            </a:endParaRPr>
          </a:p>
          <a:p>
            <a:pPr algn="ctr"/>
            <a:r>
              <a:rPr lang="en-US" sz="1600" b="1" err="1">
                <a:solidFill>
                  <a:schemeClr val="bg1"/>
                </a:solidFill>
              </a:rPr>
              <a:t>Batterien</a:t>
            </a:r>
            <a:r>
              <a:rPr lang="en-US" sz="1600" b="1">
                <a:solidFill>
                  <a:schemeClr val="bg1"/>
                </a:solidFill>
              </a:rPr>
              <a:t>, </a:t>
            </a:r>
            <a:r>
              <a:rPr lang="en-US" sz="1600" b="1" err="1">
                <a:solidFill>
                  <a:schemeClr val="bg1"/>
                </a:solidFill>
              </a:rPr>
              <a:t>Halbleiter</a:t>
            </a:r>
            <a:r>
              <a:rPr lang="en-US" sz="1600" b="1">
                <a:solidFill>
                  <a:schemeClr val="bg1"/>
                </a:solidFill>
              </a:rPr>
              <a:t>, </a:t>
            </a:r>
            <a:r>
              <a:rPr lang="en-US" sz="1600" b="1" err="1">
                <a:solidFill>
                  <a:schemeClr val="bg1"/>
                </a:solidFill>
              </a:rPr>
              <a:t>Rohstoffe</a:t>
            </a:r>
            <a:r>
              <a:rPr lang="en-US" sz="1600" b="1">
                <a:solidFill>
                  <a:schemeClr val="bg1"/>
                </a:solidFill>
              </a:rPr>
              <a:t> und </a:t>
            </a:r>
            <a:r>
              <a:rPr lang="en-US" sz="1600" b="1" err="1">
                <a:solidFill>
                  <a:schemeClr val="bg1"/>
                </a:solidFill>
              </a:rPr>
              <a:t>Zulieferteile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CF574F2-C496-71FA-3D8B-244562AF3874}"/>
              </a:ext>
            </a:extLst>
          </p:cNvPr>
          <p:cNvSpPr/>
          <p:nvPr/>
        </p:nvSpPr>
        <p:spPr>
          <a:xfrm>
            <a:off x="587821" y="3952304"/>
            <a:ext cx="1908633" cy="2343939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50800" dir="540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Interne Logistik</a:t>
            </a:r>
          </a:p>
          <a:p>
            <a:pPr algn="ctr"/>
            <a:endParaRPr lang="en-US" sz="1600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Materiallager-ung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Lieferanten</a:t>
            </a:r>
            <a:r>
              <a:rPr lang="en-US" sz="1600">
                <a:solidFill>
                  <a:srgbClr val="000000"/>
                </a:solidFill>
              </a:rPr>
              <a:t>-management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Bauteil</a:t>
            </a:r>
            <a:r>
              <a:rPr lang="en-US" sz="1600">
                <a:solidFill>
                  <a:srgbClr val="000000"/>
                </a:solidFill>
              </a:rPr>
              <a:t>/</a:t>
            </a:r>
            <a:r>
              <a:rPr lang="en-US" sz="1600" err="1">
                <a:solidFill>
                  <a:srgbClr val="000000"/>
                </a:solidFill>
              </a:rPr>
              <a:t>Rohstoffversorgung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B138ED0-3408-3F3A-E0EF-2CD98539D82B}"/>
              </a:ext>
            </a:extLst>
          </p:cNvPr>
          <p:cNvSpPr/>
          <p:nvPr/>
        </p:nvSpPr>
        <p:spPr>
          <a:xfrm>
            <a:off x="2598051" y="3959053"/>
            <a:ext cx="1908633" cy="2343939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50800" dir="540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Produktion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Fahrzeug-fertigung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Lackierung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Montage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Qualitäts-kontrolle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580C7B1-1F9B-3EBF-D230-C6FC5F1A6CA5}"/>
              </a:ext>
            </a:extLst>
          </p:cNvPr>
          <p:cNvSpPr/>
          <p:nvPr/>
        </p:nvSpPr>
        <p:spPr>
          <a:xfrm>
            <a:off x="4608281" y="3972234"/>
            <a:ext cx="1908633" cy="2343939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50800" dir="540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Externe Logistik</a:t>
            </a:r>
            <a:endParaRPr lang="en-US" sz="1600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Fahrzeug</a:t>
            </a:r>
            <a:r>
              <a:rPr lang="en-US" sz="1600">
                <a:solidFill>
                  <a:srgbClr val="000000"/>
                </a:solidFill>
              </a:rPr>
              <a:t>-transport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Weltweite</a:t>
            </a:r>
            <a:br>
              <a:rPr lang="en-US" sz="1600">
                <a:solidFill>
                  <a:srgbClr val="000000"/>
                </a:solidFill>
              </a:rPr>
            </a:br>
            <a:r>
              <a:rPr lang="en-US" sz="1600">
                <a:solidFill>
                  <a:srgbClr val="000000"/>
                </a:solidFill>
              </a:rPr>
              <a:t>Auslieferung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Kunden-</a:t>
            </a:r>
            <a:r>
              <a:rPr lang="en-US" sz="1600" err="1">
                <a:solidFill>
                  <a:srgbClr val="000000"/>
                </a:solidFill>
              </a:rPr>
              <a:t>übergabe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A9C790E-0A72-D161-E25B-5799EA3EB0FF}"/>
              </a:ext>
            </a:extLst>
          </p:cNvPr>
          <p:cNvSpPr/>
          <p:nvPr/>
        </p:nvSpPr>
        <p:spPr>
          <a:xfrm>
            <a:off x="6618511" y="3978983"/>
            <a:ext cx="1908633" cy="2343939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50800" dir="540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 err="1">
                <a:solidFill>
                  <a:srgbClr val="000000"/>
                </a:solidFill>
              </a:rPr>
              <a:t>Marteting</a:t>
            </a:r>
            <a:r>
              <a:rPr lang="en-US" b="1">
                <a:solidFill>
                  <a:srgbClr val="000000"/>
                </a:solidFill>
              </a:rPr>
              <a:t> &amp; </a:t>
            </a:r>
            <a:r>
              <a:rPr lang="en-US" b="1" err="1">
                <a:solidFill>
                  <a:srgbClr val="000000"/>
                </a:solidFill>
              </a:rPr>
              <a:t>Verkauf</a:t>
            </a:r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Permium</a:t>
            </a:r>
            <a:r>
              <a:rPr lang="en-US" sz="1600">
                <a:solidFill>
                  <a:srgbClr val="000000"/>
                </a:solidFill>
              </a:rPr>
              <a:t>-Marketing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Prosche</a:t>
            </a:r>
            <a:r>
              <a:rPr lang="en-US" sz="1600">
                <a:solidFill>
                  <a:srgbClr val="000000"/>
                </a:solidFill>
              </a:rPr>
              <a:t> </a:t>
            </a:r>
            <a:r>
              <a:rPr lang="en-US" sz="1600" err="1">
                <a:solidFill>
                  <a:srgbClr val="000000"/>
                </a:solidFill>
              </a:rPr>
              <a:t>Zentren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Fahrzeug-Konfigurationen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Markenimage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9865388-00E8-6DBC-734B-7576F614F8AD}"/>
              </a:ext>
            </a:extLst>
          </p:cNvPr>
          <p:cNvSpPr/>
          <p:nvPr/>
        </p:nvSpPr>
        <p:spPr>
          <a:xfrm>
            <a:off x="8628741" y="3987494"/>
            <a:ext cx="2213433" cy="2343939"/>
          </a:xfrm>
          <a:custGeom>
            <a:avLst/>
            <a:gdLst>
              <a:gd name="csX0" fmla="*/ 0 w 1908633"/>
              <a:gd name="csY0" fmla="*/ 0 h 2343939"/>
              <a:gd name="csX1" fmla="*/ 1908633 w 1908633"/>
              <a:gd name="csY1" fmla="*/ 0 h 2343939"/>
              <a:gd name="csX2" fmla="*/ 1908633 w 1908633"/>
              <a:gd name="csY2" fmla="*/ 2343939 h 2343939"/>
              <a:gd name="csX3" fmla="*/ 0 w 1908633"/>
              <a:gd name="csY3" fmla="*/ 2343939 h 2343939"/>
              <a:gd name="csX4" fmla="*/ 0 w 1908633"/>
              <a:gd name="csY4" fmla="*/ 0 h 2343939"/>
              <a:gd name="csX0" fmla="*/ 0 w 2213433"/>
              <a:gd name="csY0" fmla="*/ 0 h 2343939"/>
              <a:gd name="csX1" fmla="*/ 2213433 w 2213433"/>
              <a:gd name="csY1" fmla="*/ 0 h 2343939"/>
              <a:gd name="csX2" fmla="*/ 1908633 w 2213433"/>
              <a:gd name="csY2" fmla="*/ 2343939 h 2343939"/>
              <a:gd name="csX3" fmla="*/ 0 w 2213433"/>
              <a:gd name="csY3" fmla="*/ 2343939 h 2343939"/>
              <a:gd name="csX4" fmla="*/ 0 w 2213433"/>
              <a:gd name="csY4" fmla="*/ 0 h 23439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3433" h="2343939">
                <a:moveTo>
                  <a:pt x="0" y="0"/>
                </a:moveTo>
                <a:lnTo>
                  <a:pt x="2213433" y="0"/>
                </a:lnTo>
                <a:lnTo>
                  <a:pt x="1908633" y="2343939"/>
                </a:lnTo>
                <a:lnTo>
                  <a:pt x="0" y="234393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50800" dir="540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Service</a:t>
            </a:r>
          </a:p>
          <a:p>
            <a:pPr algn="ctr"/>
            <a:endParaRPr lang="en-US" sz="1600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Wartung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Ersatzteile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Finanzierung</a:t>
            </a:r>
            <a:endParaRPr lang="en-US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0000"/>
                </a:solidFill>
              </a:rPr>
              <a:t>Porsche Connect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rgbClr val="000000"/>
                </a:solidFill>
              </a:rPr>
              <a:t>Digitale</a:t>
            </a:r>
            <a:r>
              <a:rPr lang="en-US" sz="1600">
                <a:solidFill>
                  <a:srgbClr val="000000"/>
                </a:solidFill>
              </a:rPr>
              <a:t> Services</a:t>
            </a:r>
          </a:p>
        </p:txBody>
      </p:sp>
    </p:spTree>
    <p:extLst>
      <p:ext uri="{BB962C8B-B14F-4D97-AF65-F5344CB8AC3E}">
        <p14:creationId xmlns:p14="http://schemas.microsoft.com/office/powerpoint/2010/main" val="413255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0BEE-6800-BB62-0E69-71275CFB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AE26C5A-E779-DCB0-9DB3-968101F8F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de-DE" b="1" noProof="1"/>
              <a:t>Unternehmenspositionierung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6408740-E5D1-8804-5E65-5EBCD5B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11" y="1457790"/>
            <a:ext cx="3532789" cy="4573586"/>
          </a:xfrm>
        </p:spPr>
        <p:txBody>
          <a:bodyPr/>
          <a:lstStyle/>
          <a:p>
            <a:r>
              <a:rPr lang="en-US" b="1"/>
              <a:t>Kostenführerschaft</a:t>
            </a:r>
          </a:p>
          <a:p>
            <a:r>
              <a:rPr lang="en-US"/>
              <a:t>Porsche verzichtet bewusst auf diese Strategie. Skaleneffekte der VW-Gruppe dienen der </a:t>
            </a:r>
            <a:r>
              <a:rPr lang="en-US" b="1"/>
              <a:t>Margenoptimierung</a:t>
            </a:r>
            <a:r>
              <a:rPr lang="en-US"/>
              <a:t>, nicht der Preissenkung. Das Credo lautet </a:t>
            </a:r>
            <a:r>
              <a:rPr lang="en-US" b="1"/>
              <a:t>„Value over Volume“</a:t>
            </a:r>
            <a:r>
              <a:rPr lang="en-US"/>
              <a:t> statt Massenmarkt-Preiskampf.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AD3F32-7C44-711C-4E23-77AA6E418AE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8773AF-2259-0B42-AEF5-3C6C7EBEB81F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A43DCD5-47DE-8C92-FDF1-71CF09C419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14</a:t>
            </a:fld>
            <a:endParaRPr lang="de-DE" noProof="1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8807AC3B-3572-07B1-C0C5-3A337A611F61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FD4E010D-CF33-A430-7C1F-9E3B735969B6}"/>
              </a:ext>
            </a:extLst>
          </p:cNvPr>
          <p:cNvSpPr txBox="1">
            <a:spLocks/>
          </p:cNvSpPr>
          <p:nvPr/>
        </p:nvSpPr>
        <p:spPr>
          <a:xfrm>
            <a:off x="6570133" y="65086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noProof="1">
                <a:solidFill>
                  <a:srgbClr val="C4B9C8"/>
                </a:solidFill>
                <a:latin typeface="Arial"/>
                <a:ea typeface="Calibri"/>
                <a:cs typeface="Arial"/>
              </a:rPr>
              <a:t>Technology Management</a:t>
            </a: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75E3CC44-9076-4B18-C827-8A5C34E58CBF}"/>
              </a:ext>
            </a:extLst>
          </p:cNvPr>
          <p:cNvSpPr txBox="1">
            <a:spLocks/>
          </p:cNvSpPr>
          <p:nvPr/>
        </p:nvSpPr>
        <p:spPr>
          <a:xfrm>
            <a:off x="4329605" y="1420590"/>
            <a:ext cx="3532789" cy="4573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Produktdifferenzierung</a:t>
            </a:r>
          </a:p>
          <a:p>
            <a:r>
              <a:rPr lang="en-US"/>
              <a:t>Die </a:t>
            </a:r>
            <a:r>
              <a:rPr lang="en-US" b="1"/>
              <a:t>Kernstrategie</a:t>
            </a:r>
            <a:r>
              <a:rPr lang="en-US"/>
              <a:t> von Porsche. Einzigartigkeit durch technologische Exzellenz, ikonisches Design und ein unverwechselbares Heritage. Ziel ist die maximale </a:t>
            </a:r>
            <a:r>
              <a:rPr lang="en-US" b="1"/>
              <a:t>Zahlungsbereitschaft</a:t>
            </a:r>
            <a:r>
              <a:rPr lang="en-US"/>
              <a:t> durch emotionalen Mehrwert.</a:t>
            </a:r>
          </a:p>
        </p:txBody>
      </p:sp>
      <p:sp>
        <p:nvSpPr>
          <p:cNvPr id="11" name="Inhaltsplatzhalter 6">
            <a:extLst>
              <a:ext uri="{FF2B5EF4-FFF2-40B4-BE49-F238E27FC236}">
                <a16:creationId xmlns:a16="http://schemas.microsoft.com/office/drawing/2014/main" id="{FBFF8DFF-3547-9578-7D9A-EC151B477D80}"/>
              </a:ext>
            </a:extLst>
          </p:cNvPr>
          <p:cNvSpPr txBox="1">
            <a:spLocks/>
          </p:cNvSpPr>
          <p:nvPr/>
        </p:nvSpPr>
        <p:spPr>
          <a:xfrm>
            <a:off x="7862394" y="1420701"/>
            <a:ext cx="3532789" cy="4573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Konzentration auf Schwerpunkte</a:t>
            </a:r>
          </a:p>
          <a:p>
            <a:r>
              <a:rPr lang="en-US"/>
              <a:t>Fokussierung auf das </a:t>
            </a:r>
            <a:r>
              <a:rPr lang="en-US" b="1"/>
              <a:t>Luxus- und Hochleistungssegment</a:t>
            </a:r>
            <a:r>
              <a:rPr lang="en-US"/>
              <a:t>. Porsche bedient keine breiten Massenmärkte, sondern konzentriert sich konsequent auf die exklusive Nische von </a:t>
            </a:r>
            <a:r>
              <a:rPr lang="en-US" b="1"/>
              <a:t>High-Net-Worth Individuals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1183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B948-30AC-4053-8100-22F9BF4A6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0371492-7E91-95D5-BF32-D70E7D11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de-DE" b="1" noProof="1"/>
              <a:t>Schlüsseltechnologien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094671-2BFD-E203-EE0F-7CA00426E8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8773AF-2259-0B42-AEF5-3C6C7EBEB81F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C63B2EA-BD4B-88E0-A35A-504AAD5DFC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6C6BFE-10C3-7B49-A3EE-08AD7A863B95}" type="slidenum">
              <a:rPr lang="de-DE" noProof="1" smtClean="0"/>
              <a:pPr/>
              <a:t>15</a:t>
            </a:fld>
            <a:endParaRPr lang="de-DE" noProof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9560E4-51D3-5480-C1ED-747754632334}"/>
              </a:ext>
            </a:extLst>
          </p:cNvPr>
          <p:cNvSpPr txBox="1"/>
          <p:nvPr/>
        </p:nvSpPr>
        <p:spPr>
          <a:xfrm>
            <a:off x="5710239" y="635635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noProof="1"/>
              <a:t>[1]</a:t>
            </a: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EA61F9AA-CB03-8F80-9F24-FCDB13EB646D}"/>
              </a:ext>
            </a:extLst>
          </p:cNvPr>
          <p:cNvSpPr txBox="1">
            <a:spLocks/>
          </p:cNvSpPr>
          <p:nvPr/>
        </p:nvSpPr>
        <p:spPr>
          <a:xfrm>
            <a:off x="6417733" y="6356239"/>
            <a:ext cx="529166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DE" noProof="1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A7AF2-33C9-2B4B-6F81-5480287047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Technology Management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CEB08-4A65-7058-9EA0-152544EDE0E6}"/>
              </a:ext>
            </a:extLst>
          </p:cNvPr>
          <p:cNvSpPr/>
          <p:nvPr/>
        </p:nvSpPr>
        <p:spPr>
          <a:xfrm>
            <a:off x="215901" y="1423915"/>
            <a:ext cx="1972733" cy="4776821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206677" dist="83281" dir="786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 err="1">
                <a:solidFill>
                  <a:srgbClr val="000000"/>
                </a:solidFill>
              </a:rPr>
              <a:t>Elektromobilität</a:t>
            </a:r>
            <a:endParaRPr lang="en-US" b="1">
              <a:solidFill>
                <a:srgbClr val="000000"/>
              </a:solidFill>
            </a:endParaRPr>
          </a:p>
          <a:p>
            <a:pPr algn="ctr"/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Hochleistungs-batterien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Schnelllade-technologie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Elektrische</a:t>
            </a:r>
            <a:r>
              <a:rPr lang="en-US">
                <a:solidFill>
                  <a:srgbClr val="000000"/>
                </a:solidFill>
              </a:rPr>
              <a:t> </a:t>
            </a:r>
            <a:br>
              <a:rPr lang="en-US">
                <a:solidFill>
                  <a:srgbClr val="000000"/>
                </a:solidFill>
              </a:rPr>
            </a:br>
            <a:r>
              <a:rPr lang="en-US" err="1">
                <a:solidFill>
                  <a:srgbClr val="000000"/>
                </a:solidFill>
              </a:rPr>
              <a:t>Plattformen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Thermo-management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rgbClr val="000000"/>
              </a:solidFill>
            </a:endParaRPr>
          </a:p>
          <a:p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2974A5-8AEC-EA53-86CC-C7DE52C97D65}"/>
              </a:ext>
            </a:extLst>
          </p:cNvPr>
          <p:cNvSpPr/>
          <p:nvPr/>
        </p:nvSpPr>
        <p:spPr>
          <a:xfrm>
            <a:off x="2662767" y="1423915"/>
            <a:ext cx="1972733" cy="4776821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206677" dist="83281" dir="786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Software &amp; </a:t>
            </a:r>
            <a:r>
              <a:rPr lang="en-US" b="1" err="1">
                <a:solidFill>
                  <a:srgbClr val="000000"/>
                </a:solidFill>
              </a:rPr>
              <a:t>Digitalisierung</a:t>
            </a:r>
            <a:endParaRPr lang="en-US" b="1">
              <a:solidFill>
                <a:srgbClr val="000000"/>
              </a:solidFill>
            </a:endParaRPr>
          </a:p>
          <a:p>
            <a:pPr algn="ctr"/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Fahrassistenz-systeme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Porsche Connect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Fahrzeug</a:t>
            </a:r>
            <a:r>
              <a:rPr lang="en-US">
                <a:solidFill>
                  <a:srgbClr val="000000"/>
                </a:solidFill>
              </a:rPr>
              <a:t>-software &amp;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Vernetzung</a:t>
            </a:r>
            <a:r>
              <a:rPr lang="en-US">
                <a:solidFill>
                  <a:srgbClr val="000000"/>
                </a:solidFill>
              </a:rPr>
              <a:t> &amp; Updates 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“over-the-air”</a:t>
            </a:r>
          </a:p>
          <a:p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17CE5-C676-3DE5-114E-F03A8362A1E5}"/>
              </a:ext>
            </a:extLst>
          </p:cNvPr>
          <p:cNvSpPr/>
          <p:nvPr/>
        </p:nvSpPr>
        <p:spPr>
          <a:xfrm>
            <a:off x="5109633" y="1423915"/>
            <a:ext cx="2080876" cy="4776821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206677" dist="83281" dir="786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 err="1">
                <a:solidFill>
                  <a:srgbClr val="000000"/>
                </a:solidFill>
              </a:rPr>
              <a:t>Verbrennungs</a:t>
            </a:r>
            <a:r>
              <a:rPr lang="en-US" b="1">
                <a:solidFill>
                  <a:srgbClr val="000000"/>
                </a:solidFill>
              </a:rPr>
              <a:t>- &amp; </a:t>
            </a:r>
            <a:r>
              <a:rPr lang="en-US" b="1" err="1">
                <a:solidFill>
                  <a:srgbClr val="000000"/>
                </a:solidFill>
              </a:rPr>
              <a:t>Hybridtechnologien</a:t>
            </a:r>
            <a:endParaRPr lang="en-US" b="1">
              <a:solidFill>
                <a:srgbClr val="000000"/>
              </a:solidFill>
            </a:endParaRPr>
          </a:p>
          <a:p>
            <a:pPr algn="ctr"/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Hochleistungs-motoren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Plugin-in-Hybrid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E-Fuels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Effizienz-steigerung</a:t>
            </a:r>
          </a:p>
          <a:p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6F89C-F1F1-2DE6-584C-7E13991559F7}"/>
              </a:ext>
            </a:extLst>
          </p:cNvPr>
          <p:cNvSpPr/>
          <p:nvPr/>
        </p:nvSpPr>
        <p:spPr>
          <a:xfrm>
            <a:off x="7556499" y="1423804"/>
            <a:ext cx="1972733" cy="4776821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206677" dist="83281" dir="786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 err="1">
                <a:solidFill>
                  <a:srgbClr val="000000"/>
                </a:solidFill>
              </a:rPr>
              <a:t>Produktions-technologien</a:t>
            </a:r>
            <a:endParaRPr lang="en-US" b="1">
              <a:solidFill>
                <a:srgbClr val="000000"/>
              </a:solidFill>
            </a:endParaRPr>
          </a:p>
          <a:p>
            <a:pPr algn="ctr"/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Hochautomat-isierung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Digitale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Fertigung</a:t>
            </a:r>
            <a:r>
              <a:rPr lang="en-US">
                <a:solidFill>
                  <a:srgbClr val="000000"/>
                </a:solidFill>
              </a:rPr>
              <a:t> &amp; Industrie 4.0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Additive </a:t>
            </a:r>
            <a:r>
              <a:rPr lang="en-US" err="1">
                <a:solidFill>
                  <a:srgbClr val="000000"/>
                </a:solidFill>
              </a:rPr>
              <a:t>Fertigung</a:t>
            </a:r>
            <a:r>
              <a:rPr lang="en-US">
                <a:solidFill>
                  <a:srgbClr val="000000"/>
                </a:solidFill>
              </a:rPr>
              <a:t> 3D-Druck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Qualitäts</a:t>
            </a:r>
            <a:r>
              <a:rPr lang="en-US">
                <a:solidFill>
                  <a:srgbClr val="000000"/>
                </a:solidFill>
              </a:rPr>
              <a:t>-management</a:t>
            </a:r>
            <a:endParaRPr lang="en-US" sz="1600" b="1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375073-9C0A-3CDA-1773-CCEB13E7D817}"/>
              </a:ext>
            </a:extLst>
          </p:cNvPr>
          <p:cNvSpPr/>
          <p:nvPr/>
        </p:nvSpPr>
        <p:spPr>
          <a:xfrm>
            <a:off x="9795165" y="1423804"/>
            <a:ext cx="2180934" cy="4776821"/>
          </a:xfrm>
          <a:prstGeom prst="rect">
            <a:avLst/>
          </a:prstGeom>
          <a:solidFill>
            <a:schemeClr val="bg1"/>
          </a:solidFill>
          <a:ln w="57150" cap="flat">
            <a:noFill/>
            <a:prstDash val="solid"/>
            <a:miter/>
          </a:ln>
          <a:effectLst>
            <a:outerShdw blurRad="206677" dist="83281" dir="7860000" algn="ctr" rotWithShape="0">
              <a:srgbClr val="C00000"/>
            </a:outerShdw>
          </a:effectLst>
        </p:spPr>
        <p:txBody>
          <a:bodyPr rtlCol="0" anchor="ctr"/>
          <a:lstStyle/>
          <a:p>
            <a:pPr algn="ctr"/>
            <a:r>
              <a:rPr lang="en-US" b="1" err="1">
                <a:solidFill>
                  <a:srgbClr val="000000"/>
                </a:solidFill>
              </a:rPr>
              <a:t>Nachhaltigkeits</a:t>
            </a:r>
            <a:r>
              <a:rPr lang="en-US" b="1">
                <a:solidFill>
                  <a:srgbClr val="000000"/>
                </a:solidFill>
              </a:rPr>
              <a:t>- &amp; </a:t>
            </a:r>
          </a:p>
          <a:p>
            <a:pPr algn="ctr"/>
            <a:r>
              <a:rPr lang="en-US" b="1">
                <a:solidFill>
                  <a:srgbClr val="000000"/>
                </a:solidFill>
              </a:rPr>
              <a:t>Energie-</a:t>
            </a:r>
            <a:r>
              <a:rPr lang="en-US" b="1" err="1">
                <a:solidFill>
                  <a:srgbClr val="000000"/>
                </a:solidFill>
              </a:rPr>
              <a:t>technologien</a:t>
            </a:r>
            <a:endParaRPr lang="en-US" b="1">
              <a:solidFill>
                <a:srgbClr val="000000"/>
              </a:solidFill>
            </a:endParaRPr>
          </a:p>
          <a:p>
            <a:pPr algn="ctr"/>
            <a:endParaRPr lang="en-US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Batterie Recycling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Enegieeffiziente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Produktion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CO2-Reduktion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</a:rPr>
              <a:t>Kreislauf-wirtschaft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31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57DBC93D-0404-C8BD-857A-72CFB8351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911" y="692151"/>
            <a:ext cx="11104178" cy="3190301"/>
          </a:xfrm>
        </p:spPr>
        <p:txBody>
          <a:bodyPr>
            <a:normAutofit/>
          </a:bodyPr>
          <a:lstStyle/>
          <a:p>
            <a:pPr algn="ctr"/>
            <a:r>
              <a:rPr lang="de-DE" sz="4400" b="1" noProof="1"/>
              <a:t>Danke für Ihre Aufmerksamkeit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3FE67B-5550-30DE-3400-547C40C6EF14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807BB0A7-CBBE-454D-9A9A-B1F1ABB9AFDB}" type="datetime1">
              <a:rPr lang="en-US" noProof="1" smtClean="0"/>
              <a:t>5/17/26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3216DAEF-9F62-846F-EBD2-6E6A1BBDD658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noProof="1"/>
              <a:t>Technology Management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1DBCED7-DFB2-60D1-F807-3E52A38BE984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r>
              <a:rPr lang="de-DE" noProof="1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F7405-3257-8A45-1747-541BACD0F004}"/>
              </a:ext>
            </a:extLst>
          </p:cNvPr>
          <p:cNvSpPr txBox="1"/>
          <p:nvPr/>
        </p:nvSpPr>
        <p:spPr>
          <a:xfrm>
            <a:off x="546657" y="5148339"/>
            <a:ext cx="1049311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b="1" noProof="1"/>
              <a:t>Quellen: </a:t>
            </a:r>
          </a:p>
          <a:p>
            <a:r>
              <a:rPr lang="de-DE" noProof="1"/>
              <a:t>[1]: </a:t>
            </a:r>
            <a:r>
              <a:rPr lang="de-DE" noProof="1">
                <a:hlinkClick r:id="rId2"/>
              </a:rPr>
              <a:t>https://newsroom.porsche.com/dam/jcr:fef9c29d-c204-4311-b143-61a68251ee58/Geschaefts-und_Nachhaltigkeitsbericht_2025_Porsche_AG.pdf</a:t>
            </a:r>
          </a:p>
          <a:p>
            <a:r>
              <a:rPr lang="de-DE" noProof="1"/>
              <a:t>[2]: </a:t>
            </a:r>
            <a:r>
              <a:rPr lang="de-DE" noProof="1">
                <a:ea typeface="+mn-lt"/>
                <a:cs typeface="+mn-lt"/>
                <a:hlinkClick r:id="rId3"/>
              </a:rPr>
              <a:t>https://investorrelations.porsche.com/de/ueber-uns/strategie</a:t>
            </a:r>
            <a:endParaRPr lang="de-DE" noProof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50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hsrm">
      <a:dk1>
        <a:srgbClr val="361E47"/>
      </a:dk1>
      <a:lt1>
        <a:srgbClr val="FFFFFF"/>
      </a:lt1>
      <a:dk2>
        <a:srgbClr val="5E3EE1"/>
      </a:dk2>
      <a:lt2>
        <a:srgbClr val="D8D1DB"/>
      </a:lt2>
      <a:accent1>
        <a:srgbClr val="E00514"/>
      </a:accent1>
      <a:accent2>
        <a:srgbClr val="A42564"/>
      </a:accent2>
      <a:accent3>
        <a:srgbClr val="5E3EE1"/>
      </a:accent3>
      <a:accent4>
        <a:srgbClr val="F6D0F1"/>
      </a:accent4>
      <a:accent5>
        <a:srgbClr val="B44D79"/>
      </a:accent5>
      <a:accent6>
        <a:srgbClr val="7E63E8"/>
      </a:accent6>
      <a:hlink>
        <a:srgbClr val="E00514"/>
      </a:hlink>
      <a:folHlink>
        <a:srgbClr val="A4246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 w="9231" cap="flat">
          <a:noFill/>
          <a:prstDash val="solid"/>
          <a:miter/>
        </a:ln>
      </a:spPr>
      <a:bodyPr rtlCol="0" anchor="ctr"/>
      <a:lstStyle>
        <a:defPPr algn="ctr">
          <a:defRPr sz="11500" b="1" dirty="0" smtClean="0">
            <a:solidFill>
              <a:schemeClr val="bg1"/>
            </a:solidFill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2006</Words>
  <Application>Microsoft Macintosh PowerPoint</Application>
  <PresentationFormat>Widescreen</PresentationFormat>
  <Paragraphs>388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</vt:lpstr>
      <vt:lpstr>Porsche AG</vt:lpstr>
      <vt:lpstr>Kurzvorstellung Porsche</vt:lpstr>
      <vt:lpstr>Mit Welchen Produkten und Dienstleistungen verdient Porsche sein Geld?</vt:lpstr>
      <vt:lpstr>Eigentümerstruktur</vt:lpstr>
      <vt:lpstr>Unternehmensführung und Organisation</vt:lpstr>
      <vt:lpstr>Werteversprechen </vt:lpstr>
      <vt:lpstr>Wettbewerbsvorteil</vt:lpstr>
      <vt:lpstr>Phasen der S-Kurve</vt:lpstr>
      <vt:lpstr>Verbrennungsmotoren (Reifephase)</vt:lpstr>
      <vt:lpstr>Elektromobilität (Wachstumsphase)</vt:lpstr>
      <vt:lpstr>Analyse der 5 Wettbewerbskräfte</vt:lpstr>
      <vt:lpstr>Analyse der 5 Wettbewerbskräfte</vt:lpstr>
      <vt:lpstr>Wertschöpfungskette</vt:lpstr>
      <vt:lpstr>Unternehmenspositionierung</vt:lpstr>
      <vt:lpstr>Schlüsseltechnologien</vt:lpstr>
      <vt:lpstr>Danke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Laurenz Nielbock</dc:creator>
  <cp:lastModifiedBy>jzffg_a17t@hsrheinmain.onmicrosoft.com</cp:lastModifiedBy>
  <cp:revision>63</cp:revision>
  <dcterms:created xsi:type="dcterms:W3CDTF">2025-07-31T10:12:17Z</dcterms:created>
  <dcterms:modified xsi:type="dcterms:W3CDTF">2026-05-17T14:18:34Z</dcterms:modified>
</cp:coreProperties>
</file>