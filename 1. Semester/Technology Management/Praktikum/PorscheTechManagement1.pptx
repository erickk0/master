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6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70" r:id="rId2"/>
    <p:sldId id="262" r:id="rId3"/>
    <p:sldId id="263" r:id="rId4"/>
    <p:sldId id="271" r:id="rId5"/>
    <p:sldId id="272" r:id="rId6"/>
    <p:sldId id="273" r:id="rId7"/>
    <p:sldId id="274" r:id="rId8"/>
    <p:sldId id="275" r:id="rId9"/>
    <p:sldId id="276" r:id="rId10"/>
    <p:sldId id="277" r:id="rId11"/>
    <p:sldId id="282" r:id="rId12"/>
    <p:sldId id="281" r:id="rId13"/>
    <p:sldId id="280" r:id="rId14"/>
    <p:sldId id="285" r:id="rId15"/>
    <p:sldId id="284" r:id="rId16"/>
    <p:sldId id="286" r:id="rId17"/>
    <p:sldId id="288" r:id="rId18"/>
    <p:sldId id="289" r:id="rId19"/>
    <p:sldId id="290" r:id="rId20"/>
    <p:sldId id="291" r:id="rId21"/>
    <p:sldId id="292" r:id="rId22"/>
    <p:sldId id="266" r:id="rId2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149"/>
    <p:restoredTop sz="97559"/>
  </p:normalViewPr>
  <p:slideViewPr>
    <p:cSldViewPr snapToGrid="0" showGuides="1">
      <p:cViewPr varScale="1">
        <p:scale>
          <a:sx n="123" d="100"/>
          <a:sy n="123" d="100"/>
        </p:scale>
        <p:origin x="216" y="28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360045" cy="36004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9D7C76B-AB7A-C948-8645-3C4F51D01A49}" type="doc">
      <dgm:prSet loTypeId="urn:microsoft.com/office/officeart/2005/8/layout/orgChart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50A0F02-5B7B-5249-9648-98193ACCEFFB}">
      <dgm:prSet phldrT="[Text]"/>
      <dgm:spPr/>
      <dgm:t>
        <a:bodyPr/>
        <a:lstStyle/>
        <a:p>
          <a:r>
            <a:rPr lang="de-DE" noProof="1"/>
            <a:t>Aufsichtsrat</a:t>
          </a:r>
        </a:p>
      </dgm:t>
    </dgm:pt>
    <dgm:pt modelId="{7D559E0C-33D9-194A-99C7-803772D6E2F8}" type="parTrans" cxnId="{BD6090EF-7CAA-8646-9A76-208514CFCC55}">
      <dgm:prSet/>
      <dgm:spPr/>
      <dgm:t>
        <a:bodyPr/>
        <a:lstStyle/>
        <a:p>
          <a:endParaRPr lang="en-US"/>
        </a:p>
      </dgm:t>
    </dgm:pt>
    <dgm:pt modelId="{B22E5BAC-5324-1F4A-933D-B08FEEC55CBE}" type="sibTrans" cxnId="{BD6090EF-7CAA-8646-9A76-208514CFCC55}">
      <dgm:prSet/>
      <dgm:spPr/>
      <dgm:t>
        <a:bodyPr/>
        <a:lstStyle/>
        <a:p>
          <a:endParaRPr lang="en-US"/>
        </a:p>
      </dgm:t>
    </dgm:pt>
    <dgm:pt modelId="{6C579508-227C-D642-9980-DC5C7DD56BDD}">
      <dgm:prSet phldrT="[Text]"/>
      <dgm:spPr/>
      <dgm:t>
        <a:bodyPr/>
        <a:lstStyle/>
        <a:p>
          <a:r>
            <a:rPr lang="de-DE" noProof="1"/>
            <a:t>Finanzen</a:t>
          </a:r>
        </a:p>
      </dgm:t>
    </dgm:pt>
    <dgm:pt modelId="{14664538-BBB4-A445-AEC6-36B9644260B8}" type="parTrans" cxnId="{2923A8FB-684C-3349-9207-9BAA1C0BAAB1}">
      <dgm:prSet/>
      <dgm:spPr/>
      <dgm:t>
        <a:bodyPr/>
        <a:lstStyle/>
        <a:p>
          <a:endParaRPr lang="en-US"/>
        </a:p>
      </dgm:t>
    </dgm:pt>
    <dgm:pt modelId="{85AE7712-81D3-B342-8599-69AEC30D2DA7}" type="sibTrans" cxnId="{2923A8FB-684C-3349-9207-9BAA1C0BAAB1}">
      <dgm:prSet/>
      <dgm:spPr/>
      <dgm:t>
        <a:bodyPr/>
        <a:lstStyle/>
        <a:p>
          <a:endParaRPr lang="en-US"/>
        </a:p>
      </dgm:t>
    </dgm:pt>
    <dgm:pt modelId="{68B96863-0D17-BC49-BE42-020D386CE8E6}">
      <dgm:prSet phldrT="[Text]"/>
      <dgm:spPr/>
      <dgm:t>
        <a:bodyPr/>
        <a:lstStyle/>
        <a:p>
          <a:r>
            <a:rPr lang="de-DE" noProof="1"/>
            <a:t>Vertrieb</a:t>
          </a:r>
        </a:p>
      </dgm:t>
    </dgm:pt>
    <dgm:pt modelId="{208CDEAD-5FA7-6541-9054-80418F481FDA}" type="parTrans" cxnId="{54D24D21-B034-294D-99A0-E6AE88A54B60}">
      <dgm:prSet/>
      <dgm:spPr/>
      <dgm:t>
        <a:bodyPr/>
        <a:lstStyle/>
        <a:p>
          <a:endParaRPr lang="en-US"/>
        </a:p>
      </dgm:t>
    </dgm:pt>
    <dgm:pt modelId="{7BA313D8-E6EA-DD43-BB9D-04D4A162527C}" type="sibTrans" cxnId="{54D24D21-B034-294D-99A0-E6AE88A54B60}">
      <dgm:prSet/>
      <dgm:spPr/>
      <dgm:t>
        <a:bodyPr/>
        <a:lstStyle/>
        <a:p>
          <a:endParaRPr lang="en-US"/>
        </a:p>
      </dgm:t>
    </dgm:pt>
    <dgm:pt modelId="{2D97E0A5-32A3-9245-85F0-9E07EB96952E}">
      <dgm:prSet phldrT="[Text]"/>
      <dgm:spPr/>
      <dgm:t>
        <a:bodyPr/>
        <a:lstStyle/>
        <a:p>
          <a:r>
            <a:rPr lang="de-DE" noProof="1"/>
            <a:t>Entwicklung</a:t>
          </a:r>
        </a:p>
      </dgm:t>
    </dgm:pt>
    <dgm:pt modelId="{623C9453-7607-C74F-A497-856DB6916B8E}" type="parTrans" cxnId="{2EEF47A4-4056-CD47-813D-B8F9C4263553}">
      <dgm:prSet/>
      <dgm:spPr/>
      <dgm:t>
        <a:bodyPr/>
        <a:lstStyle/>
        <a:p>
          <a:endParaRPr lang="en-US"/>
        </a:p>
      </dgm:t>
    </dgm:pt>
    <dgm:pt modelId="{DD84EA46-7A2A-5E4D-AD91-664558943157}" type="sibTrans" cxnId="{2EEF47A4-4056-CD47-813D-B8F9C4263553}">
      <dgm:prSet/>
      <dgm:spPr/>
      <dgm:t>
        <a:bodyPr/>
        <a:lstStyle/>
        <a:p>
          <a:endParaRPr lang="en-US"/>
        </a:p>
      </dgm:t>
    </dgm:pt>
    <dgm:pt modelId="{1474C0ED-A84D-624A-A131-A4CEC839B650}">
      <dgm:prSet phldrT="[Text]"/>
      <dgm:spPr/>
      <dgm:t>
        <a:bodyPr/>
        <a:lstStyle/>
        <a:p>
          <a:r>
            <a:rPr lang="de-DE" noProof="1"/>
            <a:t>Produktion</a:t>
          </a:r>
        </a:p>
      </dgm:t>
    </dgm:pt>
    <dgm:pt modelId="{CA67CB73-D092-B046-B1DE-D9F847ADF8D5}" type="parTrans" cxnId="{DE3DE2D2-5151-D848-9454-9D327F86CEFA}">
      <dgm:prSet/>
      <dgm:spPr/>
      <dgm:t>
        <a:bodyPr/>
        <a:lstStyle/>
        <a:p>
          <a:endParaRPr lang="en-US"/>
        </a:p>
      </dgm:t>
    </dgm:pt>
    <dgm:pt modelId="{37782474-CDF2-7C42-8E18-B88FF20314A7}" type="sibTrans" cxnId="{DE3DE2D2-5151-D848-9454-9D327F86CEFA}">
      <dgm:prSet/>
      <dgm:spPr/>
      <dgm:t>
        <a:bodyPr/>
        <a:lstStyle/>
        <a:p>
          <a:endParaRPr lang="en-US"/>
        </a:p>
      </dgm:t>
    </dgm:pt>
    <dgm:pt modelId="{0DC75115-B9DC-8148-B319-6D34AC956E87}" type="asst">
      <dgm:prSet phldrT="[Text]"/>
      <dgm:spPr/>
      <dgm:t>
        <a:bodyPr/>
        <a:lstStyle/>
        <a:p>
          <a:r>
            <a:rPr lang="de-DE" noProof="1"/>
            <a:t>CEO</a:t>
          </a:r>
        </a:p>
      </dgm:t>
    </dgm:pt>
    <dgm:pt modelId="{8950EDEB-B6F2-A544-82D5-AF628DD3F905}" type="parTrans" cxnId="{7C08D038-1B97-DF48-95F2-EBAB057DF7BA}">
      <dgm:prSet/>
      <dgm:spPr/>
      <dgm:t>
        <a:bodyPr/>
        <a:lstStyle/>
        <a:p>
          <a:endParaRPr lang="en-US"/>
        </a:p>
      </dgm:t>
    </dgm:pt>
    <dgm:pt modelId="{6EAAF54E-72C4-9B47-BF92-8AF5E621C139}" type="sibTrans" cxnId="{7C08D038-1B97-DF48-95F2-EBAB057DF7BA}">
      <dgm:prSet/>
      <dgm:spPr/>
      <dgm:t>
        <a:bodyPr/>
        <a:lstStyle/>
        <a:p>
          <a:endParaRPr lang="en-US"/>
        </a:p>
      </dgm:t>
    </dgm:pt>
    <dgm:pt modelId="{389E3CF9-ED24-6C43-8ED5-B24BC54CC4B5}" type="pres">
      <dgm:prSet presAssocID="{19D7C76B-AB7A-C948-8645-3C4F51D01A49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5DE9069C-42A2-524A-B859-A5648CF9BD79}" type="pres">
      <dgm:prSet presAssocID="{050A0F02-5B7B-5249-9648-98193ACCEFFB}" presName="hierRoot1" presStyleCnt="0">
        <dgm:presLayoutVars>
          <dgm:hierBranch val="init"/>
        </dgm:presLayoutVars>
      </dgm:prSet>
      <dgm:spPr/>
    </dgm:pt>
    <dgm:pt modelId="{E9C03270-E6CD-2B4D-ACBD-46E3494DB0E8}" type="pres">
      <dgm:prSet presAssocID="{050A0F02-5B7B-5249-9648-98193ACCEFFB}" presName="rootComposite1" presStyleCnt="0"/>
      <dgm:spPr/>
    </dgm:pt>
    <dgm:pt modelId="{5DC5C8F4-70FD-C045-A5E0-E21B4D72018A}" type="pres">
      <dgm:prSet presAssocID="{050A0F02-5B7B-5249-9648-98193ACCEFFB}" presName="rootText1" presStyleLbl="node0" presStyleIdx="0" presStyleCnt="1">
        <dgm:presLayoutVars>
          <dgm:chPref val="3"/>
        </dgm:presLayoutVars>
      </dgm:prSet>
      <dgm:spPr/>
    </dgm:pt>
    <dgm:pt modelId="{40FE4A91-611D-0848-AF1E-1346C8C01F8D}" type="pres">
      <dgm:prSet presAssocID="{050A0F02-5B7B-5249-9648-98193ACCEFFB}" presName="rootConnector1" presStyleLbl="node1" presStyleIdx="0" presStyleCnt="0"/>
      <dgm:spPr/>
    </dgm:pt>
    <dgm:pt modelId="{A52E62A9-DD05-8044-8729-D5AE630CE34D}" type="pres">
      <dgm:prSet presAssocID="{050A0F02-5B7B-5249-9648-98193ACCEFFB}" presName="hierChild2" presStyleCnt="0"/>
      <dgm:spPr/>
    </dgm:pt>
    <dgm:pt modelId="{7C89AC6C-50A5-564E-A829-7D2DFF0B8E44}" type="pres">
      <dgm:prSet presAssocID="{14664538-BBB4-A445-AEC6-36B9644260B8}" presName="Name37" presStyleLbl="parChTrans1D2" presStyleIdx="0" presStyleCnt="5"/>
      <dgm:spPr/>
    </dgm:pt>
    <dgm:pt modelId="{4C70CB35-FD29-ED41-A512-5722F2965F1E}" type="pres">
      <dgm:prSet presAssocID="{6C579508-227C-D642-9980-DC5C7DD56BDD}" presName="hierRoot2" presStyleCnt="0">
        <dgm:presLayoutVars>
          <dgm:hierBranch val="init"/>
        </dgm:presLayoutVars>
      </dgm:prSet>
      <dgm:spPr/>
    </dgm:pt>
    <dgm:pt modelId="{86773431-F422-D74C-A00D-0F82EB47FCBE}" type="pres">
      <dgm:prSet presAssocID="{6C579508-227C-D642-9980-DC5C7DD56BDD}" presName="rootComposite" presStyleCnt="0"/>
      <dgm:spPr/>
    </dgm:pt>
    <dgm:pt modelId="{7425D222-B1D0-094D-8476-503AF821CCDA}" type="pres">
      <dgm:prSet presAssocID="{6C579508-227C-D642-9980-DC5C7DD56BDD}" presName="rootText" presStyleLbl="node2" presStyleIdx="0" presStyleCnt="4">
        <dgm:presLayoutVars>
          <dgm:chPref val="3"/>
        </dgm:presLayoutVars>
      </dgm:prSet>
      <dgm:spPr/>
    </dgm:pt>
    <dgm:pt modelId="{512BF351-D031-F045-9FE7-5EA76526BEFA}" type="pres">
      <dgm:prSet presAssocID="{6C579508-227C-D642-9980-DC5C7DD56BDD}" presName="rootConnector" presStyleLbl="node2" presStyleIdx="0" presStyleCnt="4"/>
      <dgm:spPr/>
    </dgm:pt>
    <dgm:pt modelId="{F5ABB4CE-9963-DC4B-AFB3-528ACEF4203F}" type="pres">
      <dgm:prSet presAssocID="{6C579508-227C-D642-9980-DC5C7DD56BDD}" presName="hierChild4" presStyleCnt="0"/>
      <dgm:spPr/>
    </dgm:pt>
    <dgm:pt modelId="{0B07386A-8A45-3548-B0C6-954DDD3F7B3C}" type="pres">
      <dgm:prSet presAssocID="{6C579508-227C-D642-9980-DC5C7DD56BDD}" presName="hierChild5" presStyleCnt="0"/>
      <dgm:spPr/>
    </dgm:pt>
    <dgm:pt modelId="{6B3C8F76-6DD2-EA4B-82F5-EF463442DCDF}" type="pres">
      <dgm:prSet presAssocID="{208CDEAD-5FA7-6541-9054-80418F481FDA}" presName="Name37" presStyleLbl="parChTrans1D2" presStyleIdx="1" presStyleCnt="5"/>
      <dgm:spPr/>
    </dgm:pt>
    <dgm:pt modelId="{8B8B65EC-8EE9-3F49-9871-176B1C9124D4}" type="pres">
      <dgm:prSet presAssocID="{68B96863-0D17-BC49-BE42-020D386CE8E6}" presName="hierRoot2" presStyleCnt="0">
        <dgm:presLayoutVars>
          <dgm:hierBranch val="init"/>
        </dgm:presLayoutVars>
      </dgm:prSet>
      <dgm:spPr/>
    </dgm:pt>
    <dgm:pt modelId="{5562A0AA-C164-FD4F-AB80-530EA2D1CE83}" type="pres">
      <dgm:prSet presAssocID="{68B96863-0D17-BC49-BE42-020D386CE8E6}" presName="rootComposite" presStyleCnt="0"/>
      <dgm:spPr/>
    </dgm:pt>
    <dgm:pt modelId="{AF482C45-5CF8-4B4E-AD7A-7141F5A4F22E}" type="pres">
      <dgm:prSet presAssocID="{68B96863-0D17-BC49-BE42-020D386CE8E6}" presName="rootText" presStyleLbl="node2" presStyleIdx="1" presStyleCnt="4">
        <dgm:presLayoutVars>
          <dgm:chPref val="3"/>
        </dgm:presLayoutVars>
      </dgm:prSet>
      <dgm:spPr/>
    </dgm:pt>
    <dgm:pt modelId="{5C6EF4C2-3961-254A-94DA-BB4E87573A16}" type="pres">
      <dgm:prSet presAssocID="{68B96863-0D17-BC49-BE42-020D386CE8E6}" presName="rootConnector" presStyleLbl="node2" presStyleIdx="1" presStyleCnt="4"/>
      <dgm:spPr/>
    </dgm:pt>
    <dgm:pt modelId="{86F81B81-D41F-0944-AED3-2A0268D3A24A}" type="pres">
      <dgm:prSet presAssocID="{68B96863-0D17-BC49-BE42-020D386CE8E6}" presName="hierChild4" presStyleCnt="0"/>
      <dgm:spPr/>
    </dgm:pt>
    <dgm:pt modelId="{A306EAB7-BF24-DB48-9375-015BE951EB4A}" type="pres">
      <dgm:prSet presAssocID="{68B96863-0D17-BC49-BE42-020D386CE8E6}" presName="hierChild5" presStyleCnt="0"/>
      <dgm:spPr/>
    </dgm:pt>
    <dgm:pt modelId="{7C13EEEA-9ED1-C145-9053-4005B359DDC9}" type="pres">
      <dgm:prSet presAssocID="{623C9453-7607-C74F-A497-856DB6916B8E}" presName="Name37" presStyleLbl="parChTrans1D2" presStyleIdx="2" presStyleCnt="5"/>
      <dgm:spPr/>
    </dgm:pt>
    <dgm:pt modelId="{9C3CCED9-7228-814B-BFC6-9A2B2F1A273E}" type="pres">
      <dgm:prSet presAssocID="{2D97E0A5-32A3-9245-85F0-9E07EB96952E}" presName="hierRoot2" presStyleCnt="0">
        <dgm:presLayoutVars>
          <dgm:hierBranch val="init"/>
        </dgm:presLayoutVars>
      </dgm:prSet>
      <dgm:spPr/>
    </dgm:pt>
    <dgm:pt modelId="{CA59318D-3F7D-7C44-9F31-585CB082F18E}" type="pres">
      <dgm:prSet presAssocID="{2D97E0A5-32A3-9245-85F0-9E07EB96952E}" presName="rootComposite" presStyleCnt="0"/>
      <dgm:spPr/>
    </dgm:pt>
    <dgm:pt modelId="{701DF199-2E1C-DE4F-8914-6E3A92143B62}" type="pres">
      <dgm:prSet presAssocID="{2D97E0A5-32A3-9245-85F0-9E07EB96952E}" presName="rootText" presStyleLbl="node2" presStyleIdx="2" presStyleCnt="4">
        <dgm:presLayoutVars>
          <dgm:chPref val="3"/>
        </dgm:presLayoutVars>
      </dgm:prSet>
      <dgm:spPr/>
    </dgm:pt>
    <dgm:pt modelId="{A0E0D883-A34D-EE4E-838A-DC8DE4598EC8}" type="pres">
      <dgm:prSet presAssocID="{2D97E0A5-32A3-9245-85F0-9E07EB96952E}" presName="rootConnector" presStyleLbl="node2" presStyleIdx="2" presStyleCnt="4"/>
      <dgm:spPr/>
    </dgm:pt>
    <dgm:pt modelId="{6CF81946-822B-384F-BA81-E190C89C13D8}" type="pres">
      <dgm:prSet presAssocID="{2D97E0A5-32A3-9245-85F0-9E07EB96952E}" presName="hierChild4" presStyleCnt="0"/>
      <dgm:spPr/>
    </dgm:pt>
    <dgm:pt modelId="{85DFB5AD-2AF5-E549-9390-09A2C1370E20}" type="pres">
      <dgm:prSet presAssocID="{2D97E0A5-32A3-9245-85F0-9E07EB96952E}" presName="hierChild5" presStyleCnt="0"/>
      <dgm:spPr/>
    </dgm:pt>
    <dgm:pt modelId="{AF722BBD-5C43-D24E-9F5D-BAEE0E5B47D1}" type="pres">
      <dgm:prSet presAssocID="{CA67CB73-D092-B046-B1DE-D9F847ADF8D5}" presName="Name37" presStyleLbl="parChTrans1D2" presStyleIdx="3" presStyleCnt="5"/>
      <dgm:spPr/>
    </dgm:pt>
    <dgm:pt modelId="{2C1072BD-874E-5D4A-A31A-3862F57631F7}" type="pres">
      <dgm:prSet presAssocID="{1474C0ED-A84D-624A-A131-A4CEC839B650}" presName="hierRoot2" presStyleCnt="0">
        <dgm:presLayoutVars>
          <dgm:hierBranch val="init"/>
        </dgm:presLayoutVars>
      </dgm:prSet>
      <dgm:spPr/>
    </dgm:pt>
    <dgm:pt modelId="{A24B59D0-A80E-7249-BC35-75176DCF33EF}" type="pres">
      <dgm:prSet presAssocID="{1474C0ED-A84D-624A-A131-A4CEC839B650}" presName="rootComposite" presStyleCnt="0"/>
      <dgm:spPr/>
    </dgm:pt>
    <dgm:pt modelId="{7F69E246-C24B-F34D-B8D0-273996625A98}" type="pres">
      <dgm:prSet presAssocID="{1474C0ED-A84D-624A-A131-A4CEC839B650}" presName="rootText" presStyleLbl="node2" presStyleIdx="3" presStyleCnt="4">
        <dgm:presLayoutVars>
          <dgm:chPref val="3"/>
        </dgm:presLayoutVars>
      </dgm:prSet>
      <dgm:spPr/>
    </dgm:pt>
    <dgm:pt modelId="{7C2C40A8-5427-0145-BE53-9B3D326AF59C}" type="pres">
      <dgm:prSet presAssocID="{1474C0ED-A84D-624A-A131-A4CEC839B650}" presName="rootConnector" presStyleLbl="node2" presStyleIdx="3" presStyleCnt="4"/>
      <dgm:spPr/>
    </dgm:pt>
    <dgm:pt modelId="{A10C0384-CCA2-E54A-8D3C-D8957455BF94}" type="pres">
      <dgm:prSet presAssocID="{1474C0ED-A84D-624A-A131-A4CEC839B650}" presName="hierChild4" presStyleCnt="0"/>
      <dgm:spPr/>
    </dgm:pt>
    <dgm:pt modelId="{0389EBEC-D387-6343-9ADD-77B327A58B25}" type="pres">
      <dgm:prSet presAssocID="{1474C0ED-A84D-624A-A131-A4CEC839B650}" presName="hierChild5" presStyleCnt="0"/>
      <dgm:spPr/>
    </dgm:pt>
    <dgm:pt modelId="{2213209E-55B5-1547-98AC-61DFDB637D64}" type="pres">
      <dgm:prSet presAssocID="{050A0F02-5B7B-5249-9648-98193ACCEFFB}" presName="hierChild3" presStyleCnt="0"/>
      <dgm:spPr/>
    </dgm:pt>
    <dgm:pt modelId="{FE59479F-1148-1F4C-9F64-C69B57C5ED28}" type="pres">
      <dgm:prSet presAssocID="{8950EDEB-B6F2-A544-82D5-AF628DD3F905}" presName="Name111" presStyleLbl="parChTrans1D2" presStyleIdx="4" presStyleCnt="5"/>
      <dgm:spPr/>
    </dgm:pt>
    <dgm:pt modelId="{94A54E76-BCE0-404B-9130-25A64B10FFC1}" type="pres">
      <dgm:prSet presAssocID="{0DC75115-B9DC-8148-B319-6D34AC956E87}" presName="hierRoot3" presStyleCnt="0">
        <dgm:presLayoutVars>
          <dgm:hierBranch val="init"/>
        </dgm:presLayoutVars>
      </dgm:prSet>
      <dgm:spPr/>
    </dgm:pt>
    <dgm:pt modelId="{6DCEB0D8-D68C-7E4E-A623-C466D7C6D5E7}" type="pres">
      <dgm:prSet presAssocID="{0DC75115-B9DC-8148-B319-6D34AC956E87}" presName="rootComposite3" presStyleCnt="0"/>
      <dgm:spPr/>
    </dgm:pt>
    <dgm:pt modelId="{85C03146-02B4-E44F-B210-6DFC9FE11F3B}" type="pres">
      <dgm:prSet presAssocID="{0DC75115-B9DC-8148-B319-6D34AC956E87}" presName="rootText3" presStyleLbl="asst1" presStyleIdx="0" presStyleCnt="1">
        <dgm:presLayoutVars>
          <dgm:chPref val="3"/>
        </dgm:presLayoutVars>
      </dgm:prSet>
      <dgm:spPr/>
    </dgm:pt>
    <dgm:pt modelId="{59BE055C-9D12-2040-AACE-030FC5654171}" type="pres">
      <dgm:prSet presAssocID="{0DC75115-B9DC-8148-B319-6D34AC956E87}" presName="rootConnector3" presStyleLbl="asst1" presStyleIdx="0" presStyleCnt="1"/>
      <dgm:spPr/>
    </dgm:pt>
    <dgm:pt modelId="{2B620E70-3C47-1945-A0B8-5EE649DBBDEA}" type="pres">
      <dgm:prSet presAssocID="{0DC75115-B9DC-8148-B319-6D34AC956E87}" presName="hierChild6" presStyleCnt="0"/>
      <dgm:spPr/>
    </dgm:pt>
    <dgm:pt modelId="{ECFBD693-0426-7545-9653-AE83787213BE}" type="pres">
      <dgm:prSet presAssocID="{0DC75115-B9DC-8148-B319-6D34AC956E87}" presName="hierChild7" presStyleCnt="0"/>
      <dgm:spPr/>
    </dgm:pt>
  </dgm:ptLst>
  <dgm:cxnLst>
    <dgm:cxn modelId="{469D5108-8A85-9344-89F4-5E3A10906435}" type="presOf" srcId="{1474C0ED-A84D-624A-A131-A4CEC839B650}" destId="{7F69E246-C24B-F34D-B8D0-273996625A98}" srcOrd="0" destOrd="0" presId="urn:microsoft.com/office/officeart/2005/8/layout/orgChart1"/>
    <dgm:cxn modelId="{7EDA1F0C-EC69-1143-811B-1D0C1A67ED45}" type="presOf" srcId="{68B96863-0D17-BC49-BE42-020D386CE8E6}" destId="{5C6EF4C2-3961-254A-94DA-BB4E87573A16}" srcOrd="1" destOrd="0" presId="urn:microsoft.com/office/officeart/2005/8/layout/orgChart1"/>
    <dgm:cxn modelId="{41871D13-288D-F44A-8925-DAEF2C7A7D22}" type="presOf" srcId="{8950EDEB-B6F2-A544-82D5-AF628DD3F905}" destId="{FE59479F-1148-1F4C-9F64-C69B57C5ED28}" srcOrd="0" destOrd="0" presId="urn:microsoft.com/office/officeart/2005/8/layout/orgChart1"/>
    <dgm:cxn modelId="{54D24D21-B034-294D-99A0-E6AE88A54B60}" srcId="{050A0F02-5B7B-5249-9648-98193ACCEFFB}" destId="{68B96863-0D17-BC49-BE42-020D386CE8E6}" srcOrd="2" destOrd="0" parTransId="{208CDEAD-5FA7-6541-9054-80418F481FDA}" sibTransId="{7BA313D8-E6EA-DD43-BB9D-04D4A162527C}"/>
    <dgm:cxn modelId="{D295AF26-22DE-364B-8ABA-856B1E242B73}" type="presOf" srcId="{050A0F02-5B7B-5249-9648-98193ACCEFFB}" destId="{5DC5C8F4-70FD-C045-A5E0-E21B4D72018A}" srcOrd="0" destOrd="0" presId="urn:microsoft.com/office/officeart/2005/8/layout/orgChart1"/>
    <dgm:cxn modelId="{7850DA36-5914-594D-BACD-0F4CD36B8DC6}" type="presOf" srcId="{208CDEAD-5FA7-6541-9054-80418F481FDA}" destId="{6B3C8F76-6DD2-EA4B-82F5-EF463442DCDF}" srcOrd="0" destOrd="0" presId="urn:microsoft.com/office/officeart/2005/8/layout/orgChart1"/>
    <dgm:cxn modelId="{7C08D038-1B97-DF48-95F2-EBAB057DF7BA}" srcId="{050A0F02-5B7B-5249-9648-98193ACCEFFB}" destId="{0DC75115-B9DC-8148-B319-6D34AC956E87}" srcOrd="0" destOrd="0" parTransId="{8950EDEB-B6F2-A544-82D5-AF628DD3F905}" sibTransId="{6EAAF54E-72C4-9B47-BF92-8AF5E621C139}"/>
    <dgm:cxn modelId="{392E455B-8989-B247-AF6D-996589F9431E}" type="presOf" srcId="{0DC75115-B9DC-8148-B319-6D34AC956E87}" destId="{59BE055C-9D12-2040-AACE-030FC5654171}" srcOrd="1" destOrd="0" presId="urn:microsoft.com/office/officeart/2005/8/layout/orgChart1"/>
    <dgm:cxn modelId="{4A4F5C76-C303-0B49-AC48-D611607641A1}" type="presOf" srcId="{2D97E0A5-32A3-9245-85F0-9E07EB96952E}" destId="{A0E0D883-A34D-EE4E-838A-DC8DE4598EC8}" srcOrd="1" destOrd="0" presId="urn:microsoft.com/office/officeart/2005/8/layout/orgChart1"/>
    <dgm:cxn modelId="{56DCBD78-D4FC-E840-86EB-982623E75D73}" type="presOf" srcId="{19D7C76B-AB7A-C948-8645-3C4F51D01A49}" destId="{389E3CF9-ED24-6C43-8ED5-B24BC54CC4B5}" srcOrd="0" destOrd="0" presId="urn:microsoft.com/office/officeart/2005/8/layout/orgChart1"/>
    <dgm:cxn modelId="{31F02E83-3340-3F40-87CB-8D7B368BC1DF}" type="presOf" srcId="{1474C0ED-A84D-624A-A131-A4CEC839B650}" destId="{7C2C40A8-5427-0145-BE53-9B3D326AF59C}" srcOrd="1" destOrd="0" presId="urn:microsoft.com/office/officeart/2005/8/layout/orgChart1"/>
    <dgm:cxn modelId="{72976999-A1AE-1246-B552-6D4AFA0E9E22}" type="presOf" srcId="{CA67CB73-D092-B046-B1DE-D9F847ADF8D5}" destId="{AF722BBD-5C43-D24E-9F5D-BAEE0E5B47D1}" srcOrd="0" destOrd="0" presId="urn:microsoft.com/office/officeart/2005/8/layout/orgChart1"/>
    <dgm:cxn modelId="{85438A9B-4635-604E-A579-6A212EB44733}" type="presOf" srcId="{0DC75115-B9DC-8148-B319-6D34AC956E87}" destId="{85C03146-02B4-E44F-B210-6DFC9FE11F3B}" srcOrd="0" destOrd="0" presId="urn:microsoft.com/office/officeart/2005/8/layout/orgChart1"/>
    <dgm:cxn modelId="{C7F135A0-A6B9-A34A-BCA5-9160FE0E33ED}" type="presOf" srcId="{6C579508-227C-D642-9980-DC5C7DD56BDD}" destId="{7425D222-B1D0-094D-8476-503AF821CCDA}" srcOrd="0" destOrd="0" presId="urn:microsoft.com/office/officeart/2005/8/layout/orgChart1"/>
    <dgm:cxn modelId="{2EEF47A4-4056-CD47-813D-B8F9C4263553}" srcId="{050A0F02-5B7B-5249-9648-98193ACCEFFB}" destId="{2D97E0A5-32A3-9245-85F0-9E07EB96952E}" srcOrd="3" destOrd="0" parTransId="{623C9453-7607-C74F-A497-856DB6916B8E}" sibTransId="{DD84EA46-7A2A-5E4D-AD91-664558943157}"/>
    <dgm:cxn modelId="{8DC584A7-8F90-5548-B267-6AD06C62383D}" type="presOf" srcId="{623C9453-7607-C74F-A497-856DB6916B8E}" destId="{7C13EEEA-9ED1-C145-9053-4005B359DDC9}" srcOrd="0" destOrd="0" presId="urn:microsoft.com/office/officeart/2005/8/layout/orgChart1"/>
    <dgm:cxn modelId="{38E1E6CB-6D82-8449-A722-79F604BCC7D3}" type="presOf" srcId="{2D97E0A5-32A3-9245-85F0-9E07EB96952E}" destId="{701DF199-2E1C-DE4F-8914-6E3A92143B62}" srcOrd="0" destOrd="0" presId="urn:microsoft.com/office/officeart/2005/8/layout/orgChart1"/>
    <dgm:cxn modelId="{DE3DE2D2-5151-D848-9454-9D327F86CEFA}" srcId="{050A0F02-5B7B-5249-9648-98193ACCEFFB}" destId="{1474C0ED-A84D-624A-A131-A4CEC839B650}" srcOrd="4" destOrd="0" parTransId="{CA67CB73-D092-B046-B1DE-D9F847ADF8D5}" sibTransId="{37782474-CDF2-7C42-8E18-B88FF20314A7}"/>
    <dgm:cxn modelId="{A0D40FDC-8353-2D4C-9D56-28E5D121FA42}" type="presOf" srcId="{050A0F02-5B7B-5249-9648-98193ACCEFFB}" destId="{40FE4A91-611D-0848-AF1E-1346C8C01F8D}" srcOrd="1" destOrd="0" presId="urn:microsoft.com/office/officeart/2005/8/layout/orgChart1"/>
    <dgm:cxn modelId="{F58AF8E2-52E8-104C-BEE7-28EAEBD7C6A9}" type="presOf" srcId="{68B96863-0D17-BC49-BE42-020D386CE8E6}" destId="{AF482C45-5CF8-4B4E-AD7A-7141F5A4F22E}" srcOrd="0" destOrd="0" presId="urn:microsoft.com/office/officeart/2005/8/layout/orgChart1"/>
    <dgm:cxn modelId="{A83A09E3-2A9A-6C45-975C-0AD6ED612A4A}" type="presOf" srcId="{6C579508-227C-D642-9980-DC5C7DD56BDD}" destId="{512BF351-D031-F045-9FE7-5EA76526BEFA}" srcOrd="1" destOrd="0" presId="urn:microsoft.com/office/officeart/2005/8/layout/orgChart1"/>
    <dgm:cxn modelId="{693FBCED-02B4-F647-B832-AF79E40DA2F8}" type="presOf" srcId="{14664538-BBB4-A445-AEC6-36B9644260B8}" destId="{7C89AC6C-50A5-564E-A829-7D2DFF0B8E44}" srcOrd="0" destOrd="0" presId="urn:microsoft.com/office/officeart/2005/8/layout/orgChart1"/>
    <dgm:cxn modelId="{BD6090EF-7CAA-8646-9A76-208514CFCC55}" srcId="{19D7C76B-AB7A-C948-8645-3C4F51D01A49}" destId="{050A0F02-5B7B-5249-9648-98193ACCEFFB}" srcOrd="0" destOrd="0" parTransId="{7D559E0C-33D9-194A-99C7-803772D6E2F8}" sibTransId="{B22E5BAC-5324-1F4A-933D-B08FEEC55CBE}"/>
    <dgm:cxn modelId="{2923A8FB-684C-3349-9207-9BAA1C0BAAB1}" srcId="{050A0F02-5B7B-5249-9648-98193ACCEFFB}" destId="{6C579508-227C-D642-9980-DC5C7DD56BDD}" srcOrd="1" destOrd="0" parTransId="{14664538-BBB4-A445-AEC6-36B9644260B8}" sibTransId="{85AE7712-81D3-B342-8599-69AEC30D2DA7}"/>
    <dgm:cxn modelId="{C0713573-C9A6-A74C-B191-5DF16C5588B0}" type="presParOf" srcId="{389E3CF9-ED24-6C43-8ED5-B24BC54CC4B5}" destId="{5DE9069C-42A2-524A-B859-A5648CF9BD79}" srcOrd="0" destOrd="0" presId="urn:microsoft.com/office/officeart/2005/8/layout/orgChart1"/>
    <dgm:cxn modelId="{73F9DDF0-64E4-6342-87FF-8C5DA8611BD3}" type="presParOf" srcId="{5DE9069C-42A2-524A-B859-A5648CF9BD79}" destId="{E9C03270-E6CD-2B4D-ACBD-46E3494DB0E8}" srcOrd="0" destOrd="0" presId="urn:microsoft.com/office/officeart/2005/8/layout/orgChart1"/>
    <dgm:cxn modelId="{5E429CF4-5733-6743-A0C4-D447FADAC4A6}" type="presParOf" srcId="{E9C03270-E6CD-2B4D-ACBD-46E3494DB0E8}" destId="{5DC5C8F4-70FD-C045-A5E0-E21B4D72018A}" srcOrd="0" destOrd="0" presId="urn:microsoft.com/office/officeart/2005/8/layout/orgChart1"/>
    <dgm:cxn modelId="{C3A1ACAB-4362-C145-9D10-711E5B936DBF}" type="presParOf" srcId="{E9C03270-E6CD-2B4D-ACBD-46E3494DB0E8}" destId="{40FE4A91-611D-0848-AF1E-1346C8C01F8D}" srcOrd="1" destOrd="0" presId="urn:microsoft.com/office/officeart/2005/8/layout/orgChart1"/>
    <dgm:cxn modelId="{A1AF6DF9-A570-004F-B99F-10C766371CF7}" type="presParOf" srcId="{5DE9069C-42A2-524A-B859-A5648CF9BD79}" destId="{A52E62A9-DD05-8044-8729-D5AE630CE34D}" srcOrd="1" destOrd="0" presId="urn:microsoft.com/office/officeart/2005/8/layout/orgChart1"/>
    <dgm:cxn modelId="{D49CCE35-234C-EC43-8C3C-0730B8310F44}" type="presParOf" srcId="{A52E62A9-DD05-8044-8729-D5AE630CE34D}" destId="{7C89AC6C-50A5-564E-A829-7D2DFF0B8E44}" srcOrd="0" destOrd="0" presId="urn:microsoft.com/office/officeart/2005/8/layout/orgChart1"/>
    <dgm:cxn modelId="{DAE19B07-5930-964F-ABE2-2641B0EA82BF}" type="presParOf" srcId="{A52E62A9-DD05-8044-8729-D5AE630CE34D}" destId="{4C70CB35-FD29-ED41-A512-5722F2965F1E}" srcOrd="1" destOrd="0" presId="urn:microsoft.com/office/officeart/2005/8/layout/orgChart1"/>
    <dgm:cxn modelId="{83F5687A-BBE7-374F-9FAE-3B4AFAC5ACF1}" type="presParOf" srcId="{4C70CB35-FD29-ED41-A512-5722F2965F1E}" destId="{86773431-F422-D74C-A00D-0F82EB47FCBE}" srcOrd="0" destOrd="0" presId="urn:microsoft.com/office/officeart/2005/8/layout/orgChart1"/>
    <dgm:cxn modelId="{B6D62B94-DD21-3546-A91A-1B71A2DC6BCC}" type="presParOf" srcId="{86773431-F422-D74C-A00D-0F82EB47FCBE}" destId="{7425D222-B1D0-094D-8476-503AF821CCDA}" srcOrd="0" destOrd="0" presId="urn:microsoft.com/office/officeart/2005/8/layout/orgChart1"/>
    <dgm:cxn modelId="{25F88721-8B34-0B43-9BC8-1049859091E3}" type="presParOf" srcId="{86773431-F422-D74C-A00D-0F82EB47FCBE}" destId="{512BF351-D031-F045-9FE7-5EA76526BEFA}" srcOrd="1" destOrd="0" presId="urn:microsoft.com/office/officeart/2005/8/layout/orgChart1"/>
    <dgm:cxn modelId="{450E6F9A-A83B-0245-A819-2522477E4D03}" type="presParOf" srcId="{4C70CB35-FD29-ED41-A512-5722F2965F1E}" destId="{F5ABB4CE-9963-DC4B-AFB3-528ACEF4203F}" srcOrd="1" destOrd="0" presId="urn:microsoft.com/office/officeart/2005/8/layout/orgChart1"/>
    <dgm:cxn modelId="{30863B4C-8CA7-8340-932A-6904225121EC}" type="presParOf" srcId="{4C70CB35-FD29-ED41-A512-5722F2965F1E}" destId="{0B07386A-8A45-3548-B0C6-954DDD3F7B3C}" srcOrd="2" destOrd="0" presId="urn:microsoft.com/office/officeart/2005/8/layout/orgChart1"/>
    <dgm:cxn modelId="{B0C2FC1B-AF2D-874A-8F0C-4F8E435417F5}" type="presParOf" srcId="{A52E62A9-DD05-8044-8729-D5AE630CE34D}" destId="{6B3C8F76-6DD2-EA4B-82F5-EF463442DCDF}" srcOrd="2" destOrd="0" presId="urn:microsoft.com/office/officeart/2005/8/layout/orgChart1"/>
    <dgm:cxn modelId="{76971D14-F0A7-F040-A78B-1F5E6E722652}" type="presParOf" srcId="{A52E62A9-DD05-8044-8729-D5AE630CE34D}" destId="{8B8B65EC-8EE9-3F49-9871-176B1C9124D4}" srcOrd="3" destOrd="0" presId="urn:microsoft.com/office/officeart/2005/8/layout/orgChart1"/>
    <dgm:cxn modelId="{F6FFBA9F-868E-C440-A069-185AD97911DC}" type="presParOf" srcId="{8B8B65EC-8EE9-3F49-9871-176B1C9124D4}" destId="{5562A0AA-C164-FD4F-AB80-530EA2D1CE83}" srcOrd="0" destOrd="0" presId="urn:microsoft.com/office/officeart/2005/8/layout/orgChart1"/>
    <dgm:cxn modelId="{E8C97F6F-B377-DD4F-9A53-90B7BC234D7E}" type="presParOf" srcId="{5562A0AA-C164-FD4F-AB80-530EA2D1CE83}" destId="{AF482C45-5CF8-4B4E-AD7A-7141F5A4F22E}" srcOrd="0" destOrd="0" presId="urn:microsoft.com/office/officeart/2005/8/layout/orgChart1"/>
    <dgm:cxn modelId="{603330FE-BB22-CF41-B9F1-C9FEEE8E50A0}" type="presParOf" srcId="{5562A0AA-C164-FD4F-AB80-530EA2D1CE83}" destId="{5C6EF4C2-3961-254A-94DA-BB4E87573A16}" srcOrd="1" destOrd="0" presId="urn:microsoft.com/office/officeart/2005/8/layout/orgChart1"/>
    <dgm:cxn modelId="{80B0E81F-268C-1E40-AFF7-3591C98E9CDA}" type="presParOf" srcId="{8B8B65EC-8EE9-3F49-9871-176B1C9124D4}" destId="{86F81B81-D41F-0944-AED3-2A0268D3A24A}" srcOrd="1" destOrd="0" presId="urn:microsoft.com/office/officeart/2005/8/layout/orgChart1"/>
    <dgm:cxn modelId="{F9D6B70C-4A1D-F743-AE28-3C26E7715AAD}" type="presParOf" srcId="{8B8B65EC-8EE9-3F49-9871-176B1C9124D4}" destId="{A306EAB7-BF24-DB48-9375-015BE951EB4A}" srcOrd="2" destOrd="0" presId="urn:microsoft.com/office/officeart/2005/8/layout/orgChart1"/>
    <dgm:cxn modelId="{FA0E6C4F-00AC-C44F-ABC2-4755F94E09EE}" type="presParOf" srcId="{A52E62A9-DD05-8044-8729-D5AE630CE34D}" destId="{7C13EEEA-9ED1-C145-9053-4005B359DDC9}" srcOrd="4" destOrd="0" presId="urn:microsoft.com/office/officeart/2005/8/layout/orgChart1"/>
    <dgm:cxn modelId="{DEB387E3-5C2A-A543-BDD3-3721211D0D56}" type="presParOf" srcId="{A52E62A9-DD05-8044-8729-D5AE630CE34D}" destId="{9C3CCED9-7228-814B-BFC6-9A2B2F1A273E}" srcOrd="5" destOrd="0" presId="urn:microsoft.com/office/officeart/2005/8/layout/orgChart1"/>
    <dgm:cxn modelId="{EA80A0FD-52B5-6343-BAEB-9BE236A4E1BB}" type="presParOf" srcId="{9C3CCED9-7228-814B-BFC6-9A2B2F1A273E}" destId="{CA59318D-3F7D-7C44-9F31-585CB082F18E}" srcOrd="0" destOrd="0" presId="urn:microsoft.com/office/officeart/2005/8/layout/orgChart1"/>
    <dgm:cxn modelId="{7E09E5DB-E92D-584A-B2AF-8B487384FE08}" type="presParOf" srcId="{CA59318D-3F7D-7C44-9F31-585CB082F18E}" destId="{701DF199-2E1C-DE4F-8914-6E3A92143B62}" srcOrd="0" destOrd="0" presId="urn:microsoft.com/office/officeart/2005/8/layout/orgChart1"/>
    <dgm:cxn modelId="{5458C178-B726-AC40-9F12-826D99D44582}" type="presParOf" srcId="{CA59318D-3F7D-7C44-9F31-585CB082F18E}" destId="{A0E0D883-A34D-EE4E-838A-DC8DE4598EC8}" srcOrd="1" destOrd="0" presId="urn:microsoft.com/office/officeart/2005/8/layout/orgChart1"/>
    <dgm:cxn modelId="{2E298650-CC20-2945-A82C-2F1ED87D7D73}" type="presParOf" srcId="{9C3CCED9-7228-814B-BFC6-9A2B2F1A273E}" destId="{6CF81946-822B-384F-BA81-E190C89C13D8}" srcOrd="1" destOrd="0" presId="urn:microsoft.com/office/officeart/2005/8/layout/orgChart1"/>
    <dgm:cxn modelId="{0792A4BA-2AFC-8A4D-85B1-0DD4874046E3}" type="presParOf" srcId="{9C3CCED9-7228-814B-BFC6-9A2B2F1A273E}" destId="{85DFB5AD-2AF5-E549-9390-09A2C1370E20}" srcOrd="2" destOrd="0" presId="urn:microsoft.com/office/officeart/2005/8/layout/orgChart1"/>
    <dgm:cxn modelId="{FE753B20-DE63-E14A-9FD1-53523FCD9F26}" type="presParOf" srcId="{A52E62A9-DD05-8044-8729-D5AE630CE34D}" destId="{AF722BBD-5C43-D24E-9F5D-BAEE0E5B47D1}" srcOrd="6" destOrd="0" presId="urn:microsoft.com/office/officeart/2005/8/layout/orgChart1"/>
    <dgm:cxn modelId="{1A7782A6-CA6C-A24E-B7C4-8FFE214A8398}" type="presParOf" srcId="{A52E62A9-DD05-8044-8729-D5AE630CE34D}" destId="{2C1072BD-874E-5D4A-A31A-3862F57631F7}" srcOrd="7" destOrd="0" presId="urn:microsoft.com/office/officeart/2005/8/layout/orgChart1"/>
    <dgm:cxn modelId="{37767622-1E72-DF46-9CC4-BA5A55190A95}" type="presParOf" srcId="{2C1072BD-874E-5D4A-A31A-3862F57631F7}" destId="{A24B59D0-A80E-7249-BC35-75176DCF33EF}" srcOrd="0" destOrd="0" presId="urn:microsoft.com/office/officeart/2005/8/layout/orgChart1"/>
    <dgm:cxn modelId="{DEA35062-D5AD-484C-8389-262378DBFE7C}" type="presParOf" srcId="{A24B59D0-A80E-7249-BC35-75176DCF33EF}" destId="{7F69E246-C24B-F34D-B8D0-273996625A98}" srcOrd="0" destOrd="0" presId="urn:microsoft.com/office/officeart/2005/8/layout/orgChart1"/>
    <dgm:cxn modelId="{EF6AC5A4-FFA2-D940-B571-D8F6C264401B}" type="presParOf" srcId="{A24B59D0-A80E-7249-BC35-75176DCF33EF}" destId="{7C2C40A8-5427-0145-BE53-9B3D326AF59C}" srcOrd="1" destOrd="0" presId="urn:microsoft.com/office/officeart/2005/8/layout/orgChart1"/>
    <dgm:cxn modelId="{E9375AC1-3970-2146-BD62-3CBB8436809E}" type="presParOf" srcId="{2C1072BD-874E-5D4A-A31A-3862F57631F7}" destId="{A10C0384-CCA2-E54A-8D3C-D8957455BF94}" srcOrd="1" destOrd="0" presId="urn:microsoft.com/office/officeart/2005/8/layout/orgChart1"/>
    <dgm:cxn modelId="{574379FA-155E-D54B-AB06-857FF4753622}" type="presParOf" srcId="{2C1072BD-874E-5D4A-A31A-3862F57631F7}" destId="{0389EBEC-D387-6343-9ADD-77B327A58B25}" srcOrd="2" destOrd="0" presId="urn:microsoft.com/office/officeart/2005/8/layout/orgChart1"/>
    <dgm:cxn modelId="{D0847632-8B23-4544-9660-FC42A855C923}" type="presParOf" srcId="{5DE9069C-42A2-524A-B859-A5648CF9BD79}" destId="{2213209E-55B5-1547-98AC-61DFDB637D64}" srcOrd="2" destOrd="0" presId="urn:microsoft.com/office/officeart/2005/8/layout/orgChart1"/>
    <dgm:cxn modelId="{019E6322-447D-8E4F-BC86-EC1A46A6DA52}" type="presParOf" srcId="{2213209E-55B5-1547-98AC-61DFDB637D64}" destId="{FE59479F-1148-1F4C-9F64-C69B57C5ED28}" srcOrd="0" destOrd="0" presId="urn:microsoft.com/office/officeart/2005/8/layout/orgChart1"/>
    <dgm:cxn modelId="{14DADBDD-16FC-7246-9EE4-F17DD48754D8}" type="presParOf" srcId="{2213209E-55B5-1547-98AC-61DFDB637D64}" destId="{94A54E76-BCE0-404B-9130-25A64B10FFC1}" srcOrd="1" destOrd="0" presId="urn:microsoft.com/office/officeart/2005/8/layout/orgChart1"/>
    <dgm:cxn modelId="{19009774-F930-D347-B440-AFC549F29052}" type="presParOf" srcId="{94A54E76-BCE0-404B-9130-25A64B10FFC1}" destId="{6DCEB0D8-D68C-7E4E-A623-C466D7C6D5E7}" srcOrd="0" destOrd="0" presId="urn:microsoft.com/office/officeart/2005/8/layout/orgChart1"/>
    <dgm:cxn modelId="{CA8A844B-A15C-1D40-95E1-B7C0318E6BCB}" type="presParOf" srcId="{6DCEB0D8-D68C-7E4E-A623-C466D7C6D5E7}" destId="{85C03146-02B4-E44F-B210-6DFC9FE11F3B}" srcOrd="0" destOrd="0" presId="urn:microsoft.com/office/officeart/2005/8/layout/orgChart1"/>
    <dgm:cxn modelId="{3312848D-ACBE-7E48-9B87-4A27E523B98E}" type="presParOf" srcId="{6DCEB0D8-D68C-7E4E-A623-C466D7C6D5E7}" destId="{59BE055C-9D12-2040-AACE-030FC5654171}" srcOrd="1" destOrd="0" presId="urn:microsoft.com/office/officeart/2005/8/layout/orgChart1"/>
    <dgm:cxn modelId="{225A5AFD-75AD-EB46-86DE-20FAB6B744B9}" type="presParOf" srcId="{94A54E76-BCE0-404B-9130-25A64B10FFC1}" destId="{2B620E70-3C47-1945-A0B8-5EE649DBBDEA}" srcOrd="1" destOrd="0" presId="urn:microsoft.com/office/officeart/2005/8/layout/orgChart1"/>
    <dgm:cxn modelId="{ADE27745-31D4-584F-B766-74E27FC6EF19}" type="presParOf" srcId="{94A54E76-BCE0-404B-9130-25A64B10FFC1}" destId="{ECFBD693-0426-7545-9653-AE83787213BE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DB664EC-BE5B-44F6-88B2-023C1E5A9EBF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4EA03E4D-E957-4EC2-889D-1B613E64EEF3}">
      <dgm:prSet/>
      <dgm:spPr/>
      <dgm:t>
        <a:bodyPr/>
        <a:lstStyle/>
        <a:p>
          <a:r>
            <a:rPr lang="de-DE" b="1" i="0"/>
            <a:t>Leistungsstand:</a:t>
          </a:r>
          <a:r>
            <a:rPr lang="de-DE" b="0" i="0"/>
            <a:t> Technologie nahezu ausentwickelt. Um ein paar PS oder Effizienzprozente aus einem Motor herauszuholen, exponentiell steigende R&amp;D Kosten</a:t>
          </a:r>
          <a:endParaRPr lang="en-US"/>
        </a:p>
      </dgm:t>
    </dgm:pt>
    <dgm:pt modelId="{A8DE22F9-283A-4F28-A258-0802E89A5993}" type="parTrans" cxnId="{DA506258-2C31-495C-A8A2-C47B1559F9DC}">
      <dgm:prSet/>
      <dgm:spPr/>
      <dgm:t>
        <a:bodyPr/>
        <a:lstStyle/>
        <a:p>
          <a:endParaRPr lang="en-US"/>
        </a:p>
      </dgm:t>
    </dgm:pt>
    <dgm:pt modelId="{6F7BB4FC-7509-43FD-900A-7145926349F5}" type="sibTrans" cxnId="{DA506258-2C31-495C-A8A2-C47B1559F9DC}">
      <dgm:prSet/>
      <dgm:spPr/>
      <dgm:t>
        <a:bodyPr/>
        <a:lstStyle/>
        <a:p>
          <a:endParaRPr lang="en-US"/>
        </a:p>
      </dgm:t>
    </dgm:pt>
    <dgm:pt modelId="{26116D3A-6C34-4789-ADDB-247FC3150BDF}">
      <dgm:prSet/>
      <dgm:spPr/>
      <dgm:t>
        <a:bodyPr/>
        <a:lstStyle/>
        <a:p>
          <a:r>
            <a:rPr lang="de-DE" b="1" i="0"/>
            <a:t>Strategie:</a:t>
          </a:r>
          <a:r>
            <a:rPr lang="de-DE" b="0" i="0"/>
            <a:t> Modelle wie 911 und den Panamera, gibt es weiterhin als Verbrenner um maximale Margen abzuschöpfen.</a:t>
          </a:r>
          <a:br>
            <a:rPr lang="de-DE" b="0" i="0"/>
          </a:br>
          <a:r>
            <a:rPr lang="de-DE" b="0" i="0"/>
            <a:t>Design wird ikonisiert, limitierte Sondereditionen treiben den Preis nach oben.</a:t>
          </a:r>
          <a:endParaRPr lang="en-US"/>
        </a:p>
      </dgm:t>
    </dgm:pt>
    <dgm:pt modelId="{8EBBDEB5-735E-4A83-B91F-BB4263E8B6C4}" type="parTrans" cxnId="{9B28995D-7966-400E-BF17-7205E662F4F3}">
      <dgm:prSet/>
      <dgm:spPr/>
      <dgm:t>
        <a:bodyPr/>
        <a:lstStyle/>
        <a:p>
          <a:endParaRPr lang="en-US"/>
        </a:p>
      </dgm:t>
    </dgm:pt>
    <dgm:pt modelId="{EC2019B0-8A19-4616-A074-78C94FDBB2A6}" type="sibTrans" cxnId="{9B28995D-7966-400E-BF17-7205E662F4F3}">
      <dgm:prSet/>
      <dgm:spPr/>
      <dgm:t>
        <a:bodyPr/>
        <a:lstStyle/>
        <a:p>
          <a:endParaRPr lang="en-US"/>
        </a:p>
      </dgm:t>
    </dgm:pt>
    <dgm:pt modelId="{D8212B1C-6285-458F-8CDA-B2BE26D34387}">
      <dgm:prSet/>
      <dgm:spPr/>
      <dgm:t>
        <a:bodyPr/>
        <a:lstStyle/>
        <a:p>
          <a:r>
            <a:rPr lang="de-DE" b="1" i="0"/>
            <a:t>Lebensverlängerung: </a:t>
          </a:r>
          <a:r>
            <a:rPr lang="de-DE" b="0" i="0"/>
            <a:t>Mit Investitionen in E-Fuels versucht Porsche, diese S-Kurve für Liebhabermodelle künstlich in die Länge zu ziehen.</a:t>
          </a:r>
          <a:endParaRPr lang="en-US"/>
        </a:p>
      </dgm:t>
    </dgm:pt>
    <dgm:pt modelId="{B4BC23DA-D77C-49F8-8E75-4A02E49EAEF7}" type="parTrans" cxnId="{851D0C4F-A8DA-4568-BE03-07527269A318}">
      <dgm:prSet/>
      <dgm:spPr/>
      <dgm:t>
        <a:bodyPr/>
        <a:lstStyle/>
        <a:p>
          <a:endParaRPr lang="en-US"/>
        </a:p>
      </dgm:t>
    </dgm:pt>
    <dgm:pt modelId="{FE3757D5-2C94-44C8-A6AE-901A215DEBEF}" type="sibTrans" cxnId="{851D0C4F-A8DA-4568-BE03-07527269A318}">
      <dgm:prSet/>
      <dgm:spPr/>
      <dgm:t>
        <a:bodyPr/>
        <a:lstStyle/>
        <a:p>
          <a:endParaRPr lang="en-US"/>
        </a:p>
      </dgm:t>
    </dgm:pt>
    <dgm:pt modelId="{C0A05818-B9C0-EA40-835D-8F1A684AD4BF}" type="pres">
      <dgm:prSet presAssocID="{CDB664EC-BE5B-44F6-88B2-023C1E5A9EBF}" presName="vert0" presStyleCnt="0">
        <dgm:presLayoutVars>
          <dgm:dir/>
          <dgm:animOne val="branch"/>
          <dgm:animLvl val="lvl"/>
        </dgm:presLayoutVars>
      </dgm:prSet>
      <dgm:spPr/>
    </dgm:pt>
    <dgm:pt modelId="{249BFD30-79A3-6444-952A-AD871C36D35B}" type="pres">
      <dgm:prSet presAssocID="{4EA03E4D-E957-4EC2-889D-1B613E64EEF3}" presName="thickLine" presStyleLbl="alignNode1" presStyleIdx="0" presStyleCnt="3"/>
      <dgm:spPr/>
    </dgm:pt>
    <dgm:pt modelId="{D6FC1619-0830-E84D-8333-F0510F43EA10}" type="pres">
      <dgm:prSet presAssocID="{4EA03E4D-E957-4EC2-889D-1B613E64EEF3}" presName="horz1" presStyleCnt="0"/>
      <dgm:spPr/>
    </dgm:pt>
    <dgm:pt modelId="{A5B74931-2106-5C4D-8D62-ACF2598E7576}" type="pres">
      <dgm:prSet presAssocID="{4EA03E4D-E957-4EC2-889D-1B613E64EEF3}" presName="tx1" presStyleLbl="revTx" presStyleIdx="0" presStyleCnt="3"/>
      <dgm:spPr/>
    </dgm:pt>
    <dgm:pt modelId="{6DBEFCAA-BBCC-7E4A-8439-2007C5D11977}" type="pres">
      <dgm:prSet presAssocID="{4EA03E4D-E957-4EC2-889D-1B613E64EEF3}" presName="vert1" presStyleCnt="0"/>
      <dgm:spPr/>
    </dgm:pt>
    <dgm:pt modelId="{C9B2F94B-21DD-1348-BF53-A2E9BF75C817}" type="pres">
      <dgm:prSet presAssocID="{26116D3A-6C34-4789-ADDB-247FC3150BDF}" presName="thickLine" presStyleLbl="alignNode1" presStyleIdx="1" presStyleCnt="3"/>
      <dgm:spPr/>
    </dgm:pt>
    <dgm:pt modelId="{2D5EBB3E-BC28-B646-B697-4DAE833A4C8A}" type="pres">
      <dgm:prSet presAssocID="{26116D3A-6C34-4789-ADDB-247FC3150BDF}" presName="horz1" presStyleCnt="0"/>
      <dgm:spPr/>
    </dgm:pt>
    <dgm:pt modelId="{8A26E104-0E34-8C4B-92B0-E0483AC4B8B6}" type="pres">
      <dgm:prSet presAssocID="{26116D3A-6C34-4789-ADDB-247FC3150BDF}" presName="tx1" presStyleLbl="revTx" presStyleIdx="1" presStyleCnt="3"/>
      <dgm:spPr/>
    </dgm:pt>
    <dgm:pt modelId="{4F3836D6-6A92-DB49-B438-80BEB85358D5}" type="pres">
      <dgm:prSet presAssocID="{26116D3A-6C34-4789-ADDB-247FC3150BDF}" presName="vert1" presStyleCnt="0"/>
      <dgm:spPr/>
    </dgm:pt>
    <dgm:pt modelId="{2F9ABD1D-3774-7D41-BAFD-6FB457BC87B3}" type="pres">
      <dgm:prSet presAssocID="{D8212B1C-6285-458F-8CDA-B2BE26D34387}" presName="thickLine" presStyleLbl="alignNode1" presStyleIdx="2" presStyleCnt="3"/>
      <dgm:spPr/>
    </dgm:pt>
    <dgm:pt modelId="{3C6111C0-49BC-894C-9048-35CE612112E9}" type="pres">
      <dgm:prSet presAssocID="{D8212B1C-6285-458F-8CDA-B2BE26D34387}" presName="horz1" presStyleCnt="0"/>
      <dgm:spPr/>
    </dgm:pt>
    <dgm:pt modelId="{4FD07614-D1E7-AA43-9F7E-B97456E52F87}" type="pres">
      <dgm:prSet presAssocID="{D8212B1C-6285-458F-8CDA-B2BE26D34387}" presName="tx1" presStyleLbl="revTx" presStyleIdx="2" presStyleCnt="3"/>
      <dgm:spPr/>
    </dgm:pt>
    <dgm:pt modelId="{1E7FADF0-08FB-A04A-ADC1-F97C75BBFB80}" type="pres">
      <dgm:prSet presAssocID="{D8212B1C-6285-458F-8CDA-B2BE26D34387}" presName="vert1" presStyleCnt="0"/>
      <dgm:spPr/>
    </dgm:pt>
  </dgm:ptLst>
  <dgm:cxnLst>
    <dgm:cxn modelId="{B86FEA1B-0620-B94E-966E-675684A98DCB}" type="presOf" srcId="{CDB664EC-BE5B-44F6-88B2-023C1E5A9EBF}" destId="{C0A05818-B9C0-EA40-835D-8F1A684AD4BF}" srcOrd="0" destOrd="0" presId="urn:microsoft.com/office/officeart/2008/layout/LinedList"/>
    <dgm:cxn modelId="{851D0C4F-A8DA-4568-BE03-07527269A318}" srcId="{CDB664EC-BE5B-44F6-88B2-023C1E5A9EBF}" destId="{D8212B1C-6285-458F-8CDA-B2BE26D34387}" srcOrd="2" destOrd="0" parTransId="{B4BC23DA-D77C-49F8-8E75-4A02E49EAEF7}" sibTransId="{FE3757D5-2C94-44C8-A6AE-901A215DEBEF}"/>
    <dgm:cxn modelId="{DA506258-2C31-495C-A8A2-C47B1559F9DC}" srcId="{CDB664EC-BE5B-44F6-88B2-023C1E5A9EBF}" destId="{4EA03E4D-E957-4EC2-889D-1B613E64EEF3}" srcOrd="0" destOrd="0" parTransId="{A8DE22F9-283A-4F28-A258-0802E89A5993}" sibTransId="{6F7BB4FC-7509-43FD-900A-7145926349F5}"/>
    <dgm:cxn modelId="{9B28995D-7966-400E-BF17-7205E662F4F3}" srcId="{CDB664EC-BE5B-44F6-88B2-023C1E5A9EBF}" destId="{26116D3A-6C34-4789-ADDB-247FC3150BDF}" srcOrd="1" destOrd="0" parTransId="{8EBBDEB5-735E-4A83-B91F-BB4263E8B6C4}" sibTransId="{EC2019B0-8A19-4616-A074-78C94FDBB2A6}"/>
    <dgm:cxn modelId="{5C5E956B-D90E-B84B-AE9C-834E17413A04}" type="presOf" srcId="{4EA03E4D-E957-4EC2-889D-1B613E64EEF3}" destId="{A5B74931-2106-5C4D-8D62-ACF2598E7576}" srcOrd="0" destOrd="0" presId="urn:microsoft.com/office/officeart/2008/layout/LinedList"/>
    <dgm:cxn modelId="{FFCF7271-7B62-054D-A05B-F51F5B439A6D}" type="presOf" srcId="{26116D3A-6C34-4789-ADDB-247FC3150BDF}" destId="{8A26E104-0E34-8C4B-92B0-E0483AC4B8B6}" srcOrd="0" destOrd="0" presId="urn:microsoft.com/office/officeart/2008/layout/LinedList"/>
    <dgm:cxn modelId="{E1911EF2-B5D5-2045-8237-298AB4856232}" type="presOf" srcId="{D8212B1C-6285-458F-8CDA-B2BE26D34387}" destId="{4FD07614-D1E7-AA43-9F7E-B97456E52F87}" srcOrd="0" destOrd="0" presId="urn:microsoft.com/office/officeart/2008/layout/LinedList"/>
    <dgm:cxn modelId="{F3CAD081-BF09-EA4C-A5FB-E348B097DF73}" type="presParOf" srcId="{C0A05818-B9C0-EA40-835D-8F1A684AD4BF}" destId="{249BFD30-79A3-6444-952A-AD871C36D35B}" srcOrd="0" destOrd="0" presId="urn:microsoft.com/office/officeart/2008/layout/LinedList"/>
    <dgm:cxn modelId="{E4FF9E2A-4964-3B47-9715-4F248B6907F7}" type="presParOf" srcId="{C0A05818-B9C0-EA40-835D-8F1A684AD4BF}" destId="{D6FC1619-0830-E84D-8333-F0510F43EA10}" srcOrd="1" destOrd="0" presId="urn:microsoft.com/office/officeart/2008/layout/LinedList"/>
    <dgm:cxn modelId="{3AC09540-EF7D-AD49-9BCE-BA2276572B2D}" type="presParOf" srcId="{D6FC1619-0830-E84D-8333-F0510F43EA10}" destId="{A5B74931-2106-5C4D-8D62-ACF2598E7576}" srcOrd="0" destOrd="0" presId="urn:microsoft.com/office/officeart/2008/layout/LinedList"/>
    <dgm:cxn modelId="{9CD53F54-8C35-E940-9C13-6033E80806A2}" type="presParOf" srcId="{D6FC1619-0830-E84D-8333-F0510F43EA10}" destId="{6DBEFCAA-BBCC-7E4A-8439-2007C5D11977}" srcOrd="1" destOrd="0" presId="urn:microsoft.com/office/officeart/2008/layout/LinedList"/>
    <dgm:cxn modelId="{187BEF0C-E7E5-5C40-B4AC-188FF11741CE}" type="presParOf" srcId="{C0A05818-B9C0-EA40-835D-8F1A684AD4BF}" destId="{C9B2F94B-21DD-1348-BF53-A2E9BF75C817}" srcOrd="2" destOrd="0" presId="urn:microsoft.com/office/officeart/2008/layout/LinedList"/>
    <dgm:cxn modelId="{1869D1C3-0B72-8940-BD5E-912FAEDFFA1B}" type="presParOf" srcId="{C0A05818-B9C0-EA40-835D-8F1A684AD4BF}" destId="{2D5EBB3E-BC28-B646-B697-4DAE833A4C8A}" srcOrd="3" destOrd="0" presId="urn:microsoft.com/office/officeart/2008/layout/LinedList"/>
    <dgm:cxn modelId="{54975D90-F26E-4E45-BA82-4E45629AD65A}" type="presParOf" srcId="{2D5EBB3E-BC28-B646-B697-4DAE833A4C8A}" destId="{8A26E104-0E34-8C4B-92B0-E0483AC4B8B6}" srcOrd="0" destOrd="0" presId="urn:microsoft.com/office/officeart/2008/layout/LinedList"/>
    <dgm:cxn modelId="{2A000B0B-977A-714B-8295-AEF5840159FA}" type="presParOf" srcId="{2D5EBB3E-BC28-B646-B697-4DAE833A4C8A}" destId="{4F3836D6-6A92-DB49-B438-80BEB85358D5}" srcOrd="1" destOrd="0" presId="urn:microsoft.com/office/officeart/2008/layout/LinedList"/>
    <dgm:cxn modelId="{457FCA94-0593-9A47-A101-217D9ADF1C55}" type="presParOf" srcId="{C0A05818-B9C0-EA40-835D-8F1A684AD4BF}" destId="{2F9ABD1D-3774-7D41-BAFD-6FB457BC87B3}" srcOrd="4" destOrd="0" presId="urn:microsoft.com/office/officeart/2008/layout/LinedList"/>
    <dgm:cxn modelId="{210030B4-920B-0D4C-B7F8-D5B3D227E844}" type="presParOf" srcId="{C0A05818-B9C0-EA40-835D-8F1A684AD4BF}" destId="{3C6111C0-49BC-894C-9048-35CE612112E9}" srcOrd="5" destOrd="0" presId="urn:microsoft.com/office/officeart/2008/layout/LinedList"/>
    <dgm:cxn modelId="{FE76CB78-CBE4-1D41-94E8-D2ED77DE9579}" type="presParOf" srcId="{3C6111C0-49BC-894C-9048-35CE612112E9}" destId="{4FD07614-D1E7-AA43-9F7E-B97456E52F87}" srcOrd="0" destOrd="0" presId="urn:microsoft.com/office/officeart/2008/layout/LinedList"/>
    <dgm:cxn modelId="{A6D43718-BE14-364E-8FB1-B07A3B380F5F}" type="presParOf" srcId="{3C6111C0-49BC-894C-9048-35CE612112E9}" destId="{1E7FADF0-08FB-A04A-ADC1-F97C75BBFB80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CDB664EC-BE5B-44F6-88B2-023C1E5A9EBF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4EA03E4D-E957-4EC2-889D-1B613E64EEF3}">
      <dgm:prSet custT="1"/>
      <dgm:spPr/>
      <dgm:t>
        <a:bodyPr/>
        <a:lstStyle/>
        <a:p>
          <a:r>
            <a:rPr lang="de-DE" sz="2500" b="1" i="0"/>
            <a:t>Leistungsstand: </a:t>
          </a:r>
          <a:r>
            <a:rPr lang="de-DE" sz="2500" b="0" i="0"/>
            <a:t>Massive schnelle technologische Sprünge. Jede neue Batteriegeneration bringt mehr Reichweite und schnellere Ladezeiten.</a:t>
          </a:r>
          <a:endParaRPr lang="en-US" sz="2500"/>
        </a:p>
      </dgm:t>
    </dgm:pt>
    <dgm:pt modelId="{A8DE22F9-283A-4F28-A258-0802E89A5993}" type="parTrans" cxnId="{DA506258-2C31-495C-A8A2-C47B1559F9DC}">
      <dgm:prSet/>
      <dgm:spPr/>
      <dgm:t>
        <a:bodyPr/>
        <a:lstStyle/>
        <a:p>
          <a:endParaRPr lang="en-US"/>
        </a:p>
      </dgm:t>
    </dgm:pt>
    <dgm:pt modelId="{6F7BB4FC-7509-43FD-900A-7145926349F5}" type="sibTrans" cxnId="{DA506258-2C31-495C-A8A2-C47B1559F9DC}">
      <dgm:prSet/>
      <dgm:spPr/>
      <dgm:t>
        <a:bodyPr/>
        <a:lstStyle/>
        <a:p>
          <a:endParaRPr lang="en-US"/>
        </a:p>
      </dgm:t>
    </dgm:pt>
    <dgm:pt modelId="{26116D3A-6C34-4789-ADDB-247FC3150BDF}">
      <dgm:prSet custT="1"/>
      <dgm:spPr/>
      <dgm:t>
        <a:bodyPr/>
        <a:lstStyle/>
        <a:p>
          <a:r>
            <a:rPr lang="de-DE" sz="2500" b="1" i="0"/>
            <a:t>Strategie: </a:t>
          </a:r>
          <a:r>
            <a:rPr lang="de-DE" sz="2500" b="0" i="0"/>
            <a:t>Der Taycan war Porsches „PoC“ am Anfang dieser Kurve. Mit dem Macan EV skaliert Posche diese Technologie  nun in die Breite.</a:t>
          </a:r>
          <a:endParaRPr lang="en-US" sz="2500"/>
        </a:p>
      </dgm:t>
    </dgm:pt>
    <dgm:pt modelId="{8EBBDEB5-735E-4A83-B91F-BB4263E8B6C4}" type="parTrans" cxnId="{9B28995D-7966-400E-BF17-7205E662F4F3}">
      <dgm:prSet/>
      <dgm:spPr/>
      <dgm:t>
        <a:bodyPr/>
        <a:lstStyle/>
        <a:p>
          <a:endParaRPr lang="en-US"/>
        </a:p>
      </dgm:t>
    </dgm:pt>
    <dgm:pt modelId="{EC2019B0-8A19-4616-A074-78C94FDBB2A6}" type="sibTrans" cxnId="{9B28995D-7966-400E-BF17-7205E662F4F3}">
      <dgm:prSet/>
      <dgm:spPr/>
      <dgm:t>
        <a:bodyPr/>
        <a:lstStyle/>
        <a:p>
          <a:endParaRPr lang="en-US"/>
        </a:p>
      </dgm:t>
    </dgm:pt>
    <dgm:pt modelId="{D8212B1C-6285-458F-8CDA-B2BE26D34387}">
      <dgm:prSet custT="1"/>
      <dgm:spPr/>
      <dgm:t>
        <a:bodyPr/>
        <a:lstStyle/>
        <a:p>
          <a:r>
            <a:rPr lang="de-DE" sz="2500" b="1" noProof="1"/>
            <a:t>Herausforderung</a:t>
          </a:r>
          <a:r>
            <a:rPr lang="de-DE" sz="2500" b="1" i="0" dirty="0"/>
            <a:t>: </a:t>
          </a:r>
          <a:r>
            <a:rPr lang="de-DE" sz="2500" b="0" i="0" dirty="0"/>
            <a:t>Der Sprung auf diese Kurve ist „gefährlich“. Die neue Technologie hat anfangs schlechte Margen und erfordert den kompletten Umbau der Produktion.</a:t>
          </a:r>
          <a:endParaRPr lang="en-US" sz="2500" dirty="0"/>
        </a:p>
      </dgm:t>
    </dgm:pt>
    <dgm:pt modelId="{FE3757D5-2C94-44C8-A6AE-901A215DEBEF}" type="sibTrans" cxnId="{851D0C4F-A8DA-4568-BE03-07527269A318}">
      <dgm:prSet/>
      <dgm:spPr/>
      <dgm:t>
        <a:bodyPr/>
        <a:lstStyle/>
        <a:p>
          <a:endParaRPr lang="en-US"/>
        </a:p>
      </dgm:t>
    </dgm:pt>
    <dgm:pt modelId="{B4BC23DA-D77C-49F8-8E75-4A02E49EAEF7}" type="parTrans" cxnId="{851D0C4F-A8DA-4568-BE03-07527269A318}">
      <dgm:prSet/>
      <dgm:spPr/>
      <dgm:t>
        <a:bodyPr/>
        <a:lstStyle/>
        <a:p>
          <a:endParaRPr lang="en-US"/>
        </a:p>
      </dgm:t>
    </dgm:pt>
    <dgm:pt modelId="{C0A05818-B9C0-EA40-835D-8F1A684AD4BF}" type="pres">
      <dgm:prSet presAssocID="{CDB664EC-BE5B-44F6-88B2-023C1E5A9EBF}" presName="vert0" presStyleCnt="0">
        <dgm:presLayoutVars>
          <dgm:dir/>
          <dgm:animOne val="branch"/>
          <dgm:animLvl val="lvl"/>
        </dgm:presLayoutVars>
      </dgm:prSet>
      <dgm:spPr/>
    </dgm:pt>
    <dgm:pt modelId="{249BFD30-79A3-6444-952A-AD871C36D35B}" type="pres">
      <dgm:prSet presAssocID="{4EA03E4D-E957-4EC2-889D-1B613E64EEF3}" presName="thickLine" presStyleLbl="alignNode1" presStyleIdx="0" presStyleCnt="3"/>
      <dgm:spPr/>
    </dgm:pt>
    <dgm:pt modelId="{D6FC1619-0830-E84D-8333-F0510F43EA10}" type="pres">
      <dgm:prSet presAssocID="{4EA03E4D-E957-4EC2-889D-1B613E64EEF3}" presName="horz1" presStyleCnt="0"/>
      <dgm:spPr/>
    </dgm:pt>
    <dgm:pt modelId="{A5B74931-2106-5C4D-8D62-ACF2598E7576}" type="pres">
      <dgm:prSet presAssocID="{4EA03E4D-E957-4EC2-889D-1B613E64EEF3}" presName="tx1" presStyleLbl="revTx" presStyleIdx="0" presStyleCnt="3"/>
      <dgm:spPr/>
    </dgm:pt>
    <dgm:pt modelId="{6DBEFCAA-BBCC-7E4A-8439-2007C5D11977}" type="pres">
      <dgm:prSet presAssocID="{4EA03E4D-E957-4EC2-889D-1B613E64EEF3}" presName="vert1" presStyleCnt="0"/>
      <dgm:spPr/>
    </dgm:pt>
    <dgm:pt modelId="{C9B2F94B-21DD-1348-BF53-A2E9BF75C817}" type="pres">
      <dgm:prSet presAssocID="{26116D3A-6C34-4789-ADDB-247FC3150BDF}" presName="thickLine" presStyleLbl="alignNode1" presStyleIdx="1" presStyleCnt="3"/>
      <dgm:spPr/>
    </dgm:pt>
    <dgm:pt modelId="{2D5EBB3E-BC28-B646-B697-4DAE833A4C8A}" type="pres">
      <dgm:prSet presAssocID="{26116D3A-6C34-4789-ADDB-247FC3150BDF}" presName="horz1" presStyleCnt="0"/>
      <dgm:spPr/>
    </dgm:pt>
    <dgm:pt modelId="{8A26E104-0E34-8C4B-92B0-E0483AC4B8B6}" type="pres">
      <dgm:prSet presAssocID="{26116D3A-6C34-4789-ADDB-247FC3150BDF}" presName="tx1" presStyleLbl="revTx" presStyleIdx="1" presStyleCnt="3"/>
      <dgm:spPr/>
    </dgm:pt>
    <dgm:pt modelId="{4F3836D6-6A92-DB49-B438-80BEB85358D5}" type="pres">
      <dgm:prSet presAssocID="{26116D3A-6C34-4789-ADDB-247FC3150BDF}" presName="vert1" presStyleCnt="0"/>
      <dgm:spPr/>
    </dgm:pt>
    <dgm:pt modelId="{2F9ABD1D-3774-7D41-BAFD-6FB457BC87B3}" type="pres">
      <dgm:prSet presAssocID="{D8212B1C-6285-458F-8CDA-B2BE26D34387}" presName="thickLine" presStyleLbl="alignNode1" presStyleIdx="2" presStyleCnt="3"/>
      <dgm:spPr/>
    </dgm:pt>
    <dgm:pt modelId="{3C6111C0-49BC-894C-9048-35CE612112E9}" type="pres">
      <dgm:prSet presAssocID="{D8212B1C-6285-458F-8CDA-B2BE26D34387}" presName="horz1" presStyleCnt="0"/>
      <dgm:spPr/>
    </dgm:pt>
    <dgm:pt modelId="{4FD07614-D1E7-AA43-9F7E-B97456E52F87}" type="pres">
      <dgm:prSet presAssocID="{D8212B1C-6285-458F-8CDA-B2BE26D34387}" presName="tx1" presStyleLbl="revTx" presStyleIdx="2" presStyleCnt="3"/>
      <dgm:spPr/>
    </dgm:pt>
    <dgm:pt modelId="{1E7FADF0-08FB-A04A-ADC1-F97C75BBFB80}" type="pres">
      <dgm:prSet presAssocID="{D8212B1C-6285-458F-8CDA-B2BE26D34387}" presName="vert1" presStyleCnt="0"/>
      <dgm:spPr/>
    </dgm:pt>
  </dgm:ptLst>
  <dgm:cxnLst>
    <dgm:cxn modelId="{B86FEA1B-0620-B94E-966E-675684A98DCB}" type="presOf" srcId="{CDB664EC-BE5B-44F6-88B2-023C1E5A9EBF}" destId="{C0A05818-B9C0-EA40-835D-8F1A684AD4BF}" srcOrd="0" destOrd="0" presId="urn:microsoft.com/office/officeart/2008/layout/LinedList"/>
    <dgm:cxn modelId="{851D0C4F-A8DA-4568-BE03-07527269A318}" srcId="{CDB664EC-BE5B-44F6-88B2-023C1E5A9EBF}" destId="{D8212B1C-6285-458F-8CDA-B2BE26D34387}" srcOrd="2" destOrd="0" parTransId="{B4BC23DA-D77C-49F8-8E75-4A02E49EAEF7}" sibTransId="{FE3757D5-2C94-44C8-A6AE-901A215DEBEF}"/>
    <dgm:cxn modelId="{DA506258-2C31-495C-A8A2-C47B1559F9DC}" srcId="{CDB664EC-BE5B-44F6-88B2-023C1E5A9EBF}" destId="{4EA03E4D-E957-4EC2-889D-1B613E64EEF3}" srcOrd="0" destOrd="0" parTransId="{A8DE22F9-283A-4F28-A258-0802E89A5993}" sibTransId="{6F7BB4FC-7509-43FD-900A-7145926349F5}"/>
    <dgm:cxn modelId="{9B28995D-7966-400E-BF17-7205E662F4F3}" srcId="{CDB664EC-BE5B-44F6-88B2-023C1E5A9EBF}" destId="{26116D3A-6C34-4789-ADDB-247FC3150BDF}" srcOrd="1" destOrd="0" parTransId="{8EBBDEB5-735E-4A83-B91F-BB4263E8B6C4}" sibTransId="{EC2019B0-8A19-4616-A074-78C94FDBB2A6}"/>
    <dgm:cxn modelId="{5C5E956B-D90E-B84B-AE9C-834E17413A04}" type="presOf" srcId="{4EA03E4D-E957-4EC2-889D-1B613E64EEF3}" destId="{A5B74931-2106-5C4D-8D62-ACF2598E7576}" srcOrd="0" destOrd="0" presId="urn:microsoft.com/office/officeart/2008/layout/LinedList"/>
    <dgm:cxn modelId="{FFCF7271-7B62-054D-A05B-F51F5B439A6D}" type="presOf" srcId="{26116D3A-6C34-4789-ADDB-247FC3150BDF}" destId="{8A26E104-0E34-8C4B-92B0-E0483AC4B8B6}" srcOrd="0" destOrd="0" presId="urn:microsoft.com/office/officeart/2008/layout/LinedList"/>
    <dgm:cxn modelId="{E1911EF2-B5D5-2045-8237-298AB4856232}" type="presOf" srcId="{D8212B1C-6285-458F-8CDA-B2BE26D34387}" destId="{4FD07614-D1E7-AA43-9F7E-B97456E52F87}" srcOrd="0" destOrd="0" presId="urn:microsoft.com/office/officeart/2008/layout/LinedList"/>
    <dgm:cxn modelId="{F3CAD081-BF09-EA4C-A5FB-E348B097DF73}" type="presParOf" srcId="{C0A05818-B9C0-EA40-835D-8F1A684AD4BF}" destId="{249BFD30-79A3-6444-952A-AD871C36D35B}" srcOrd="0" destOrd="0" presId="urn:microsoft.com/office/officeart/2008/layout/LinedList"/>
    <dgm:cxn modelId="{E4FF9E2A-4964-3B47-9715-4F248B6907F7}" type="presParOf" srcId="{C0A05818-B9C0-EA40-835D-8F1A684AD4BF}" destId="{D6FC1619-0830-E84D-8333-F0510F43EA10}" srcOrd="1" destOrd="0" presId="urn:microsoft.com/office/officeart/2008/layout/LinedList"/>
    <dgm:cxn modelId="{3AC09540-EF7D-AD49-9BCE-BA2276572B2D}" type="presParOf" srcId="{D6FC1619-0830-E84D-8333-F0510F43EA10}" destId="{A5B74931-2106-5C4D-8D62-ACF2598E7576}" srcOrd="0" destOrd="0" presId="urn:microsoft.com/office/officeart/2008/layout/LinedList"/>
    <dgm:cxn modelId="{9CD53F54-8C35-E940-9C13-6033E80806A2}" type="presParOf" srcId="{D6FC1619-0830-E84D-8333-F0510F43EA10}" destId="{6DBEFCAA-BBCC-7E4A-8439-2007C5D11977}" srcOrd="1" destOrd="0" presId="urn:microsoft.com/office/officeart/2008/layout/LinedList"/>
    <dgm:cxn modelId="{187BEF0C-E7E5-5C40-B4AC-188FF11741CE}" type="presParOf" srcId="{C0A05818-B9C0-EA40-835D-8F1A684AD4BF}" destId="{C9B2F94B-21DD-1348-BF53-A2E9BF75C817}" srcOrd="2" destOrd="0" presId="urn:microsoft.com/office/officeart/2008/layout/LinedList"/>
    <dgm:cxn modelId="{1869D1C3-0B72-8940-BD5E-912FAEDFFA1B}" type="presParOf" srcId="{C0A05818-B9C0-EA40-835D-8F1A684AD4BF}" destId="{2D5EBB3E-BC28-B646-B697-4DAE833A4C8A}" srcOrd="3" destOrd="0" presId="urn:microsoft.com/office/officeart/2008/layout/LinedList"/>
    <dgm:cxn modelId="{54975D90-F26E-4E45-BA82-4E45629AD65A}" type="presParOf" srcId="{2D5EBB3E-BC28-B646-B697-4DAE833A4C8A}" destId="{8A26E104-0E34-8C4B-92B0-E0483AC4B8B6}" srcOrd="0" destOrd="0" presId="urn:microsoft.com/office/officeart/2008/layout/LinedList"/>
    <dgm:cxn modelId="{2A000B0B-977A-714B-8295-AEF5840159FA}" type="presParOf" srcId="{2D5EBB3E-BC28-B646-B697-4DAE833A4C8A}" destId="{4F3836D6-6A92-DB49-B438-80BEB85358D5}" srcOrd="1" destOrd="0" presId="urn:microsoft.com/office/officeart/2008/layout/LinedList"/>
    <dgm:cxn modelId="{457FCA94-0593-9A47-A101-217D9ADF1C55}" type="presParOf" srcId="{C0A05818-B9C0-EA40-835D-8F1A684AD4BF}" destId="{2F9ABD1D-3774-7D41-BAFD-6FB457BC87B3}" srcOrd="4" destOrd="0" presId="urn:microsoft.com/office/officeart/2008/layout/LinedList"/>
    <dgm:cxn modelId="{210030B4-920B-0D4C-B7F8-D5B3D227E844}" type="presParOf" srcId="{C0A05818-B9C0-EA40-835D-8F1A684AD4BF}" destId="{3C6111C0-49BC-894C-9048-35CE612112E9}" srcOrd="5" destOrd="0" presId="urn:microsoft.com/office/officeart/2008/layout/LinedList"/>
    <dgm:cxn modelId="{FE76CB78-CBE4-1D41-94E8-D2ED77DE9579}" type="presParOf" srcId="{3C6111C0-49BC-894C-9048-35CE612112E9}" destId="{4FD07614-D1E7-AA43-9F7E-B97456E52F87}" srcOrd="0" destOrd="0" presId="urn:microsoft.com/office/officeart/2008/layout/LinedList"/>
    <dgm:cxn modelId="{A6D43718-BE14-364E-8FB1-B07A3B380F5F}" type="presParOf" srcId="{3C6111C0-49BC-894C-9048-35CE612112E9}" destId="{1E7FADF0-08FB-A04A-ADC1-F97C75BBFB80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9B48725-8164-48E2-83AE-6A0F034E462B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56D2CC8-C45D-4E18-B90B-54073C21F11D}">
      <dgm:prSet custT="1"/>
      <dgm:spPr/>
      <dgm:t>
        <a:bodyPr/>
        <a:lstStyle/>
        <a:p>
          <a:r>
            <a:rPr lang="en-US" sz="1400"/>
            <a:t>Materielle Ressourcen</a:t>
          </a:r>
        </a:p>
      </dgm:t>
    </dgm:pt>
    <dgm:pt modelId="{2A3E0714-CC4C-462A-A188-122DF104917B}" type="parTrans" cxnId="{2ECDD3CA-8260-4828-A315-7A38C1478EE6}">
      <dgm:prSet/>
      <dgm:spPr/>
      <dgm:t>
        <a:bodyPr/>
        <a:lstStyle/>
        <a:p>
          <a:endParaRPr lang="en-US"/>
        </a:p>
      </dgm:t>
    </dgm:pt>
    <dgm:pt modelId="{89C48FA8-710C-437F-BFF9-10423656F7C3}" type="sibTrans" cxnId="{2ECDD3CA-8260-4828-A315-7A38C1478EE6}">
      <dgm:prSet/>
      <dgm:spPr/>
      <dgm:t>
        <a:bodyPr/>
        <a:lstStyle/>
        <a:p>
          <a:endParaRPr lang="en-US"/>
        </a:p>
      </dgm:t>
    </dgm:pt>
    <dgm:pt modelId="{F7A837DC-A90A-4895-B089-0530387F1145}">
      <dgm:prSet custT="1"/>
      <dgm:spPr/>
      <dgm:t>
        <a:bodyPr/>
        <a:lstStyle/>
        <a:p>
          <a:r>
            <a:rPr lang="en-US" sz="1400" err="1"/>
            <a:t>Produktionswerke</a:t>
          </a:r>
          <a:r>
            <a:rPr lang="en-US" sz="1400"/>
            <a:t> in Stuttgart-</a:t>
          </a:r>
          <a:r>
            <a:rPr lang="en-US" sz="1400" err="1"/>
            <a:t>Zuffenhausen</a:t>
          </a:r>
          <a:r>
            <a:rPr lang="en-US" sz="1400"/>
            <a:t> und Leipzig</a:t>
          </a:r>
        </a:p>
      </dgm:t>
    </dgm:pt>
    <dgm:pt modelId="{593376E8-5632-4408-86EF-F01E4DF2FC34}" type="parTrans" cxnId="{84739461-851F-4412-9426-435F9D759BD2}">
      <dgm:prSet/>
      <dgm:spPr/>
      <dgm:t>
        <a:bodyPr/>
        <a:lstStyle/>
        <a:p>
          <a:endParaRPr lang="en-US"/>
        </a:p>
      </dgm:t>
    </dgm:pt>
    <dgm:pt modelId="{0547D193-59CF-49B0-98AA-9778832CD715}" type="sibTrans" cxnId="{84739461-851F-4412-9426-435F9D759BD2}">
      <dgm:prSet/>
      <dgm:spPr/>
      <dgm:t>
        <a:bodyPr/>
        <a:lstStyle/>
        <a:p>
          <a:endParaRPr lang="en-US"/>
        </a:p>
      </dgm:t>
    </dgm:pt>
    <dgm:pt modelId="{CF5817D4-B475-4B8F-B545-E6AC64CAC59A}">
      <dgm:prSet custT="1"/>
      <dgm:spPr/>
      <dgm:t>
        <a:bodyPr/>
        <a:lstStyle/>
        <a:p>
          <a:r>
            <a:rPr lang="en-US" sz="1400"/>
            <a:t>Entwicklungs- und Testzentren</a:t>
          </a:r>
        </a:p>
      </dgm:t>
    </dgm:pt>
    <dgm:pt modelId="{09183B06-64E7-48A4-8411-0D24C1C994C3}" type="parTrans" cxnId="{F9FAD186-B08E-449D-8F20-E3DF6AAD4043}">
      <dgm:prSet/>
      <dgm:spPr/>
      <dgm:t>
        <a:bodyPr/>
        <a:lstStyle/>
        <a:p>
          <a:endParaRPr lang="en-US"/>
        </a:p>
      </dgm:t>
    </dgm:pt>
    <dgm:pt modelId="{2A54B241-8EB8-47EC-BC09-224820E2B334}" type="sibTrans" cxnId="{F9FAD186-B08E-449D-8F20-E3DF6AAD4043}">
      <dgm:prSet/>
      <dgm:spPr/>
      <dgm:t>
        <a:bodyPr/>
        <a:lstStyle/>
        <a:p>
          <a:endParaRPr lang="en-US"/>
        </a:p>
      </dgm:t>
    </dgm:pt>
    <dgm:pt modelId="{C0926A22-8A20-40A5-81A0-6279D8309788}">
      <dgm:prSet custT="1"/>
      <dgm:spPr/>
      <dgm:t>
        <a:bodyPr/>
        <a:lstStyle/>
        <a:p>
          <a:r>
            <a:rPr lang="en-US" sz="1400" err="1"/>
            <a:t>Finanzielle</a:t>
          </a:r>
          <a:r>
            <a:rPr lang="en-US" sz="1400"/>
            <a:t> </a:t>
          </a:r>
          <a:r>
            <a:rPr lang="en-US" sz="1400" err="1"/>
            <a:t>Ressourcen</a:t>
          </a:r>
          <a:endParaRPr lang="en-US" sz="1400"/>
        </a:p>
      </dgm:t>
    </dgm:pt>
    <dgm:pt modelId="{787C1FD8-414D-47E7-82A0-F6CB08C369EF}" type="parTrans" cxnId="{FE4B79AE-7B68-4CD2-B0F0-A58DF5BAD333}">
      <dgm:prSet/>
      <dgm:spPr/>
      <dgm:t>
        <a:bodyPr/>
        <a:lstStyle/>
        <a:p>
          <a:endParaRPr lang="en-US"/>
        </a:p>
      </dgm:t>
    </dgm:pt>
    <dgm:pt modelId="{E648B23B-9B7F-4EFC-BBEF-A7EE3BEA4ED6}" type="sibTrans" cxnId="{FE4B79AE-7B68-4CD2-B0F0-A58DF5BAD333}">
      <dgm:prSet/>
      <dgm:spPr/>
      <dgm:t>
        <a:bodyPr/>
        <a:lstStyle/>
        <a:p>
          <a:endParaRPr lang="en-US"/>
        </a:p>
      </dgm:t>
    </dgm:pt>
    <dgm:pt modelId="{35C6F398-0D92-4653-B159-2E7233D6D896}">
      <dgm:prSet custT="1"/>
      <dgm:spPr/>
      <dgm:t>
        <a:bodyPr/>
        <a:lstStyle/>
        <a:p>
          <a:r>
            <a:rPr lang="en-US" sz="1400" err="1"/>
            <a:t>Globales</a:t>
          </a:r>
          <a:r>
            <a:rPr lang="en-US" sz="1400"/>
            <a:t> </a:t>
          </a:r>
          <a:r>
            <a:rPr lang="en-US" sz="1400" err="1"/>
            <a:t>Händlernetz</a:t>
          </a:r>
          <a:endParaRPr lang="en-US" sz="1400"/>
        </a:p>
      </dgm:t>
    </dgm:pt>
    <dgm:pt modelId="{E3299DB4-FA9D-40A0-AEB3-4832D5D34023}" type="parTrans" cxnId="{59E65CE1-18A0-40BF-B3D0-75182CC6F2FA}">
      <dgm:prSet/>
      <dgm:spPr/>
      <dgm:t>
        <a:bodyPr/>
        <a:lstStyle/>
        <a:p>
          <a:endParaRPr lang="en-US"/>
        </a:p>
      </dgm:t>
    </dgm:pt>
    <dgm:pt modelId="{144A32F9-1588-43E3-BB4E-0B36D73C1FD2}" type="sibTrans" cxnId="{59E65CE1-18A0-40BF-B3D0-75182CC6F2FA}">
      <dgm:prSet/>
      <dgm:spPr/>
      <dgm:t>
        <a:bodyPr/>
        <a:lstStyle/>
        <a:p>
          <a:endParaRPr lang="en-US"/>
        </a:p>
      </dgm:t>
    </dgm:pt>
    <dgm:pt modelId="{E9B2743D-E813-4ED6-B7B3-4B2993A6FCD9}">
      <dgm:prSet custT="1"/>
      <dgm:spPr/>
      <dgm:t>
        <a:bodyPr/>
        <a:lstStyle/>
        <a:p>
          <a:r>
            <a:rPr lang="en-US" sz="1400" err="1"/>
            <a:t>Immaterielle</a:t>
          </a:r>
          <a:r>
            <a:rPr lang="en-US" sz="1400"/>
            <a:t> </a:t>
          </a:r>
          <a:r>
            <a:rPr lang="en-US" sz="1400" err="1"/>
            <a:t>Ressourcen</a:t>
          </a:r>
          <a:endParaRPr lang="en-US" sz="1400"/>
        </a:p>
      </dgm:t>
    </dgm:pt>
    <dgm:pt modelId="{071F5E14-BCCA-4F70-8057-AFF3B4C7153F}" type="parTrans" cxnId="{B217C22A-F393-4B3A-BD52-BE7D0ED54CB1}">
      <dgm:prSet/>
      <dgm:spPr/>
      <dgm:t>
        <a:bodyPr/>
        <a:lstStyle/>
        <a:p>
          <a:endParaRPr lang="en-US"/>
        </a:p>
      </dgm:t>
    </dgm:pt>
    <dgm:pt modelId="{0D10EED2-FE71-4A74-89D3-D4BD8FA006FB}" type="sibTrans" cxnId="{B217C22A-F393-4B3A-BD52-BE7D0ED54CB1}">
      <dgm:prSet/>
      <dgm:spPr/>
      <dgm:t>
        <a:bodyPr/>
        <a:lstStyle/>
        <a:p>
          <a:endParaRPr lang="en-US"/>
        </a:p>
      </dgm:t>
    </dgm:pt>
    <dgm:pt modelId="{BD935179-6D5D-41E6-A951-5AC8DBA5A1DB}">
      <dgm:prSet custT="1"/>
      <dgm:spPr/>
      <dgm:t>
        <a:bodyPr/>
        <a:lstStyle/>
        <a:p>
          <a:r>
            <a:rPr lang="en-US" sz="1400"/>
            <a:t>Marke Porsche</a:t>
          </a:r>
        </a:p>
      </dgm:t>
    </dgm:pt>
    <dgm:pt modelId="{C77F31B3-87A1-4429-953A-487B3A08A818}" type="parTrans" cxnId="{858E2124-960E-4198-ACD8-CCF568EDAF72}">
      <dgm:prSet/>
      <dgm:spPr/>
      <dgm:t>
        <a:bodyPr/>
        <a:lstStyle/>
        <a:p>
          <a:endParaRPr lang="en-US"/>
        </a:p>
      </dgm:t>
    </dgm:pt>
    <dgm:pt modelId="{31C5A9AE-7D48-4467-AC70-B02FC786B0FD}" type="sibTrans" cxnId="{858E2124-960E-4198-ACD8-CCF568EDAF72}">
      <dgm:prSet/>
      <dgm:spPr/>
      <dgm:t>
        <a:bodyPr/>
        <a:lstStyle/>
        <a:p>
          <a:endParaRPr lang="en-US"/>
        </a:p>
      </dgm:t>
    </dgm:pt>
    <dgm:pt modelId="{AD8F8D82-1DF3-4E87-A49B-A8AFFC3D3BED}">
      <dgm:prSet custT="1"/>
      <dgm:spPr/>
      <dgm:t>
        <a:bodyPr/>
        <a:lstStyle/>
        <a:p>
          <a:r>
            <a:rPr lang="en-US" sz="1400"/>
            <a:t>Technologiesches Know-how</a:t>
          </a:r>
        </a:p>
      </dgm:t>
    </dgm:pt>
    <dgm:pt modelId="{95F858EC-F9BC-4E9D-ACF0-6C1A5E79DF80}" type="parTrans" cxnId="{E71349E8-BE97-4696-A604-8757169F5F77}">
      <dgm:prSet/>
      <dgm:spPr/>
      <dgm:t>
        <a:bodyPr/>
        <a:lstStyle/>
        <a:p>
          <a:endParaRPr lang="en-US"/>
        </a:p>
      </dgm:t>
    </dgm:pt>
    <dgm:pt modelId="{F079FB8B-EF53-4266-9E9E-651788FFACF6}" type="sibTrans" cxnId="{E71349E8-BE97-4696-A604-8757169F5F77}">
      <dgm:prSet/>
      <dgm:spPr/>
      <dgm:t>
        <a:bodyPr/>
        <a:lstStyle/>
        <a:p>
          <a:endParaRPr lang="en-US"/>
        </a:p>
      </dgm:t>
    </dgm:pt>
    <dgm:pt modelId="{AE35CE04-49F0-42F2-A046-FE48F1F0CC32}">
      <dgm:prSet custT="1"/>
      <dgm:spPr/>
      <dgm:t>
        <a:bodyPr/>
        <a:lstStyle/>
        <a:p>
          <a:r>
            <a:rPr lang="en-US" sz="1400"/>
            <a:t>Motorsport-Erfahrung</a:t>
          </a:r>
        </a:p>
      </dgm:t>
    </dgm:pt>
    <dgm:pt modelId="{86A75669-9EEC-4CD8-8171-C0CB74CCBECD}" type="parTrans" cxnId="{179FC64F-8F3E-4FDE-B6E8-540188CF5A51}">
      <dgm:prSet/>
      <dgm:spPr/>
      <dgm:t>
        <a:bodyPr/>
        <a:lstStyle/>
        <a:p>
          <a:endParaRPr lang="en-US"/>
        </a:p>
      </dgm:t>
    </dgm:pt>
    <dgm:pt modelId="{765EC991-D0AE-4BCE-A8D6-FD67B9A2B067}" type="sibTrans" cxnId="{179FC64F-8F3E-4FDE-B6E8-540188CF5A51}">
      <dgm:prSet/>
      <dgm:spPr/>
      <dgm:t>
        <a:bodyPr/>
        <a:lstStyle/>
        <a:p>
          <a:endParaRPr lang="en-US"/>
        </a:p>
      </dgm:t>
    </dgm:pt>
    <dgm:pt modelId="{614B4551-0CF6-494A-A086-C1E66184F46E}">
      <dgm:prSet custT="1"/>
      <dgm:spPr/>
      <dgm:t>
        <a:bodyPr/>
        <a:lstStyle/>
        <a:p>
          <a:r>
            <a:rPr lang="en-US" sz="1400" err="1"/>
            <a:t>Patente</a:t>
          </a:r>
          <a:r>
            <a:rPr lang="en-US" sz="1400"/>
            <a:t> und </a:t>
          </a:r>
          <a:r>
            <a:rPr lang="en-US" sz="1400" err="1"/>
            <a:t>geistiges</a:t>
          </a:r>
          <a:r>
            <a:rPr lang="en-US" sz="1400"/>
            <a:t> </a:t>
          </a:r>
          <a:r>
            <a:rPr lang="en-US" sz="1400" err="1"/>
            <a:t>Eigentum</a:t>
          </a:r>
          <a:endParaRPr lang="en-US" sz="1400"/>
        </a:p>
      </dgm:t>
    </dgm:pt>
    <dgm:pt modelId="{ADDEFE25-4C56-466E-9FDD-216632A06082}" type="parTrans" cxnId="{AC5D37DD-A8AC-47BA-B7E3-BCF4E9B7B8CB}">
      <dgm:prSet/>
      <dgm:spPr/>
      <dgm:t>
        <a:bodyPr/>
        <a:lstStyle/>
        <a:p>
          <a:endParaRPr lang="en-US"/>
        </a:p>
      </dgm:t>
    </dgm:pt>
    <dgm:pt modelId="{431B5311-74F0-4A07-A7BD-E6BCA05E6884}" type="sibTrans" cxnId="{AC5D37DD-A8AC-47BA-B7E3-BCF4E9B7B8CB}">
      <dgm:prSet/>
      <dgm:spPr/>
      <dgm:t>
        <a:bodyPr/>
        <a:lstStyle/>
        <a:p>
          <a:endParaRPr lang="en-US"/>
        </a:p>
      </dgm:t>
    </dgm:pt>
    <dgm:pt modelId="{7ED83CB1-7B5E-4E84-84D5-6191B138B109}">
      <dgm:prSet custT="1"/>
      <dgm:spPr/>
      <dgm:t>
        <a:bodyPr/>
        <a:lstStyle/>
        <a:p>
          <a:r>
            <a:rPr lang="en-US" sz="1400"/>
            <a:t>Hohe Reputation </a:t>
          </a:r>
          <a:r>
            <a:rPr lang="en-US" sz="1400" err="1"/>
            <a:t>im</a:t>
          </a:r>
          <a:r>
            <a:rPr lang="en-US" sz="1400"/>
            <a:t> </a:t>
          </a:r>
          <a:r>
            <a:rPr lang="en-US" sz="1400" err="1"/>
            <a:t>Premiumsegment</a:t>
          </a:r>
          <a:endParaRPr lang="en-US" sz="1400"/>
        </a:p>
      </dgm:t>
    </dgm:pt>
    <dgm:pt modelId="{73C32D04-4B1D-4C9E-A8A7-72FD8A3A7C52}" type="parTrans" cxnId="{0CD5BDAC-BE13-4EC9-986D-0A7B11E1E065}">
      <dgm:prSet/>
      <dgm:spPr/>
      <dgm:t>
        <a:bodyPr/>
        <a:lstStyle/>
        <a:p>
          <a:endParaRPr lang="en-US"/>
        </a:p>
      </dgm:t>
    </dgm:pt>
    <dgm:pt modelId="{63EBD63E-7CCA-4C70-A509-1797CB770561}" type="sibTrans" cxnId="{0CD5BDAC-BE13-4EC9-986D-0A7B11E1E065}">
      <dgm:prSet/>
      <dgm:spPr/>
      <dgm:t>
        <a:bodyPr/>
        <a:lstStyle/>
        <a:p>
          <a:endParaRPr lang="en-US"/>
        </a:p>
      </dgm:t>
    </dgm:pt>
    <dgm:pt modelId="{CB6F0E57-4FB7-7748-924D-5F64896C3834}">
      <dgm:prSet custT="1"/>
      <dgm:spPr/>
      <dgm:t>
        <a:bodyPr/>
        <a:lstStyle/>
        <a:p>
          <a:r>
            <a:rPr lang="en-US" sz="1400" err="1"/>
            <a:t>Personelle</a:t>
          </a:r>
          <a:r>
            <a:rPr lang="en-US" sz="1400"/>
            <a:t> </a:t>
          </a:r>
          <a:r>
            <a:rPr lang="en-US" sz="1400" err="1"/>
            <a:t>Ressourcen</a:t>
          </a:r>
          <a:endParaRPr lang="en-US" sz="1400"/>
        </a:p>
      </dgm:t>
    </dgm:pt>
    <dgm:pt modelId="{B8EC7A60-D473-A84F-B9DF-CAA5F7028504}" type="parTrans" cxnId="{ACE098B3-4BB9-6847-AD92-DF7FB161DA22}">
      <dgm:prSet/>
      <dgm:spPr/>
      <dgm:t>
        <a:bodyPr/>
        <a:lstStyle/>
        <a:p>
          <a:endParaRPr lang="en-US"/>
        </a:p>
      </dgm:t>
    </dgm:pt>
    <dgm:pt modelId="{F95B6BDC-FFF5-A743-8F1B-53D85CBBC7CB}" type="sibTrans" cxnId="{ACE098B3-4BB9-6847-AD92-DF7FB161DA22}">
      <dgm:prSet/>
      <dgm:spPr/>
      <dgm:t>
        <a:bodyPr/>
        <a:lstStyle/>
        <a:p>
          <a:endParaRPr lang="en-US"/>
        </a:p>
      </dgm:t>
    </dgm:pt>
    <dgm:pt modelId="{D9215C02-210F-C24D-81E5-07D9665FA7D9}">
      <dgm:prSet custT="1"/>
      <dgm:spPr/>
      <dgm:t>
        <a:bodyPr/>
        <a:lstStyle/>
        <a:p>
          <a:r>
            <a:rPr lang="en-US" sz="1400" err="1"/>
            <a:t>Ingenieure</a:t>
          </a:r>
          <a:r>
            <a:rPr lang="en-US" sz="1400"/>
            <a:t> und </a:t>
          </a:r>
          <a:r>
            <a:rPr lang="en-US" sz="1400" err="1"/>
            <a:t>Entwickler</a:t>
          </a:r>
          <a:endParaRPr lang="en-US" sz="1400"/>
        </a:p>
      </dgm:t>
    </dgm:pt>
    <dgm:pt modelId="{832EE14E-1FE2-354C-8EDF-4ED05235F6E6}" type="parTrans" cxnId="{3762E97B-46F8-1043-8DA0-1FBCBC097E40}">
      <dgm:prSet/>
      <dgm:spPr/>
      <dgm:t>
        <a:bodyPr/>
        <a:lstStyle/>
        <a:p>
          <a:endParaRPr lang="en-US"/>
        </a:p>
      </dgm:t>
    </dgm:pt>
    <dgm:pt modelId="{6A14E933-C9EE-A24F-9E1E-5A89066D03B4}" type="sibTrans" cxnId="{3762E97B-46F8-1043-8DA0-1FBCBC097E40}">
      <dgm:prSet/>
      <dgm:spPr/>
      <dgm:t>
        <a:bodyPr/>
        <a:lstStyle/>
        <a:p>
          <a:endParaRPr lang="en-US"/>
        </a:p>
      </dgm:t>
    </dgm:pt>
    <dgm:pt modelId="{EF334F91-373B-8648-BE7A-EE639494351D}">
      <dgm:prSet custT="1"/>
      <dgm:spPr/>
      <dgm:t>
        <a:bodyPr/>
        <a:lstStyle/>
        <a:p>
          <a:r>
            <a:rPr lang="en-US" sz="1400"/>
            <a:t>Software-</a:t>
          </a:r>
          <a:r>
            <a:rPr lang="en-US" sz="1400" err="1"/>
            <a:t>Spezialisten</a:t>
          </a:r>
          <a:endParaRPr lang="en-US" sz="1400"/>
        </a:p>
      </dgm:t>
    </dgm:pt>
    <dgm:pt modelId="{252465E1-4AF4-274E-A7EC-D4F0B3BCB10C}" type="parTrans" cxnId="{9C764F88-AFEF-A34B-9F71-5D1EC256731F}">
      <dgm:prSet/>
      <dgm:spPr/>
      <dgm:t>
        <a:bodyPr/>
        <a:lstStyle/>
        <a:p>
          <a:endParaRPr lang="en-US"/>
        </a:p>
      </dgm:t>
    </dgm:pt>
    <dgm:pt modelId="{61958F55-0F15-5746-9BD6-958DEB2191FB}" type="sibTrans" cxnId="{9C764F88-AFEF-A34B-9F71-5D1EC256731F}">
      <dgm:prSet/>
      <dgm:spPr/>
      <dgm:t>
        <a:bodyPr/>
        <a:lstStyle/>
        <a:p>
          <a:endParaRPr lang="en-US"/>
        </a:p>
      </dgm:t>
    </dgm:pt>
    <dgm:pt modelId="{99B0C13E-9EA9-6D49-A794-FB6A191B0E9C}">
      <dgm:prSet custT="1"/>
      <dgm:spPr/>
      <dgm:t>
        <a:bodyPr/>
        <a:lstStyle/>
        <a:p>
          <a:r>
            <a:rPr lang="en-US" sz="1400" err="1"/>
            <a:t>Erfahrenes</a:t>
          </a:r>
          <a:r>
            <a:rPr lang="en-US" sz="1400"/>
            <a:t> Management</a:t>
          </a:r>
        </a:p>
      </dgm:t>
    </dgm:pt>
    <dgm:pt modelId="{F5B53334-F5B1-114D-A549-2946E60DD9A2}" type="parTrans" cxnId="{F5674A4F-B2A2-0340-BCC5-4A50F7C8F920}">
      <dgm:prSet/>
      <dgm:spPr/>
      <dgm:t>
        <a:bodyPr/>
        <a:lstStyle/>
        <a:p>
          <a:endParaRPr lang="en-US"/>
        </a:p>
      </dgm:t>
    </dgm:pt>
    <dgm:pt modelId="{E88EDA10-B678-3E4D-92D0-CB90A8A56300}" type="sibTrans" cxnId="{F5674A4F-B2A2-0340-BCC5-4A50F7C8F920}">
      <dgm:prSet/>
      <dgm:spPr/>
      <dgm:t>
        <a:bodyPr/>
        <a:lstStyle/>
        <a:p>
          <a:endParaRPr lang="en-US"/>
        </a:p>
      </dgm:t>
    </dgm:pt>
    <dgm:pt modelId="{00030396-05C1-9942-96E1-6B6BE2405EAA}" type="pres">
      <dgm:prSet presAssocID="{59B48725-8164-48E2-83AE-6A0F034E462B}" presName="linear" presStyleCnt="0">
        <dgm:presLayoutVars>
          <dgm:dir/>
          <dgm:animLvl val="lvl"/>
          <dgm:resizeHandles val="exact"/>
        </dgm:presLayoutVars>
      </dgm:prSet>
      <dgm:spPr/>
    </dgm:pt>
    <dgm:pt modelId="{6F03F502-C2DF-DF49-BC61-7232A7DEE0CF}" type="pres">
      <dgm:prSet presAssocID="{C56D2CC8-C45D-4E18-B90B-54073C21F11D}" presName="parentLin" presStyleCnt="0"/>
      <dgm:spPr/>
    </dgm:pt>
    <dgm:pt modelId="{42D43E87-9907-2A43-945A-965102CFB845}" type="pres">
      <dgm:prSet presAssocID="{C56D2CC8-C45D-4E18-B90B-54073C21F11D}" presName="parentLeftMargin" presStyleLbl="node1" presStyleIdx="0" presStyleCnt="3"/>
      <dgm:spPr/>
    </dgm:pt>
    <dgm:pt modelId="{33167095-FB17-394F-9171-76DBB7052190}" type="pres">
      <dgm:prSet presAssocID="{C56D2CC8-C45D-4E18-B90B-54073C21F11D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93169E09-A52D-AC46-BE8F-5391994D0514}" type="pres">
      <dgm:prSet presAssocID="{C56D2CC8-C45D-4E18-B90B-54073C21F11D}" presName="negativeSpace" presStyleCnt="0"/>
      <dgm:spPr/>
    </dgm:pt>
    <dgm:pt modelId="{35CEA706-903E-F241-AC8F-50D0F712E7C1}" type="pres">
      <dgm:prSet presAssocID="{C56D2CC8-C45D-4E18-B90B-54073C21F11D}" presName="childText" presStyleLbl="conFgAcc1" presStyleIdx="0" presStyleCnt="3">
        <dgm:presLayoutVars>
          <dgm:bulletEnabled val="1"/>
        </dgm:presLayoutVars>
      </dgm:prSet>
      <dgm:spPr/>
    </dgm:pt>
    <dgm:pt modelId="{E19D3269-19F3-0041-919A-8FBA52E12DAE}" type="pres">
      <dgm:prSet presAssocID="{89C48FA8-710C-437F-BFF9-10423656F7C3}" presName="spaceBetweenRectangles" presStyleCnt="0"/>
      <dgm:spPr/>
    </dgm:pt>
    <dgm:pt modelId="{67CA3CD5-92B5-7F4E-B694-E632D0B25F08}" type="pres">
      <dgm:prSet presAssocID="{E9B2743D-E813-4ED6-B7B3-4B2993A6FCD9}" presName="parentLin" presStyleCnt="0"/>
      <dgm:spPr/>
    </dgm:pt>
    <dgm:pt modelId="{E9FCE9E4-876F-F844-9CB1-460EFB6F2B18}" type="pres">
      <dgm:prSet presAssocID="{E9B2743D-E813-4ED6-B7B3-4B2993A6FCD9}" presName="parentLeftMargin" presStyleLbl="node1" presStyleIdx="0" presStyleCnt="3"/>
      <dgm:spPr/>
    </dgm:pt>
    <dgm:pt modelId="{196EF647-398A-CA4B-AF4C-FB6AF0167BB6}" type="pres">
      <dgm:prSet presAssocID="{E9B2743D-E813-4ED6-B7B3-4B2993A6FCD9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21F7A3F4-0250-7E46-AE2A-53771559068A}" type="pres">
      <dgm:prSet presAssocID="{E9B2743D-E813-4ED6-B7B3-4B2993A6FCD9}" presName="negativeSpace" presStyleCnt="0"/>
      <dgm:spPr/>
    </dgm:pt>
    <dgm:pt modelId="{11965E2B-CBE5-4F45-B0BB-379EAC21032B}" type="pres">
      <dgm:prSet presAssocID="{E9B2743D-E813-4ED6-B7B3-4B2993A6FCD9}" presName="childText" presStyleLbl="conFgAcc1" presStyleIdx="1" presStyleCnt="3">
        <dgm:presLayoutVars>
          <dgm:bulletEnabled val="1"/>
        </dgm:presLayoutVars>
      </dgm:prSet>
      <dgm:spPr/>
    </dgm:pt>
    <dgm:pt modelId="{344D3030-AE94-0543-BDCD-3E7CC9AD859B}" type="pres">
      <dgm:prSet presAssocID="{0D10EED2-FE71-4A74-89D3-D4BD8FA006FB}" presName="spaceBetweenRectangles" presStyleCnt="0"/>
      <dgm:spPr/>
    </dgm:pt>
    <dgm:pt modelId="{1C771FBA-361D-5143-BE8A-5799C09B1DD2}" type="pres">
      <dgm:prSet presAssocID="{CB6F0E57-4FB7-7748-924D-5F64896C3834}" presName="parentLin" presStyleCnt="0"/>
      <dgm:spPr/>
    </dgm:pt>
    <dgm:pt modelId="{8EA095CA-E29B-8A4D-96F8-4B6F004FDB39}" type="pres">
      <dgm:prSet presAssocID="{CB6F0E57-4FB7-7748-924D-5F64896C3834}" presName="parentLeftMargin" presStyleLbl="node1" presStyleIdx="1" presStyleCnt="3"/>
      <dgm:spPr/>
    </dgm:pt>
    <dgm:pt modelId="{7776384E-C1B1-7A44-8475-EE49241621E7}" type="pres">
      <dgm:prSet presAssocID="{CB6F0E57-4FB7-7748-924D-5F64896C3834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411CE63E-7984-ED4A-A28F-3CD25201F725}" type="pres">
      <dgm:prSet presAssocID="{CB6F0E57-4FB7-7748-924D-5F64896C3834}" presName="negativeSpace" presStyleCnt="0"/>
      <dgm:spPr/>
    </dgm:pt>
    <dgm:pt modelId="{00638775-915F-9C46-A89C-6B4065C44AA4}" type="pres">
      <dgm:prSet presAssocID="{CB6F0E57-4FB7-7748-924D-5F64896C3834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A8242407-0912-2848-B695-F02E23467821}" type="presOf" srcId="{C56D2CC8-C45D-4E18-B90B-54073C21F11D}" destId="{42D43E87-9907-2A43-945A-965102CFB845}" srcOrd="0" destOrd="0" presId="urn:microsoft.com/office/officeart/2005/8/layout/list1"/>
    <dgm:cxn modelId="{A1EEE50F-0871-F546-B4FF-FA6DC6251DDB}" type="presOf" srcId="{BD935179-6D5D-41E6-A951-5AC8DBA5A1DB}" destId="{11965E2B-CBE5-4F45-B0BB-379EAC21032B}" srcOrd="0" destOrd="0" presId="urn:microsoft.com/office/officeart/2005/8/layout/list1"/>
    <dgm:cxn modelId="{4C5B1415-C3E7-914A-8A9C-95230BF30934}" type="presOf" srcId="{EF334F91-373B-8648-BE7A-EE639494351D}" destId="{00638775-915F-9C46-A89C-6B4065C44AA4}" srcOrd="0" destOrd="1" presId="urn:microsoft.com/office/officeart/2005/8/layout/list1"/>
    <dgm:cxn modelId="{858E2124-960E-4198-ACD8-CCF568EDAF72}" srcId="{E9B2743D-E813-4ED6-B7B3-4B2993A6FCD9}" destId="{BD935179-6D5D-41E6-A951-5AC8DBA5A1DB}" srcOrd="0" destOrd="0" parTransId="{C77F31B3-87A1-4429-953A-487B3A08A818}" sibTransId="{31C5A9AE-7D48-4467-AC70-B02FC786B0FD}"/>
    <dgm:cxn modelId="{B217C22A-F393-4B3A-BD52-BE7D0ED54CB1}" srcId="{59B48725-8164-48E2-83AE-6A0F034E462B}" destId="{E9B2743D-E813-4ED6-B7B3-4B2993A6FCD9}" srcOrd="1" destOrd="0" parTransId="{071F5E14-BCCA-4F70-8057-AFF3B4C7153F}" sibTransId="{0D10EED2-FE71-4A74-89D3-D4BD8FA006FB}"/>
    <dgm:cxn modelId="{9765A237-1E89-B347-8BEB-28CAC35FDC45}" type="presOf" srcId="{E9B2743D-E813-4ED6-B7B3-4B2993A6FCD9}" destId="{196EF647-398A-CA4B-AF4C-FB6AF0167BB6}" srcOrd="1" destOrd="0" presId="urn:microsoft.com/office/officeart/2005/8/layout/list1"/>
    <dgm:cxn modelId="{28610D48-A5C1-D847-B0DF-5DDE69875C81}" type="presOf" srcId="{614B4551-0CF6-494A-A086-C1E66184F46E}" destId="{11965E2B-CBE5-4F45-B0BB-379EAC21032B}" srcOrd="0" destOrd="3" presId="urn:microsoft.com/office/officeart/2005/8/layout/list1"/>
    <dgm:cxn modelId="{F5674A4F-B2A2-0340-BCC5-4A50F7C8F920}" srcId="{CB6F0E57-4FB7-7748-924D-5F64896C3834}" destId="{99B0C13E-9EA9-6D49-A794-FB6A191B0E9C}" srcOrd="2" destOrd="0" parTransId="{F5B53334-F5B1-114D-A549-2946E60DD9A2}" sibTransId="{E88EDA10-B678-3E4D-92D0-CB90A8A56300}"/>
    <dgm:cxn modelId="{179FC64F-8F3E-4FDE-B6E8-540188CF5A51}" srcId="{E9B2743D-E813-4ED6-B7B3-4B2993A6FCD9}" destId="{AE35CE04-49F0-42F2-A046-FE48F1F0CC32}" srcOrd="2" destOrd="0" parTransId="{86A75669-9EEC-4CD8-8171-C0CB74CCBECD}" sibTransId="{765EC991-D0AE-4BCE-A8D6-FD67B9A2B067}"/>
    <dgm:cxn modelId="{E958A352-F53D-3E41-912B-CBE40966BEF3}" type="presOf" srcId="{CF5817D4-B475-4B8F-B545-E6AC64CAC59A}" destId="{35CEA706-903E-F241-AC8F-50D0F712E7C1}" srcOrd="0" destOrd="1" presId="urn:microsoft.com/office/officeart/2005/8/layout/list1"/>
    <dgm:cxn modelId="{A4B93054-15F7-8646-A034-882ED71EDE06}" type="presOf" srcId="{AD8F8D82-1DF3-4E87-A49B-A8AFFC3D3BED}" destId="{11965E2B-CBE5-4F45-B0BB-379EAC21032B}" srcOrd="0" destOrd="1" presId="urn:microsoft.com/office/officeart/2005/8/layout/list1"/>
    <dgm:cxn modelId="{60271D55-FED6-8D4F-BA23-18D9881648C0}" type="presOf" srcId="{E9B2743D-E813-4ED6-B7B3-4B2993A6FCD9}" destId="{E9FCE9E4-876F-F844-9CB1-460EFB6F2B18}" srcOrd="0" destOrd="0" presId="urn:microsoft.com/office/officeart/2005/8/layout/list1"/>
    <dgm:cxn modelId="{F473E756-3AFC-CE46-B7D5-7E2068245AC9}" type="presOf" srcId="{59B48725-8164-48E2-83AE-6A0F034E462B}" destId="{00030396-05C1-9942-96E1-6B6BE2405EAA}" srcOrd="0" destOrd="0" presId="urn:microsoft.com/office/officeart/2005/8/layout/list1"/>
    <dgm:cxn modelId="{BE2CC15C-85A5-E74D-9C5B-8A085333F37A}" type="presOf" srcId="{99B0C13E-9EA9-6D49-A794-FB6A191B0E9C}" destId="{00638775-915F-9C46-A89C-6B4065C44AA4}" srcOrd="0" destOrd="2" presId="urn:microsoft.com/office/officeart/2005/8/layout/list1"/>
    <dgm:cxn modelId="{B1B02760-F953-2A40-8C9B-C193509D9594}" type="presOf" srcId="{C0926A22-8A20-40A5-81A0-6279D8309788}" destId="{35CEA706-903E-F241-AC8F-50D0F712E7C1}" srcOrd="0" destOrd="2" presId="urn:microsoft.com/office/officeart/2005/8/layout/list1"/>
    <dgm:cxn modelId="{84739461-851F-4412-9426-435F9D759BD2}" srcId="{C56D2CC8-C45D-4E18-B90B-54073C21F11D}" destId="{F7A837DC-A90A-4895-B089-0530387F1145}" srcOrd="0" destOrd="0" parTransId="{593376E8-5632-4408-86EF-F01E4DF2FC34}" sibTransId="{0547D193-59CF-49B0-98AA-9778832CD715}"/>
    <dgm:cxn modelId="{716D8765-A976-C94F-94B4-97903F853851}" type="presOf" srcId="{CB6F0E57-4FB7-7748-924D-5F64896C3834}" destId="{8EA095CA-E29B-8A4D-96F8-4B6F004FDB39}" srcOrd="0" destOrd="0" presId="urn:microsoft.com/office/officeart/2005/8/layout/list1"/>
    <dgm:cxn modelId="{C3E86976-C018-AE45-8C79-49D0C29B264C}" type="presOf" srcId="{7ED83CB1-7B5E-4E84-84D5-6191B138B109}" destId="{11965E2B-CBE5-4F45-B0BB-379EAC21032B}" srcOrd="0" destOrd="4" presId="urn:microsoft.com/office/officeart/2005/8/layout/list1"/>
    <dgm:cxn modelId="{3FF98477-0FB4-9E47-9694-7D5007B24DD8}" type="presOf" srcId="{AE35CE04-49F0-42F2-A046-FE48F1F0CC32}" destId="{11965E2B-CBE5-4F45-B0BB-379EAC21032B}" srcOrd="0" destOrd="2" presId="urn:microsoft.com/office/officeart/2005/8/layout/list1"/>
    <dgm:cxn modelId="{0E03987B-FD3C-7C49-8A2D-1E22A8843428}" type="presOf" srcId="{D9215C02-210F-C24D-81E5-07D9665FA7D9}" destId="{00638775-915F-9C46-A89C-6B4065C44AA4}" srcOrd="0" destOrd="0" presId="urn:microsoft.com/office/officeart/2005/8/layout/list1"/>
    <dgm:cxn modelId="{3762E97B-46F8-1043-8DA0-1FBCBC097E40}" srcId="{CB6F0E57-4FB7-7748-924D-5F64896C3834}" destId="{D9215C02-210F-C24D-81E5-07D9665FA7D9}" srcOrd="0" destOrd="0" parTransId="{832EE14E-1FE2-354C-8EDF-4ED05235F6E6}" sibTransId="{6A14E933-C9EE-A24F-9E1E-5A89066D03B4}"/>
    <dgm:cxn modelId="{76180180-FC0E-FB4B-B137-FAE306C4279C}" type="presOf" srcId="{C56D2CC8-C45D-4E18-B90B-54073C21F11D}" destId="{33167095-FB17-394F-9171-76DBB7052190}" srcOrd="1" destOrd="0" presId="urn:microsoft.com/office/officeart/2005/8/layout/list1"/>
    <dgm:cxn modelId="{F9FAD186-B08E-449D-8F20-E3DF6AAD4043}" srcId="{C56D2CC8-C45D-4E18-B90B-54073C21F11D}" destId="{CF5817D4-B475-4B8F-B545-E6AC64CAC59A}" srcOrd="1" destOrd="0" parTransId="{09183B06-64E7-48A4-8411-0D24C1C994C3}" sibTransId="{2A54B241-8EB8-47EC-BC09-224820E2B334}"/>
    <dgm:cxn modelId="{9C764F88-AFEF-A34B-9F71-5D1EC256731F}" srcId="{CB6F0E57-4FB7-7748-924D-5F64896C3834}" destId="{EF334F91-373B-8648-BE7A-EE639494351D}" srcOrd="1" destOrd="0" parTransId="{252465E1-4AF4-274E-A7EC-D4F0B3BCB10C}" sibTransId="{61958F55-0F15-5746-9BD6-958DEB2191FB}"/>
    <dgm:cxn modelId="{D65EEA8C-D444-5D4A-9789-47C02D85C90A}" type="presOf" srcId="{F7A837DC-A90A-4895-B089-0530387F1145}" destId="{35CEA706-903E-F241-AC8F-50D0F712E7C1}" srcOrd="0" destOrd="0" presId="urn:microsoft.com/office/officeart/2005/8/layout/list1"/>
    <dgm:cxn modelId="{0CD5BDAC-BE13-4EC9-986D-0A7B11E1E065}" srcId="{E9B2743D-E813-4ED6-B7B3-4B2993A6FCD9}" destId="{7ED83CB1-7B5E-4E84-84D5-6191B138B109}" srcOrd="4" destOrd="0" parTransId="{73C32D04-4B1D-4C9E-A8A7-72FD8A3A7C52}" sibTransId="{63EBD63E-7CCA-4C70-A509-1797CB770561}"/>
    <dgm:cxn modelId="{FE4B79AE-7B68-4CD2-B0F0-A58DF5BAD333}" srcId="{C56D2CC8-C45D-4E18-B90B-54073C21F11D}" destId="{C0926A22-8A20-40A5-81A0-6279D8309788}" srcOrd="2" destOrd="0" parTransId="{787C1FD8-414D-47E7-82A0-F6CB08C369EF}" sibTransId="{E648B23B-9B7F-4EFC-BBEF-A7EE3BEA4ED6}"/>
    <dgm:cxn modelId="{ACE098B3-4BB9-6847-AD92-DF7FB161DA22}" srcId="{59B48725-8164-48E2-83AE-6A0F034E462B}" destId="{CB6F0E57-4FB7-7748-924D-5F64896C3834}" srcOrd="2" destOrd="0" parTransId="{B8EC7A60-D473-A84F-B9DF-CAA5F7028504}" sibTransId="{F95B6BDC-FFF5-A743-8F1B-53D85CBBC7CB}"/>
    <dgm:cxn modelId="{89BE3BC1-87B8-114C-9E49-B97467A41732}" type="presOf" srcId="{35C6F398-0D92-4653-B159-2E7233D6D896}" destId="{35CEA706-903E-F241-AC8F-50D0F712E7C1}" srcOrd="0" destOrd="3" presId="urn:microsoft.com/office/officeart/2005/8/layout/list1"/>
    <dgm:cxn modelId="{2ECDD3CA-8260-4828-A315-7A38C1478EE6}" srcId="{59B48725-8164-48E2-83AE-6A0F034E462B}" destId="{C56D2CC8-C45D-4E18-B90B-54073C21F11D}" srcOrd="0" destOrd="0" parTransId="{2A3E0714-CC4C-462A-A188-122DF104917B}" sibTransId="{89C48FA8-710C-437F-BFF9-10423656F7C3}"/>
    <dgm:cxn modelId="{AC5D37DD-A8AC-47BA-B7E3-BCF4E9B7B8CB}" srcId="{E9B2743D-E813-4ED6-B7B3-4B2993A6FCD9}" destId="{614B4551-0CF6-494A-A086-C1E66184F46E}" srcOrd="3" destOrd="0" parTransId="{ADDEFE25-4C56-466E-9FDD-216632A06082}" sibTransId="{431B5311-74F0-4A07-A7BD-E6BCA05E6884}"/>
    <dgm:cxn modelId="{59E65CE1-18A0-40BF-B3D0-75182CC6F2FA}" srcId="{C56D2CC8-C45D-4E18-B90B-54073C21F11D}" destId="{35C6F398-0D92-4653-B159-2E7233D6D896}" srcOrd="3" destOrd="0" parTransId="{E3299DB4-FA9D-40A0-AEB3-4832D5D34023}" sibTransId="{144A32F9-1588-43E3-BB4E-0B36D73C1FD2}"/>
    <dgm:cxn modelId="{E71349E8-BE97-4696-A604-8757169F5F77}" srcId="{E9B2743D-E813-4ED6-B7B3-4B2993A6FCD9}" destId="{AD8F8D82-1DF3-4E87-A49B-A8AFFC3D3BED}" srcOrd="1" destOrd="0" parTransId="{95F858EC-F9BC-4E9D-ACF0-6C1A5E79DF80}" sibTransId="{F079FB8B-EF53-4266-9E9E-651788FFACF6}"/>
    <dgm:cxn modelId="{B0921EFE-A315-2E45-9161-5B05F48B2CD4}" type="presOf" srcId="{CB6F0E57-4FB7-7748-924D-5F64896C3834}" destId="{7776384E-C1B1-7A44-8475-EE49241621E7}" srcOrd="1" destOrd="0" presId="urn:microsoft.com/office/officeart/2005/8/layout/list1"/>
    <dgm:cxn modelId="{CD1843A6-5C48-0643-8FE4-01300E1A8951}" type="presParOf" srcId="{00030396-05C1-9942-96E1-6B6BE2405EAA}" destId="{6F03F502-C2DF-DF49-BC61-7232A7DEE0CF}" srcOrd="0" destOrd="0" presId="urn:microsoft.com/office/officeart/2005/8/layout/list1"/>
    <dgm:cxn modelId="{701C2181-2B0B-3647-9B0C-6FB7AD927959}" type="presParOf" srcId="{6F03F502-C2DF-DF49-BC61-7232A7DEE0CF}" destId="{42D43E87-9907-2A43-945A-965102CFB845}" srcOrd="0" destOrd="0" presId="urn:microsoft.com/office/officeart/2005/8/layout/list1"/>
    <dgm:cxn modelId="{B3E32596-B45B-7A4D-A2F1-82783E77063C}" type="presParOf" srcId="{6F03F502-C2DF-DF49-BC61-7232A7DEE0CF}" destId="{33167095-FB17-394F-9171-76DBB7052190}" srcOrd="1" destOrd="0" presId="urn:microsoft.com/office/officeart/2005/8/layout/list1"/>
    <dgm:cxn modelId="{CC67AFB1-69A9-C74D-AE33-122B31D16CC9}" type="presParOf" srcId="{00030396-05C1-9942-96E1-6B6BE2405EAA}" destId="{93169E09-A52D-AC46-BE8F-5391994D0514}" srcOrd="1" destOrd="0" presId="urn:microsoft.com/office/officeart/2005/8/layout/list1"/>
    <dgm:cxn modelId="{9F73A90E-2CCD-E248-AFB1-630461C8BF24}" type="presParOf" srcId="{00030396-05C1-9942-96E1-6B6BE2405EAA}" destId="{35CEA706-903E-F241-AC8F-50D0F712E7C1}" srcOrd="2" destOrd="0" presId="urn:microsoft.com/office/officeart/2005/8/layout/list1"/>
    <dgm:cxn modelId="{BD689CDF-537A-8C4F-94B1-12C1090AABF2}" type="presParOf" srcId="{00030396-05C1-9942-96E1-6B6BE2405EAA}" destId="{E19D3269-19F3-0041-919A-8FBA52E12DAE}" srcOrd="3" destOrd="0" presId="urn:microsoft.com/office/officeart/2005/8/layout/list1"/>
    <dgm:cxn modelId="{A0B84CF2-425E-5B4E-9CE8-604EC4B5D697}" type="presParOf" srcId="{00030396-05C1-9942-96E1-6B6BE2405EAA}" destId="{67CA3CD5-92B5-7F4E-B694-E632D0B25F08}" srcOrd="4" destOrd="0" presId="urn:microsoft.com/office/officeart/2005/8/layout/list1"/>
    <dgm:cxn modelId="{24D03010-4E56-0445-A122-CA7BA25CD9BF}" type="presParOf" srcId="{67CA3CD5-92B5-7F4E-B694-E632D0B25F08}" destId="{E9FCE9E4-876F-F844-9CB1-460EFB6F2B18}" srcOrd="0" destOrd="0" presId="urn:microsoft.com/office/officeart/2005/8/layout/list1"/>
    <dgm:cxn modelId="{0C8F9D4B-E4F6-DD41-ACBE-2901AF573DE3}" type="presParOf" srcId="{67CA3CD5-92B5-7F4E-B694-E632D0B25F08}" destId="{196EF647-398A-CA4B-AF4C-FB6AF0167BB6}" srcOrd="1" destOrd="0" presId="urn:microsoft.com/office/officeart/2005/8/layout/list1"/>
    <dgm:cxn modelId="{9A834F0A-0210-2047-9A8B-EF66B98A708D}" type="presParOf" srcId="{00030396-05C1-9942-96E1-6B6BE2405EAA}" destId="{21F7A3F4-0250-7E46-AE2A-53771559068A}" srcOrd="5" destOrd="0" presId="urn:microsoft.com/office/officeart/2005/8/layout/list1"/>
    <dgm:cxn modelId="{37729AE1-9D1F-7146-A0CA-4B3EE67EABC6}" type="presParOf" srcId="{00030396-05C1-9942-96E1-6B6BE2405EAA}" destId="{11965E2B-CBE5-4F45-B0BB-379EAC21032B}" srcOrd="6" destOrd="0" presId="urn:microsoft.com/office/officeart/2005/8/layout/list1"/>
    <dgm:cxn modelId="{445BCF0F-44DA-2C42-A590-CD8DA4C8AF8D}" type="presParOf" srcId="{00030396-05C1-9942-96E1-6B6BE2405EAA}" destId="{344D3030-AE94-0543-BDCD-3E7CC9AD859B}" srcOrd="7" destOrd="0" presId="urn:microsoft.com/office/officeart/2005/8/layout/list1"/>
    <dgm:cxn modelId="{07C5A28D-3E8C-064E-87E0-DC11B2534F7F}" type="presParOf" srcId="{00030396-05C1-9942-96E1-6B6BE2405EAA}" destId="{1C771FBA-361D-5143-BE8A-5799C09B1DD2}" srcOrd="8" destOrd="0" presId="urn:microsoft.com/office/officeart/2005/8/layout/list1"/>
    <dgm:cxn modelId="{BFCC27C9-5B8D-D344-8184-9BFCE51F65D0}" type="presParOf" srcId="{1C771FBA-361D-5143-BE8A-5799C09B1DD2}" destId="{8EA095CA-E29B-8A4D-96F8-4B6F004FDB39}" srcOrd="0" destOrd="0" presId="urn:microsoft.com/office/officeart/2005/8/layout/list1"/>
    <dgm:cxn modelId="{85CB5F99-0724-7945-A0F2-EAC40370C7DB}" type="presParOf" srcId="{1C771FBA-361D-5143-BE8A-5799C09B1DD2}" destId="{7776384E-C1B1-7A44-8475-EE49241621E7}" srcOrd="1" destOrd="0" presId="urn:microsoft.com/office/officeart/2005/8/layout/list1"/>
    <dgm:cxn modelId="{29FD265F-1E00-F142-B45D-374172B9C541}" type="presParOf" srcId="{00030396-05C1-9942-96E1-6B6BE2405EAA}" destId="{411CE63E-7984-ED4A-A28F-3CD25201F725}" srcOrd="9" destOrd="0" presId="urn:microsoft.com/office/officeart/2005/8/layout/list1"/>
    <dgm:cxn modelId="{96068E2B-A5E4-9045-ABEF-1E78D98B89F1}" type="presParOf" srcId="{00030396-05C1-9942-96E1-6B6BE2405EAA}" destId="{00638775-915F-9C46-A89C-6B4065C44AA4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59B48725-8164-48E2-83AE-6A0F034E462B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56D2CC8-C45D-4E18-B90B-54073C21F11D}">
      <dgm:prSet custT="1"/>
      <dgm:spPr/>
      <dgm:t>
        <a:bodyPr/>
        <a:lstStyle/>
        <a:p>
          <a:r>
            <a:rPr lang="en-US" sz="1400"/>
            <a:t>Forschung und </a:t>
          </a:r>
          <a:r>
            <a:rPr lang="en-US" sz="1400" err="1"/>
            <a:t>Entwicklung</a:t>
          </a:r>
          <a:endParaRPr lang="en-US" sz="1400"/>
        </a:p>
      </dgm:t>
    </dgm:pt>
    <dgm:pt modelId="{2A3E0714-CC4C-462A-A188-122DF104917B}" type="parTrans" cxnId="{2ECDD3CA-8260-4828-A315-7A38C1478EE6}">
      <dgm:prSet/>
      <dgm:spPr/>
      <dgm:t>
        <a:bodyPr/>
        <a:lstStyle/>
        <a:p>
          <a:endParaRPr lang="en-US"/>
        </a:p>
      </dgm:t>
    </dgm:pt>
    <dgm:pt modelId="{89C48FA8-710C-437F-BFF9-10423656F7C3}" type="sibTrans" cxnId="{2ECDD3CA-8260-4828-A315-7A38C1478EE6}">
      <dgm:prSet/>
      <dgm:spPr/>
      <dgm:t>
        <a:bodyPr/>
        <a:lstStyle/>
        <a:p>
          <a:endParaRPr lang="en-US"/>
        </a:p>
      </dgm:t>
    </dgm:pt>
    <dgm:pt modelId="{F7A837DC-A90A-4895-B089-0530387F1145}">
      <dgm:prSet custT="1"/>
      <dgm:spPr/>
      <dgm:t>
        <a:bodyPr/>
        <a:lstStyle/>
        <a:p>
          <a:r>
            <a:rPr lang="en-US" sz="1400" err="1"/>
            <a:t>Entwicklung</a:t>
          </a:r>
          <a:r>
            <a:rPr lang="en-US" sz="1400"/>
            <a:t> </a:t>
          </a:r>
          <a:r>
            <a:rPr lang="en-US" sz="1400" err="1"/>
            <a:t>neuer</a:t>
          </a:r>
          <a:r>
            <a:rPr lang="en-US" sz="1400"/>
            <a:t> </a:t>
          </a:r>
          <a:r>
            <a:rPr lang="en-US" sz="1400" err="1"/>
            <a:t>Fahrzeugtechnologien</a:t>
          </a:r>
          <a:endParaRPr lang="en-US" sz="1400"/>
        </a:p>
      </dgm:t>
    </dgm:pt>
    <dgm:pt modelId="{593376E8-5632-4408-86EF-F01E4DF2FC34}" type="parTrans" cxnId="{84739461-851F-4412-9426-435F9D759BD2}">
      <dgm:prSet/>
      <dgm:spPr/>
      <dgm:t>
        <a:bodyPr/>
        <a:lstStyle/>
        <a:p>
          <a:endParaRPr lang="en-US"/>
        </a:p>
      </dgm:t>
    </dgm:pt>
    <dgm:pt modelId="{0547D193-59CF-49B0-98AA-9778832CD715}" type="sibTrans" cxnId="{84739461-851F-4412-9426-435F9D759BD2}">
      <dgm:prSet/>
      <dgm:spPr/>
      <dgm:t>
        <a:bodyPr/>
        <a:lstStyle/>
        <a:p>
          <a:endParaRPr lang="en-US"/>
        </a:p>
      </dgm:t>
    </dgm:pt>
    <dgm:pt modelId="{E9B2743D-E813-4ED6-B7B3-4B2993A6FCD9}">
      <dgm:prSet custT="1"/>
      <dgm:spPr/>
      <dgm:t>
        <a:bodyPr/>
        <a:lstStyle/>
        <a:p>
          <a:r>
            <a:rPr lang="en-US" sz="1400"/>
            <a:t>Produktion</a:t>
          </a:r>
        </a:p>
      </dgm:t>
    </dgm:pt>
    <dgm:pt modelId="{071F5E14-BCCA-4F70-8057-AFF3B4C7153F}" type="parTrans" cxnId="{B217C22A-F393-4B3A-BD52-BE7D0ED54CB1}">
      <dgm:prSet/>
      <dgm:spPr/>
      <dgm:t>
        <a:bodyPr/>
        <a:lstStyle/>
        <a:p>
          <a:endParaRPr lang="en-US"/>
        </a:p>
      </dgm:t>
    </dgm:pt>
    <dgm:pt modelId="{0D10EED2-FE71-4A74-89D3-D4BD8FA006FB}" type="sibTrans" cxnId="{B217C22A-F393-4B3A-BD52-BE7D0ED54CB1}">
      <dgm:prSet/>
      <dgm:spPr/>
      <dgm:t>
        <a:bodyPr/>
        <a:lstStyle/>
        <a:p>
          <a:endParaRPr lang="en-US"/>
        </a:p>
      </dgm:t>
    </dgm:pt>
    <dgm:pt modelId="{BD935179-6D5D-41E6-A951-5AC8DBA5A1DB}">
      <dgm:prSet custT="1"/>
      <dgm:spPr/>
      <dgm:t>
        <a:bodyPr/>
        <a:lstStyle/>
        <a:p>
          <a:r>
            <a:rPr lang="en-US" sz="1400"/>
            <a:t>Premium-</a:t>
          </a:r>
          <a:r>
            <a:rPr lang="en-US" sz="1400" err="1"/>
            <a:t>Fertigung</a:t>
          </a:r>
          <a:endParaRPr lang="en-US" sz="1400"/>
        </a:p>
      </dgm:t>
    </dgm:pt>
    <dgm:pt modelId="{C77F31B3-87A1-4429-953A-487B3A08A818}" type="parTrans" cxnId="{858E2124-960E-4198-ACD8-CCF568EDAF72}">
      <dgm:prSet/>
      <dgm:spPr/>
      <dgm:t>
        <a:bodyPr/>
        <a:lstStyle/>
        <a:p>
          <a:endParaRPr lang="en-US"/>
        </a:p>
      </dgm:t>
    </dgm:pt>
    <dgm:pt modelId="{31C5A9AE-7D48-4467-AC70-B02FC786B0FD}" type="sibTrans" cxnId="{858E2124-960E-4198-ACD8-CCF568EDAF72}">
      <dgm:prSet/>
      <dgm:spPr/>
      <dgm:t>
        <a:bodyPr/>
        <a:lstStyle/>
        <a:p>
          <a:endParaRPr lang="en-US"/>
        </a:p>
      </dgm:t>
    </dgm:pt>
    <dgm:pt modelId="{CB6F0E57-4FB7-7748-924D-5F64896C3834}">
      <dgm:prSet custT="1"/>
      <dgm:spPr/>
      <dgm:t>
        <a:bodyPr/>
        <a:lstStyle/>
        <a:p>
          <a:r>
            <a:rPr lang="en-US" sz="1400"/>
            <a:t>Design</a:t>
          </a:r>
        </a:p>
      </dgm:t>
    </dgm:pt>
    <dgm:pt modelId="{B8EC7A60-D473-A84F-B9DF-CAA5F7028504}" type="parTrans" cxnId="{ACE098B3-4BB9-6847-AD92-DF7FB161DA22}">
      <dgm:prSet/>
      <dgm:spPr/>
      <dgm:t>
        <a:bodyPr/>
        <a:lstStyle/>
        <a:p>
          <a:endParaRPr lang="en-US"/>
        </a:p>
      </dgm:t>
    </dgm:pt>
    <dgm:pt modelId="{F95B6BDC-FFF5-A743-8F1B-53D85CBBC7CB}" type="sibTrans" cxnId="{ACE098B3-4BB9-6847-AD92-DF7FB161DA22}">
      <dgm:prSet/>
      <dgm:spPr/>
      <dgm:t>
        <a:bodyPr/>
        <a:lstStyle/>
        <a:p>
          <a:endParaRPr lang="en-US"/>
        </a:p>
      </dgm:t>
    </dgm:pt>
    <dgm:pt modelId="{D9215C02-210F-C24D-81E5-07D9665FA7D9}">
      <dgm:prSet custT="1"/>
      <dgm:spPr/>
      <dgm:t>
        <a:bodyPr/>
        <a:lstStyle/>
        <a:p>
          <a:r>
            <a:rPr lang="en-US" sz="1400" err="1"/>
            <a:t>Wiedererkennbares</a:t>
          </a:r>
          <a:r>
            <a:rPr lang="en-US" sz="1400"/>
            <a:t> Porsche-Design</a:t>
          </a:r>
        </a:p>
      </dgm:t>
    </dgm:pt>
    <dgm:pt modelId="{832EE14E-1FE2-354C-8EDF-4ED05235F6E6}" type="parTrans" cxnId="{3762E97B-46F8-1043-8DA0-1FBCBC097E40}">
      <dgm:prSet/>
      <dgm:spPr/>
      <dgm:t>
        <a:bodyPr/>
        <a:lstStyle/>
        <a:p>
          <a:endParaRPr lang="en-US"/>
        </a:p>
      </dgm:t>
    </dgm:pt>
    <dgm:pt modelId="{6A14E933-C9EE-A24F-9E1E-5A89066D03B4}" type="sibTrans" cxnId="{3762E97B-46F8-1043-8DA0-1FBCBC097E40}">
      <dgm:prSet/>
      <dgm:spPr/>
      <dgm:t>
        <a:bodyPr/>
        <a:lstStyle/>
        <a:p>
          <a:endParaRPr lang="en-US"/>
        </a:p>
      </dgm:t>
    </dgm:pt>
    <dgm:pt modelId="{DDA2A357-D4C4-8A42-8656-67FDB8D90DC4}">
      <dgm:prSet custT="1"/>
      <dgm:spPr/>
      <dgm:t>
        <a:bodyPr/>
        <a:lstStyle/>
        <a:p>
          <a:r>
            <a:rPr lang="en-US" sz="1400" err="1"/>
            <a:t>Elektromobilität</a:t>
          </a:r>
          <a:r>
            <a:rPr lang="en-US" sz="1400"/>
            <a:t> und </a:t>
          </a:r>
          <a:r>
            <a:rPr lang="en-US" sz="1400" err="1"/>
            <a:t>Batterietechnik</a:t>
          </a:r>
          <a:endParaRPr lang="en-US" sz="1400"/>
        </a:p>
      </dgm:t>
    </dgm:pt>
    <dgm:pt modelId="{5213097D-999A-414C-9A9B-38FBC2426C6A}" type="parTrans" cxnId="{F5DA5652-CA00-7D49-BDEB-197E556CACAD}">
      <dgm:prSet/>
      <dgm:spPr/>
      <dgm:t>
        <a:bodyPr/>
        <a:lstStyle/>
        <a:p>
          <a:endParaRPr lang="en-US"/>
        </a:p>
      </dgm:t>
    </dgm:pt>
    <dgm:pt modelId="{BF6DB75A-061C-F146-8AE3-15D39A51869E}" type="sibTrans" cxnId="{F5DA5652-CA00-7D49-BDEB-197E556CACAD}">
      <dgm:prSet/>
      <dgm:spPr/>
      <dgm:t>
        <a:bodyPr/>
        <a:lstStyle/>
        <a:p>
          <a:endParaRPr lang="en-US"/>
        </a:p>
      </dgm:t>
    </dgm:pt>
    <dgm:pt modelId="{8821151A-D49B-EF43-B9A3-3D825E8A0EDC}">
      <dgm:prSet custT="1"/>
      <dgm:spPr/>
      <dgm:t>
        <a:bodyPr/>
        <a:lstStyle/>
        <a:p>
          <a:r>
            <a:rPr lang="en-US" sz="1400"/>
            <a:t>Hohe </a:t>
          </a:r>
          <a:r>
            <a:rPr lang="en-US" sz="1400" err="1"/>
            <a:t>Qualitätstandards</a:t>
          </a:r>
          <a:endParaRPr lang="en-US" sz="1400"/>
        </a:p>
      </dgm:t>
    </dgm:pt>
    <dgm:pt modelId="{18DB46AE-02B2-6D46-9839-DCE964FE72D3}" type="parTrans" cxnId="{A3D4D3B2-AF7F-9B4F-8464-DD98C379E9B0}">
      <dgm:prSet/>
      <dgm:spPr/>
      <dgm:t>
        <a:bodyPr/>
        <a:lstStyle/>
        <a:p>
          <a:endParaRPr lang="en-US"/>
        </a:p>
      </dgm:t>
    </dgm:pt>
    <dgm:pt modelId="{2DE8A058-4B5D-7442-B82B-E3AAE75B8A42}" type="sibTrans" cxnId="{A3D4D3B2-AF7F-9B4F-8464-DD98C379E9B0}">
      <dgm:prSet/>
      <dgm:spPr/>
      <dgm:t>
        <a:bodyPr/>
        <a:lstStyle/>
        <a:p>
          <a:endParaRPr lang="en-US"/>
        </a:p>
      </dgm:t>
    </dgm:pt>
    <dgm:pt modelId="{89430A32-C6CB-964E-BDE0-BCB13F85A0DB}">
      <dgm:prSet custT="1"/>
      <dgm:spPr/>
      <dgm:t>
        <a:bodyPr/>
        <a:lstStyle/>
        <a:p>
          <a:r>
            <a:rPr lang="en-US" sz="1400" err="1"/>
            <a:t>Kombination</a:t>
          </a:r>
          <a:r>
            <a:rPr lang="en-US" sz="1400"/>
            <a:t> </a:t>
          </a:r>
          <a:r>
            <a:rPr lang="en-US" sz="1400" err="1"/>
            <a:t>aus</a:t>
          </a:r>
          <a:r>
            <a:rPr lang="en-US" sz="1400"/>
            <a:t> Tradition und Innovation</a:t>
          </a:r>
        </a:p>
      </dgm:t>
    </dgm:pt>
    <dgm:pt modelId="{2C485733-E03D-EF49-B24F-27E70B94FFF9}" type="parTrans" cxnId="{13286B08-4075-C342-98CE-7DF1F9E4E9C7}">
      <dgm:prSet/>
      <dgm:spPr/>
      <dgm:t>
        <a:bodyPr/>
        <a:lstStyle/>
        <a:p>
          <a:endParaRPr lang="en-US"/>
        </a:p>
      </dgm:t>
    </dgm:pt>
    <dgm:pt modelId="{A0518607-2273-B94E-B0BC-333F68D5675B}" type="sibTrans" cxnId="{13286B08-4075-C342-98CE-7DF1F9E4E9C7}">
      <dgm:prSet/>
      <dgm:spPr/>
      <dgm:t>
        <a:bodyPr/>
        <a:lstStyle/>
        <a:p>
          <a:endParaRPr lang="en-US"/>
        </a:p>
      </dgm:t>
    </dgm:pt>
    <dgm:pt modelId="{DBA65D31-CFE8-504D-8518-5BA47DB907FF}">
      <dgm:prSet custT="1"/>
      <dgm:spPr/>
      <dgm:t>
        <a:bodyPr/>
        <a:lstStyle/>
        <a:p>
          <a:r>
            <a:rPr lang="en-US" sz="1400"/>
            <a:t>Marketing und </a:t>
          </a:r>
          <a:r>
            <a:rPr lang="en-US" sz="1400" err="1"/>
            <a:t>Vertrieb</a:t>
          </a:r>
          <a:endParaRPr lang="en-US" sz="1400"/>
        </a:p>
      </dgm:t>
    </dgm:pt>
    <dgm:pt modelId="{1DD79F38-A2ED-AB4A-B482-21D70B555318}" type="parTrans" cxnId="{0ED8EE72-F577-AE45-9D63-7689685E58E4}">
      <dgm:prSet/>
      <dgm:spPr/>
      <dgm:t>
        <a:bodyPr/>
        <a:lstStyle/>
        <a:p>
          <a:endParaRPr lang="en-US"/>
        </a:p>
      </dgm:t>
    </dgm:pt>
    <dgm:pt modelId="{C9AD1AA2-2679-3048-B29D-2407121DF986}" type="sibTrans" cxnId="{0ED8EE72-F577-AE45-9D63-7689685E58E4}">
      <dgm:prSet/>
      <dgm:spPr/>
      <dgm:t>
        <a:bodyPr/>
        <a:lstStyle/>
        <a:p>
          <a:endParaRPr lang="en-US"/>
        </a:p>
      </dgm:t>
    </dgm:pt>
    <dgm:pt modelId="{40ECF476-10B8-F44C-8C37-E89570B7ABBD}">
      <dgm:prSet custT="1"/>
      <dgm:spPr/>
      <dgm:t>
        <a:bodyPr/>
        <a:lstStyle/>
        <a:p>
          <a:r>
            <a:rPr lang="en-US" sz="1400"/>
            <a:t>Starke </a:t>
          </a:r>
          <a:r>
            <a:rPr lang="en-US" sz="1400" err="1"/>
            <a:t>Marktführung</a:t>
          </a:r>
          <a:endParaRPr lang="en-US" sz="1400"/>
        </a:p>
      </dgm:t>
    </dgm:pt>
    <dgm:pt modelId="{ECFAB3D5-7F1C-3249-AB1C-00BBACB9D2B8}" type="parTrans" cxnId="{E5B3FD7E-8965-4A4F-B3D9-D544151A677A}">
      <dgm:prSet/>
      <dgm:spPr/>
      <dgm:t>
        <a:bodyPr/>
        <a:lstStyle/>
        <a:p>
          <a:endParaRPr lang="en-US"/>
        </a:p>
      </dgm:t>
    </dgm:pt>
    <dgm:pt modelId="{CAC2B1D9-581F-4B47-8AE1-8366D8C51BCF}" type="sibTrans" cxnId="{E5B3FD7E-8965-4A4F-B3D9-D544151A677A}">
      <dgm:prSet/>
      <dgm:spPr/>
      <dgm:t>
        <a:bodyPr/>
        <a:lstStyle/>
        <a:p>
          <a:endParaRPr lang="en-US"/>
        </a:p>
      </dgm:t>
    </dgm:pt>
    <dgm:pt modelId="{5C1A8E48-2D32-B846-8868-CAEE94C5ACEE}">
      <dgm:prSet custT="1"/>
      <dgm:spPr/>
      <dgm:t>
        <a:bodyPr/>
        <a:lstStyle/>
        <a:p>
          <a:r>
            <a:rPr lang="en-US" sz="1400"/>
            <a:t>Hohe </a:t>
          </a:r>
          <a:r>
            <a:rPr lang="en-US" sz="1400" err="1"/>
            <a:t>Kundenbindung</a:t>
          </a:r>
          <a:endParaRPr lang="en-US" sz="1400"/>
        </a:p>
      </dgm:t>
    </dgm:pt>
    <dgm:pt modelId="{D8186FD2-686A-3344-831F-AB087DA41803}" type="parTrans" cxnId="{87302A25-5895-D044-92A8-E4BCAFF260CD}">
      <dgm:prSet/>
      <dgm:spPr/>
      <dgm:t>
        <a:bodyPr/>
        <a:lstStyle/>
        <a:p>
          <a:endParaRPr lang="en-US"/>
        </a:p>
      </dgm:t>
    </dgm:pt>
    <dgm:pt modelId="{949F273F-D4D2-CF49-86F7-7B826A9AE1E8}" type="sibTrans" cxnId="{87302A25-5895-D044-92A8-E4BCAFF260CD}">
      <dgm:prSet/>
      <dgm:spPr/>
      <dgm:t>
        <a:bodyPr/>
        <a:lstStyle/>
        <a:p>
          <a:endParaRPr lang="en-US"/>
        </a:p>
      </dgm:t>
    </dgm:pt>
    <dgm:pt modelId="{B77AAF22-294C-FE4B-A044-1CC64D96BD8F}">
      <dgm:prSet custT="1"/>
      <dgm:spPr/>
      <dgm:t>
        <a:bodyPr/>
        <a:lstStyle/>
        <a:p>
          <a:r>
            <a:rPr lang="en-US" sz="1400"/>
            <a:t>Service</a:t>
          </a:r>
        </a:p>
      </dgm:t>
    </dgm:pt>
    <dgm:pt modelId="{99529D07-C2DB-8047-8EA5-CCB7744178B8}" type="parTrans" cxnId="{7FD88425-45CE-1D41-866E-59520F255C6A}">
      <dgm:prSet/>
      <dgm:spPr/>
      <dgm:t>
        <a:bodyPr/>
        <a:lstStyle/>
        <a:p>
          <a:endParaRPr lang="en-US"/>
        </a:p>
      </dgm:t>
    </dgm:pt>
    <dgm:pt modelId="{02E89779-3202-334C-A624-F0C9B7277366}" type="sibTrans" cxnId="{7FD88425-45CE-1D41-866E-59520F255C6A}">
      <dgm:prSet/>
      <dgm:spPr/>
      <dgm:t>
        <a:bodyPr/>
        <a:lstStyle/>
        <a:p>
          <a:endParaRPr lang="en-US"/>
        </a:p>
      </dgm:t>
    </dgm:pt>
    <dgm:pt modelId="{87CAF1DA-80B6-6E46-833C-F2C868230A64}">
      <dgm:prSet custT="1"/>
      <dgm:spPr/>
      <dgm:t>
        <a:bodyPr/>
        <a:lstStyle/>
        <a:p>
          <a:r>
            <a:rPr lang="en-US" sz="1400" err="1"/>
            <a:t>Weltweites</a:t>
          </a:r>
          <a:r>
            <a:rPr lang="en-US" sz="1400"/>
            <a:t> Service- und </a:t>
          </a:r>
          <a:r>
            <a:rPr lang="en-US" sz="1400" err="1"/>
            <a:t>Händlernetz</a:t>
          </a:r>
          <a:endParaRPr lang="en-US" sz="1400"/>
        </a:p>
      </dgm:t>
    </dgm:pt>
    <dgm:pt modelId="{2101EFF0-325F-2744-B7AD-C26B4553B202}" type="parTrans" cxnId="{21D65B49-F446-064B-8851-18C8F08DF137}">
      <dgm:prSet/>
      <dgm:spPr/>
      <dgm:t>
        <a:bodyPr/>
        <a:lstStyle/>
        <a:p>
          <a:endParaRPr lang="en-US"/>
        </a:p>
      </dgm:t>
    </dgm:pt>
    <dgm:pt modelId="{B998F3CE-34B2-C847-A43E-C0F39900E69A}" type="sibTrans" cxnId="{21D65B49-F446-064B-8851-18C8F08DF137}">
      <dgm:prSet/>
      <dgm:spPr/>
      <dgm:t>
        <a:bodyPr/>
        <a:lstStyle/>
        <a:p>
          <a:endParaRPr lang="en-US"/>
        </a:p>
      </dgm:t>
    </dgm:pt>
    <dgm:pt modelId="{77743D47-FC50-1543-961B-421ACD4B3A86}">
      <dgm:prSet custT="1"/>
      <dgm:spPr/>
      <dgm:t>
        <a:bodyPr/>
        <a:lstStyle/>
        <a:p>
          <a:r>
            <a:rPr lang="en-US" sz="1400" err="1"/>
            <a:t>Digitales</a:t>
          </a:r>
          <a:r>
            <a:rPr lang="en-US" sz="1400"/>
            <a:t> </a:t>
          </a:r>
          <a:r>
            <a:rPr lang="en-US" sz="1400" err="1"/>
            <a:t>Kundendienste</a:t>
          </a:r>
          <a:endParaRPr lang="en-US" sz="1400"/>
        </a:p>
      </dgm:t>
    </dgm:pt>
    <dgm:pt modelId="{4AA26083-BF4A-6B49-B8FD-F25292AC89A7}" type="parTrans" cxnId="{3946418A-8FCF-1949-814C-B93AB910F084}">
      <dgm:prSet/>
      <dgm:spPr/>
      <dgm:t>
        <a:bodyPr/>
        <a:lstStyle/>
        <a:p>
          <a:endParaRPr lang="en-US"/>
        </a:p>
      </dgm:t>
    </dgm:pt>
    <dgm:pt modelId="{E888429A-DE82-1849-B00F-DC58C4CD9DEC}" type="sibTrans" cxnId="{3946418A-8FCF-1949-814C-B93AB910F084}">
      <dgm:prSet/>
      <dgm:spPr/>
      <dgm:t>
        <a:bodyPr/>
        <a:lstStyle/>
        <a:p>
          <a:endParaRPr lang="en-US"/>
        </a:p>
      </dgm:t>
    </dgm:pt>
    <dgm:pt modelId="{00030396-05C1-9942-96E1-6B6BE2405EAA}" type="pres">
      <dgm:prSet presAssocID="{59B48725-8164-48E2-83AE-6A0F034E462B}" presName="linear" presStyleCnt="0">
        <dgm:presLayoutVars>
          <dgm:dir/>
          <dgm:animLvl val="lvl"/>
          <dgm:resizeHandles val="exact"/>
        </dgm:presLayoutVars>
      </dgm:prSet>
      <dgm:spPr/>
    </dgm:pt>
    <dgm:pt modelId="{6F03F502-C2DF-DF49-BC61-7232A7DEE0CF}" type="pres">
      <dgm:prSet presAssocID="{C56D2CC8-C45D-4E18-B90B-54073C21F11D}" presName="parentLin" presStyleCnt="0"/>
      <dgm:spPr/>
    </dgm:pt>
    <dgm:pt modelId="{42D43E87-9907-2A43-945A-965102CFB845}" type="pres">
      <dgm:prSet presAssocID="{C56D2CC8-C45D-4E18-B90B-54073C21F11D}" presName="parentLeftMargin" presStyleLbl="node1" presStyleIdx="0" presStyleCnt="5"/>
      <dgm:spPr/>
    </dgm:pt>
    <dgm:pt modelId="{33167095-FB17-394F-9171-76DBB7052190}" type="pres">
      <dgm:prSet presAssocID="{C56D2CC8-C45D-4E18-B90B-54073C21F11D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93169E09-A52D-AC46-BE8F-5391994D0514}" type="pres">
      <dgm:prSet presAssocID="{C56D2CC8-C45D-4E18-B90B-54073C21F11D}" presName="negativeSpace" presStyleCnt="0"/>
      <dgm:spPr/>
    </dgm:pt>
    <dgm:pt modelId="{35CEA706-903E-F241-AC8F-50D0F712E7C1}" type="pres">
      <dgm:prSet presAssocID="{C56D2CC8-C45D-4E18-B90B-54073C21F11D}" presName="childText" presStyleLbl="conFgAcc1" presStyleIdx="0" presStyleCnt="5">
        <dgm:presLayoutVars>
          <dgm:bulletEnabled val="1"/>
        </dgm:presLayoutVars>
      </dgm:prSet>
      <dgm:spPr/>
    </dgm:pt>
    <dgm:pt modelId="{E19D3269-19F3-0041-919A-8FBA52E12DAE}" type="pres">
      <dgm:prSet presAssocID="{89C48FA8-710C-437F-BFF9-10423656F7C3}" presName="spaceBetweenRectangles" presStyleCnt="0"/>
      <dgm:spPr/>
    </dgm:pt>
    <dgm:pt modelId="{67CA3CD5-92B5-7F4E-B694-E632D0B25F08}" type="pres">
      <dgm:prSet presAssocID="{E9B2743D-E813-4ED6-B7B3-4B2993A6FCD9}" presName="parentLin" presStyleCnt="0"/>
      <dgm:spPr/>
    </dgm:pt>
    <dgm:pt modelId="{E9FCE9E4-876F-F844-9CB1-460EFB6F2B18}" type="pres">
      <dgm:prSet presAssocID="{E9B2743D-E813-4ED6-B7B3-4B2993A6FCD9}" presName="parentLeftMargin" presStyleLbl="node1" presStyleIdx="0" presStyleCnt="5"/>
      <dgm:spPr/>
    </dgm:pt>
    <dgm:pt modelId="{196EF647-398A-CA4B-AF4C-FB6AF0167BB6}" type="pres">
      <dgm:prSet presAssocID="{E9B2743D-E813-4ED6-B7B3-4B2993A6FCD9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21F7A3F4-0250-7E46-AE2A-53771559068A}" type="pres">
      <dgm:prSet presAssocID="{E9B2743D-E813-4ED6-B7B3-4B2993A6FCD9}" presName="negativeSpace" presStyleCnt="0"/>
      <dgm:spPr/>
    </dgm:pt>
    <dgm:pt modelId="{11965E2B-CBE5-4F45-B0BB-379EAC21032B}" type="pres">
      <dgm:prSet presAssocID="{E9B2743D-E813-4ED6-B7B3-4B2993A6FCD9}" presName="childText" presStyleLbl="conFgAcc1" presStyleIdx="1" presStyleCnt="5">
        <dgm:presLayoutVars>
          <dgm:bulletEnabled val="1"/>
        </dgm:presLayoutVars>
      </dgm:prSet>
      <dgm:spPr/>
    </dgm:pt>
    <dgm:pt modelId="{344D3030-AE94-0543-BDCD-3E7CC9AD859B}" type="pres">
      <dgm:prSet presAssocID="{0D10EED2-FE71-4A74-89D3-D4BD8FA006FB}" presName="spaceBetweenRectangles" presStyleCnt="0"/>
      <dgm:spPr/>
    </dgm:pt>
    <dgm:pt modelId="{1C771FBA-361D-5143-BE8A-5799C09B1DD2}" type="pres">
      <dgm:prSet presAssocID="{CB6F0E57-4FB7-7748-924D-5F64896C3834}" presName="parentLin" presStyleCnt="0"/>
      <dgm:spPr/>
    </dgm:pt>
    <dgm:pt modelId="{8EA095CA-E29B-8A4D-96F8-4B6F004FDB39}" type="pres">
      <dgm:prSet presAssocID="{CB6F0E57-4FB7-7748-924D-5F64896C3834}" presName="parentLeftMargin" presStyleLbl="node1" presStyleIdx="1" presStyleCnt="5"/>
      <dgm:spPr/>
    </dgm:pt>
    <dgm:pt modelId="{7776384E-C1B1-7A44-8475-EE49241621E7}" type="pres">
      <dgm:prSet presAssocID="{CB6F0E57-4FB7-7748-924D-5F64896C3834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411CE63E-7984-ED4A-A28F-3CD25201F725}" type="pres">
      <dgm:prSet presAssocID="{CB6F0E57-4FB7-7748-924D-5F64896C3834}" presName="negativeSpace" presStyleCnt="0"/>
      <dgm:spPr/>
    </dgm:pt>
    <dgm:pt modelId="{00638775-915F-9C46-A89C-6B4065C44AA4}" type="pres">
      <dgm:prSet presAssocID="{CB6F0E57-4FB7-7748-924D-5F64896C3834}" presName="childText" presStyleLbl="conFgAcc1" presStyleIdx="2" presStyleCnt="5">
        <dgm:presLayoutVars>
          <dgm:bulletEnabled val="1"/>
        </dgm:presLayoutVars>
      </dgm:prSet>
      <dgm:spPr/>
    </dgm:pt>
    <dgm:pt modelId="{C6682391-5826-A24B-AC99-7D07B23019F3}" type="pres">
      <dgm:prSet presAssocID="{F95B6BDC-FFF5-A743-8F1B-53D85CBBC7CB}" presName="spaceBetweenRectangles" presStyleCnt="0"/>
      <dgm:spPr/>
    </dgm:pt>
    <dgm:pt modelId="{372AF10D-5869-FC4B-8F6F-909821456E2F}" type="pres">
      <dgm:prSet presAssocID="{DBA65D31-CFE8-504D-8518-5BA47DB907FF}" presName="parentLin" presStyleCnt="0"/>
      <dgm:spPr/>
    </dgm:pt>
    <dgm:pt modelId="{11293576-C96A-3846-AE19-82FAE130DE95}" type="pres">
      <dgm:prSet presAssocID="{DBA65D31-CFE8-504D-8518-5BA47DB907FF}" presName="parentLeftMargin" presStyleLbl="node1" presStyleIdx="2" presStyleCnt="5"/>
      <dgm:spPr/>
    </dgm:pt>
    <dgm:pt modelId="{8976F83F-C199-2A44-87E2-C7B655AF159F}" type="pres">
      <dgm:prSet presAssocID="{DBA65D31-CFE8-504D-8518-5BA47DB907FF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996F1689-22CA-9C48-9A7F-0B3E4C2220AA}" type="pres">
      <dgm:prSet presAssocID="{DBA65D31-CFE8-504D-8518-5BA47DB907FF}" presName="negativeSpace" presStyleCnt="0"/>
      <dgm:spPr/>
    </dgm:pt>
    <dgm:pt modelId="{83500B52-E3EA-6842-931F-41F21938943F}" type="pres">
      <dgm:prSet presAssocID="{DBA65D31-CFE8-504D-8518-5BA47DB907FF}" presName="childText" presStyleLbl="conFgAcc1" presStyleIdx="3" presStyleCnt="5">
        <dgm:presLayoutVars>
          <dgm:bulletEnabled val="1"/>
        </dgm:presLayoutVars>
      </dgm:prSet>
      <dgm:spPr/>
    </dgm:pt>
    <dgm:pt modelId="{C891EAC1-71D7-034D-B2F9-9FC010D78609}" type="pres">
      <dgm:prSet presAssocID="{C9AD1AA2-2679-3048-B29D-2407121DF986}" presName="spaceBetweenRectangles" presStyleCnt="0"/>
      <dgm:spPr/>
    </dgm:pt>
    <dgm:pt modelId="{3D518E93-9552-F24F-B322-C75E33D8FA7C}" type="pres">
      <dgm:prSet presAssocID="{B77AAF22-294C-FE4B-A044-1CC64D96BD8F}" presName="parentLin" presStyleCnt="0"/>
      <dgm:spPr/>
    </dgm:pt>
    <dgm:pt modelId="{9788A8CC-5C29-744F-A9C5-864CB7EF86D2}" type="pres">
      <dgm:prSet presAssocID="{B77AAF22-294C-FE4B-A044-1CC64D96BD8F}" presName="parentLeftMargin" presStyleLbl="node1" presStyleIdx="3" presStyleCnt="5"/>
      <dgm:spPr/>
    </dgm:pt>
    <dgm:pt modelId="{634501AD-78A2-7E44-8711-2D7B9436BCEB}" type="pres">
      <dgm:prSet presAssocID="{B77AAF22-294C-FE4B-A044-1CC64D96BD8F}" presName="parentText" presStyleLbl="node1" presStyleIdx="4" presStyleCnt="5">
        <dgm:presLayoutVars>
          <dgm:chMax val="0"/>
          <dgm:bulletEnabled val="1"/>
        </dgm:presLayoutVars>
      </dgm:prSet>
      <dgm:spPr/>
    </dgm:pt>
    <dgm:pt modelId="{20B14D35-4235-1943-8104-076CB09A49E0}" type="pres">
      <dgm:prSet presAssocID="{B77AAF22-294C-FE4B-A044-1CC64D96BD8F}" presName="negativeSpace" presStyleCnt="0"/>
      <dgm:spPr/>
    </dgm:pt>
    <dgm:pt modelId="{35B2E7C8-0118-BA47-869C-4A9F621397AC}" type="pres">
      <dgm:prSet presAssocID="{B77AAF22-294C-FE4B-A044-1CC64D96BD8F}" presName="childText" presStyleLbl="conFgAcc1" presStyleIdx="4" presStyleCnt="5">
        <dgm:presLayoutVars>
          <dgm:bulletEnabled val="1"/>
        </dgm:presLayoutVars>
      </dgm:prSet>
      <dgm:spPr/>
    </dgm:pt>
  </dgm:ptLst>
  <dgm:cxnLst>
    <dgm:cxn modelId="{32BD7605-F8DD-BD4C-A376-C514A9653925}" type="presOf" srcId="{77743D47-FC50-1543-961B-421ACD4B3A86}" destId="{35B2E7C8-0118-BA47-869C-4A9F621397AC}" srcOrd="0" destOrd="1" presId="urn:microsoft.com/office/officeart/2005/8/layout/list1"/>
    <dgm:cxn modelId="{A8242407-0912-2848-B695-F02E23467821}" type="presOf" srcId="{C56D2CC8-C45D-4E18-B90B-54073C21F11D}" destId="{42D43E87-9907-2A43-945A-965102CFB845}" srcOrd="0" destOrd="0" presId="urn:microsoft.com/office/officeart/2005/8/layout/list1"/>
    <dgm:cxn modelId="{13286B08-4075-C342-98CE-7DF1F9E4E9C7}" srcId="{CB6F0E57-4FB7-7748-924D-5F64896C3834}" destId="{89430A32-C6CB-964E-BDE0-BCB13F85A0DB}" srcOrd="1" destOrd="0" parTransId="{2C485733-E03D-EF49-B24F-27E70B94FFF9}" sibTransId="{A0518607-2273-B94E-B0BC-333F68D5675B}"/>
    <dgm:cxn modelId="{A1EEE50F-0871-F546-B4FF-FA6DC6251DDB}" type="presOf" srcId="{BD935179-6D5D-41E6-A951-5AC8DBA5A1DB}" destId="{11965E2B-CBE5-4F45-B0BB-379EAC21032B}" srcOrd="0" destOrd="0" presId="urn:microsoft.com/office/officeart/2005/8/layout/list1"/>
    <dgm:cxn modelId="{858E2124-960E-4198-ACD8-CCF568EDAF72}" srcId="{E9B2743D-E813-4ED6-B7B3-4B2993A6FCD9}" destId="{BD935179-6D5D-41E6-A951-5AC8DBA5A1DB}" srcOrd="0" destOrd="0" parTransId="{C77F31B3-87A1-4429-953A-487B3A08A818}" sibTransId="{31C5A9AE-7D48-4467-AC70-B02FC786B0FD}"/>
    <dgm:cxn modelId="{87302A25-5895-D044-92A8-E4BCAFF260CD}" srcId="{DBA65D31-CFE8-504D-8518-5BA47DB907FF}" destId="{5C1A8E48-2D32-B846-8868-CAEE94C5ACEE}" srcOrd="1" destOrd="0" parTransId="{D8186FD2-686A-3344-831F-AB087DA41803}" sibTransId="{949F273F-D4D2-CF49-86F7-7B826A9AE1E8}"/>
    <dgm:cxn modelId="{7FD88425-45CE-1D41-866E-59520F255C6A}" srcId="{59B48725-8164-48E2-83AE-6A0F034E462B}" destId="{B77AAF22-294C-FE4B-A044-1CC64D96BD8F}" srcOrd="4" destOrd="0" parTransId="{99529D07-C2DB-8047-8EA5-CCB7744178B8}" sibTransId="{02E89779-3202-334C-A624-F0C9B7277366}"/>
    <dgm:cxn modelId="{B217C22A-F393-4B3A-BD52-BE7D0ED54CB1}" srcId="{59B48725-8164-48E2-83AE-6A0F034E462B}" destId="{E9B2743D-E813-4ED6-B7B3-4B2993A6FCD9}" srcOrd="1" destOrd="0" parTransId="{071F5E14-BCCA-4F70-8057-AFF3B4C7153F}" sibTransId="{0D10EED2-FE71-4A74-89D3-D4BD8FA006FB}"/>
    <dgm:cxn modelId="{9765A237-1E89-B347-8BEB-28CAC35FDC45}" type="presOf" srcId="{E9B2743D-E813-4ED6-B7B3-4B2993A6FCD9}" destId="{196EF647-398A-CA4B-AF4C-FB6AF0167BB6}" srcOrd="1" destOrd="0" presId="urn:microsoft.com/office/officeart/2005/8/layout/list1"/>
    <dgm:cxn modelId="{35E9933C-3104-3143-9F95-8B3F7DC9C07C}" type="presOf" srcId="{87CAF1DA-80B6-6E46-833C-F2C868230A64}" destId="{35B2E7C8-0118-BA47-869C-4A9F621397AC}" srcOrd="0" destOrd="0" presId="urn:microsoft.com/office/officeart/2005/8/layout/list1"/>
    <dgm:cxn modelId="{8ED0573F-0B40-7E4C-9A81-7ABD33ACECF4}" type="presOf" srcId="{DBA65D31-CFE8-504D-8518-5BA47DB907FF}" destId="{11293576-C96A-3846-AE19-82FAE130DE95}" srcOrd="0" destOrd="0" presId="urn:microsoft.com/office/officeart/2005/8/layout/list1"/>
    <dgm:cxn modelId="{5E7E6447-018D-4D43-8777-6552871451C1}" type="presOf" srcId="{B77AAF22-294C-FE4B-A044-1CC64D96BD8F}" destId="{634501AD-78A2-7E44-8711-2D7B9436BCEB}" srcOrd="1" destOrd="0" presId="urn:microsoft.com/office/officeart/2005/8/layout/list1"/>
    <dgm:cxn modelId="{21D65B49-F446-064B-8851-18C8F08DF137}" srcId="{B77AAF22-294C-FE4B-A044-1CC64D96BD8F}" destId="{87CAF1DA-80B6-6E46-833C-F2C868230A64}" srcOrd="0" destOrd="0" parTransId="{2101EFF0-325F-2744-B7AD-C26B4553B202}" sibTransId="{B998F3CE-34B2-C847-A43E-C0F39900E69A}"/>
    <dgm:cxn modelId="{5DEB164C-D3FC-9348-8247-0D314FB81F21}" type="presOf" srcId="{DBA65D31-CFE8-504D-8518-5BA47DB907FF}" destId="{8976F83F-C199-2A44-87E2-C7B655AF159F}" srcOrd="1" destOrd="0" presId="urn:microsoft.com/office/officeart/2005/8/layout/list1"/>
    <dgm:cxn modelId="{F5DA5652-CA00-7D49-BDEB-197E556CACAD}" srcId="{C56D2CC8-C45D-4E18-B90B-54073C21F11D}" destId="{DDA2A357-D4C4-8A42-8656-67FDB8D90DC4}" srcOrd="1" destOrd="0" parTransId="{5213097D-999A-414C-9A9B-38FBC2426C6A}" sibTransId="{BF6DB75A-061C-F146-8AE3-15D39A51869E}"/>
    <dgm:cxn modelId="{60271D55-FED6-8D4F-BA23-18D9881648C0}" type="presOf" srcId="{E9B2743D-E813-4ED6-B7B3-4B2993A6FCD9}" destId="{E9FCE9E4-876F-F844-9CB1-460EFB6F2B18}" srcOrd="0" destOrd="0" presId="urn:microsoft.com/office/officeart/2005/8/layout/list1"/>
    <dgm:cxn modelId="{F473E756-3AFC-CE46-B7D5-7E2068245AC9}" type="presOf" srcId="{59B48725-8164-48E2-83AE-6A0F034E462B}" destId="{00030396-05C1-9942-96E1-6B6BE2405EAA}" srcOrd="0" destOrd="0" presId="urn:microsoft.com/office/officeart/2005/8/layout/list1"/>
    <dgm:cxn modelId="{D55FEB58-4674-0B44-BBEC-8683ED0E8C82}" type="presOf" srcId="{8821151A-D49B-EF43-B9A3-3D825E8A0EDC}" destId="{11965E2B-CBE5-4F45-B0BB-379EAC21032B}" srcOrd="0" destOrd="1" presId="urn:microsoft.com/office/officeart/2005/8/layout/list1"/>
    <dgm:cxn modelId="{85EED15B-CDAB-394D-96E6-71D715C45450}" type="presOf" srcId="{40ECF476-10B8-F44C-8C37-E89570B7ABBD}" destId="{83500B52-E3EA-6842-931F-41F21938943F}" srcOrd="0" destOrd="0" presId="urn:microsoft.com/office/officeart/2005/8/layout/list1"/>
    <dgm:cxn modelId="{84739461-851F-4412-9426-435F9D759BD2}" srcId="{C56D2CC8-C45D-4E18-B90B-54073C21F11D}" destId="{F7A837DC-A90A-4895-B089-0530387F1145}" srcOrd="0" destOrd="0" parTransId="{593376E8-5632-4408-86EF-F01E4DF2FC34}" sibTransId="{0547D193-59CF-49B0-98AA-9778832CD715}"/>
    <dgm:cxn modelId="{716D8765-A976-C94F-94B4-97903F853851}" type="presOf" srcId="{CB6F0E57-4FB7-7748-924D-5F64896C3834}" destId="{8EA095CA-E29B-8A4D-96F8-4B6F004FDB39}" srcOrd="0" destOrd="0" presId="urn:microsoft.com/office/officeart/2005/8/layout/list1"/>
    <dgm:cxn modelId="{0ED8EE72-F577-AE45-9D63-7689685E58E4}" srcId="{59B48725-8164-48E2-83AE-6A0F034E462B}" destId="{DBA65D31-CFE8-504D-8518-5BA47DB907FF}" srcOrd="3" destOrd="0" parTransId="{1DD79F38-A2ED-AB4A-B482-21D70B555318}" sibTransId="{C9AD1AA2-2679-3048-B29D-2407121DF986}"/>
    <dgm:cxn modelId="{0E03987B-FD3C-7C49-8A2D-1E22A8843428}" type="presOf" srcId="{D9215C02-210F-C24D-81E5-07D9665FA7D9}" destId="{00638775-915F-9C46-A89C-6B4065C44AA4}" srcOrd="0" destOrd="0" presId="urn:microsoft.com/office/officeart/2005/8/layout/list1"/>
    <dgm:cxn modelId="{3762E97B-46F8-1043-8DA0-1FBCBC097E40}" srcId="{CB6F0E57-4FB7-7748-924D-5F64896C3834}" destId="{D9215C02-210F-C24D-81E5-07D9665FA7D9}" srcOrd="0" destOrd="0" parTransId="{832EE14E-1FE2-354C-8EDF-4ED05235F6E6}" sibTransId="{6A14E933-C9EE-A24F-9E1E-5A89066D03B4}"/>
    <dgm:cxn modelId="{E5B3FD7E-8965-4A4F-B3D9-D544151A677A}" srcId="{DBA65D31-CFE8-504D-8518-5BA47DB907FF}" destId="{40ECF476-10B8-F44C-8C37-E89570B7ABBD}" srcOrd="0" destOrd="0" parTransId="{ECFAB3D5-7F1C-3249-AB1C-00BBACB9D2B8}" sibTransId="{CAC2B1D9-581F-4B47-8AE1-8366D8C51BCF}"/>
    <dgm:cxn modelId="{76180180-FC0E-FB4B-B137-FAE306C4279C}" type="presOf" srcId="{C56D2CC8-C45D-4E18-B90B-54073C21F11D}" destId="{33167095-FB17-394F-9171-76DBB7052190}" srcOrd="1" destOrd="0" presId="urn:microsoft.com/office/officeart/2005/8/layout/list1"/>
    <dgm:cxn modelId="{752ACF87-A157-A543-A9EC-5B5536C71A15}" type="presOf" srcId="{5C1A8E48-2D32-B846-8868-CAEE94C5ACEE}" destId="{83500B52-E3EA-6842-931F-41F21938943F}" srcOrd="0" destOrd="1" presId="urn:microsoft.com/office/officeart/2005/8/layout/list1"/>
    <dgm:cxn modelId="{3946418A-8FCF-1949-814C-B93AB910F084}" srcId="{B77AAF22-294C-FE4B-A044-1CC64D96BD8F}" destId="{77743D47-FC50-1543-961B-421ACD4B3A86}" srcOrd="1" destOrd="0" parTransId="{4AA26083-BF4A-6B49-B8FD-F25292AC89A7}" sibTransId="{E888429A-DE82-1849-B00F-DC58C4CD9DEC}"/>
    <dgm:cxn modelId="{D65EEA8C-D444-5D4A-9789-47C02D85C90A}" type="presOf" srcId="{F7A837DC-A90A-4895-B089-0530387F1145}" destId="{35CEA706-903E-F241-AC8F-50D0F712E7C1}" srcOrd="0" destOrd="0" presId="urn:microsoft.com/office/officeart/2005/8/layout/list1"/>
    <dgm:cxn modelId="{A71D359E-5BB6-524D-85EE-0738A7D57C0B}" type="presOf" srcId="{DDA2A357-D4C4-8A42-8656-67FDB8D90DC4}" destId="{35CEA706-903E-F241-AC8F-50D0F712E7C1}" srcOrd="0" destOrd="1" presId="urn:microsoft.com/office/officeart/2005/8/layout/list1"/>
    <dgm:cxn modelId="{B3AB78A7-95D5-1D4C-A5A1-16FC5A8DD49B}" type="presOf" srcId="{89430A32-C6CB-964E-BDE0-BCB13F85A0DB}" destId="{00638775-915F-9C46-A89C-6B4065C44AA4}" srcOrd="0" destOrd="1" presId="urn:microsoft.com/office/officeart/2005/8/layout/list1"/>
    <dgm:cxn modelId="{AD48CBAB-2B1F-5F41-B78D-2D60E98992DB}" type="presOf" srcId="{B77AAF22-294C-FE4B-A044-1CC64D96BD8F}" destId="{9788A8CC-5C29-744F-A9C5-864CB7EF86D2}" srcOrd="0" destOrd="0" presId="urn:microsoft.com/office/officeart/2005/8/layout/list1"/>
    <dgm:cxn modelId="{A3D4D3B2-AF7F-9B4F-8464-DD98C379E9B0}" srcId="{E9B2743D-E813-4ED6-B7B3-4B2993A6FCD9}" destId="{8821151A-D49B-EF43-B9A3-3D825E8A0EDC}" srcOrd="1" destOrd="0" parTransId="{18DB46AE-02B2-6D46-9839-DCE964FE72D3}" sibTransId="{2DE8A058-4B5D-7442-B82B-E3AAE75B8A42}"/>
    <dgm:cxn modelId="{ACE098B3-4BB9-6847-AD92-DF7FB161DA22}" srcId="{59B48725-8164-48E2-83AE-6A0F034E462B}" destId="{CB6F0E57-4FB7-7748-924D-5F64896C3834}" srcOrd="2" destOrd="0" parTransId="{B8EC7A60-D473-A84F-B9DF-CAA5F7028504}" sibTransId="{F95B6BDC-FFF5-A743-8F1B-53D85CBBC7CB}"/>
    <dgm:cxn modelId="{2ECDD3CA-8260-4828-A315-7A38C1478EE6}" srcId="{59B48725-8164-48E2-83AE-6A0F034E462B}" destId="{C56D2CC8-C45D-4E18-B90B-54073C21F11D}" srcOrd="0" destOrd="0" parTransId="{2A3E0714-CC4C-462A-A188-122DF104917B}" sibTransId="{89C48FA8-710C-437F-BFF9-10423656F7C3}"/>
    <dgm:cxn modelId="{B0921EFE-A315-2E45-9161-5B05F48B2CD4}" type="presOf" srcId="{CB6F0E57-4FB7-7748-924D-5F64896C3834}" destId="{7776384E-C1B1-7A44-8475-EE49241621E7}" srcOrd="1" destOrd="0" presId="urn:microsoft.com/office/officeart/2005/8/layout/list1"/>
    <dgm:cxn modelId="{CD1843A6-5C48-0643-8FE4-01300E1A8951}" type="presParOf" srcId="{00030396-05C1-9942-96E1-6B6BE2405EAA}" destId="{6F03F502-C2DF-DF49-BC61-7232A7DEE0CF}" srcOrd="0" destOrd="0" presId="urn:microsoft.com/office/officeart/2005/8/layout/list1"/>
    <dgm:cxn modelId="{701C2181-2B0B-3647-9B0C-6FB7AD927959}" type="presParOf" srcId="{6F03F502-C2DF-DF49-BC61-7232A7DEE0CF}" destId="{42D43E87-9907-2A43-945A-965102CFB845}" srcOrd="0" destOrd="0" presId="urn:microsoft.com/office/officeart/2005/8/layout/list1"/>
    <dgm:cxn modelId="{B3E32596-B45B-7A4D-A2F1-82783E77063C}" type="presParOf" srcId="{6F03F502-C2DF-DF49-BC61-7232A7DEE0CF}" destId="{33167095-FB17-394F-9171-76DBB7052190}" srcOrd="1" destOrd="0" presId="urn:microsoft.com/office/officeart/2005/8/layout/list1"/>
    <dgm:cxn modelId="{CC67AFB1-69A9-C74D-AE33-122B31D16CC9}" type="presParOf" srcId="{00030396-05C1-9942-96E1-6B6BE2405EAA}" destId="{93169E09-A52D-AC46-BE8F-5391994D0514}" srcOrd="1" destOrd="0" presId="urn:microsoft.com/office/officeart/2005/8/layout/list1"/>
    <dgm:cxn modelId="{9F73A90E-2CCD-E248-AFB1-630461C8BF24}" type="presParOf" srcId="{00030396-05C1-9942-96E1-6B6BE2405EAA}" destId="{35CEA706-903E-F241-AC8F-50D0F712E7C1}" srcOrd="2" destOrd="0" presId="urn:microsoft.com/office/officeart/2005/8/layout/list1"/>
    <dgm:cxn modelId="{BD689CDF-537A-8C4F-94B1-12C1090AABF2}" type="presParOf" srcId="{00030396-05C1-9942-96E1-6B6BE2405EAA}" destId="{E19D3269-19F3-0041-919A-8FBA52E12DAE}" srcOrd="3" destOrd="0" presId="urn:microsoft.com/office/officeart/2005/8/layout/list1"/>
    <dgm:cxn modelId="{A0B84CF2-425E-5B4E-9CE8-604EC4B5D697}" type="presParOf" srcId="{00030396-05C1-9942-96E1-6B6BE2405EAA}" destId="{67CA3CD5-92B5-7F4E-B694-E632D0B25F08}" srcOrd="4" destOrd="0" presId="urn:microsoft.com/office/officeart/2005/8/layout/list1"/>
    <dgm:cxn modelId="{24D03010-4E56-0445-A122-CA7BA25CD9BF}" type="presParOf" srcId="{67CA3CD5-92B5-7F4E-B694-E632D0B25F08}" destId="{E9FCE9E4-876F-F844-9CB1-460EFB6F2B18}" srcOrd="0" destOrd="0" presId="urn:microsoft.com/office/officeart/2005/8/layout/list1"/>
    <dgm:cxn modelId="{0C8F9D4B-E4F6-DD41-ACBE-2901AF573DE3}" type="presParOf" srcId="{67CA3CD5-92B5-7F4E-B694-E632D0B25F08}" destId="{196EF647-398A-CA4B-AF4C-FB6AF0167BB6}" srcOrd="1" destOrd="0" presId="urn:microsoft.com/office/officeart/2005/8/layout/list1"/>
    <dgm:cxn modelId="{9A834F0A-0210-2047-9A8B-EF66B98A708D}" type="presParOf" srcId="{00030396-05C1-9942-96E1-6B6BE2405EAA}" destId="{21F7A3F4-0250-7E46-AE2A-53771559068A}" srcOrd="5" destOrd="0" presId="urn:microsoft.com/office/officeart/2005/8/layout/list1"/>
    <dgm:cxn modelId="{37729AE1-9D1F-7146-A0CA-4B3EE67EABC6}" type="presParOf" srcId="{00030396-05C1-9942-96E1-6B6BE2405EAA}" destId="{11965E2B-CBE5-4F45-B0BB-379EAC21032B}" srcOrd="6" destOrd="0" presId="urn:microsoft.com/office/officeart/2005/8/layout/list1"/>
    <dgm:cxn modelId="{445BCF0F-44DA-2C42-A590-CD8DA4C8AF8D}" type="presParOf" srcId="{00030396-05C1-9942-96E1-6B6BE2405EAA}" destId="{344D3030-AE94-0543-BDCD-3E7CC9AD859B}" srcOrd="7" destOrd="0" presId="urn:microsoft.com/office/officeart/2005/8/layout/list1"/>
    <dgm:cxn modelId="{07C5A28D-3E8C-064E-87E0-DC11B2534F7F}" type="presParOf" srcId="{00030396-05C1-9942-96E1-6B6BE2405EAA}" destId="{1C771FBA-361D-5143-BE8A-5799C09B1DD2}" srcOrd="8" destOrd="0" presId="urn:microsoft.com/office/officeart/2005/8/layout/list1"/>
    <dgm:cxn modelId="{BFCC27C9-5B8D-D344-8184-9BFCE51F65D0}" type="presParOf" srcId="{1C771FBA-361D-5143-BE8A-5799C09B1DD2}" destId="{8EA095CA-E29B-8A4D-96F8-4B6F004FDB39}" srcOrd="0" destOrd="0" presId="urn:microsoft.com/office/officeart/2005/8/layout/list1"/>
    <dgm:cxn modelId="{85CB5F99-0724-7945-A0F2-EAC40370C7DB}" type="presParOf" srcId="{1C771FBA-361D-5143-BE8A-5799C09B1DD2}" destId="{7776384E-C1B1-7A44-8475-EE49241621E7}" srcOrd="1" destOrd="0" presId="urn:microsoft.com/office/officeart/2005/8/layout/list1"/>
    <dgm:cxn modelId="{29FD265F-1E00-F142-B45D-374172B9C541}" type="presParOf" srcId="{00030396-05C1-9942-96E1-6B6BE2405EAA}" destId="{411CE63E-7984-ED4A-A28F-3CD25201F725}" srcOrd="9" destOrd="0" presId="urn:microsoft.com/office/officeart/2005/8/layout/list1"/>
    <dgm:cxn modelId="{96068E2B-A5E4-9045-ABEF-1E78D98B89F1}" type="presParOf" srcId="{00030396-05C1-9942-96E1-6B6BE2405EAA}" destId="{00638775-915F-9C46-A89C-6B4065C44AA4}" srcOrd="10" destOrd="0" presId="urn:microsoft.com/office/officeart/2005/8/layout/list1"/>
    <dgm:cxn modelId="{A7B11015-A847-4A41-9039-01F58D8158FB}" type="presParOf" srcId="{00030396-05C1-9942-96E1-6B6BE2405EAA}" destId="{C6682391-5826-A24B-AC99-7D07B23019F3}" srcOrd="11" destOrd="0" presId="urn:microsoft.com/office/officeart/2005/8/layout/list1"/>
    <dgm:cxn modelId="{6461CD72-3164-4F40-A4F6-72B2600E517A}" type="presParOf" srcId="{00030396-05C1-9942-96E1-6B6BE2405EAA}" destId="{372AF10D-5869-FC4B-8F6F-909821456E2F}" srcOrd="12" destOrd="0" presId="urn:microsoft.com/office/officeart/2005/8/layout/list1"/>
    <dgm:cxn modelId="{1444EEEC-ABC4-9742-8078-4A3947ADA6CC}" type="presParOf" srcId="{372AF10D-5869-FC4B-8F6F-909821456E2F}" destId="{11293576-C96A-3846-AE19-82FAE130DE95}" srcOrd="0" destOrd="0" presId="urn:microsoft.com/office/officeart/2005/8/layout/list1"/>
    <dgm:cxn modelId="{7C564619-75CC-5646-90B9-A6660B6AA12D}" type="presParOf" srcId="{372AF10D-5869-FC4B-8F6F-909821456E2F}" destId="{8976F83F-C199-2A44-87E2-C7B655AF159F}" srcOrd="1" destOrd="0" presId="urn:microsoft.com/office/officeart/2005/8/layout/list1"/>
    <dgm:cxn modelId="{D9E0A309-E582-4845-9F12-34EE4FB771BF}" type="presParOf" srcId="{00030396-05C1-9942-96E1-6B6BE2405EAA}" destId="{996F1689-22CA-9C48-9A7F-0B3E4C2220AA}" srcOrd="13" destOrd="0" presId="urn:microsoft.com/office/officeart/2005/8/layout/list1"/>
    <dgm:cxn modelId="{2538DA74-A594-E14A-86FA-0437F139DDCA}" type="presParOf" srcId="{00030396-05C1-9942-96E1-6B6BE2405EAA}" destId="{83500B52-E3EA-6842-931F-41F21938943F}" srcOrd="14" destOrd="0" presId="urn:microsoft.com/office/officeart/2005/8/layout/list1"/>
    <dgm:cxn modelId="{FA479998-11B5-8644-8BC0-8FA89E8532D8}" type="presParOf" srcId="{00030396-05C1-9942-96E1-6B6BE2405EAA}" destId="{C891EAC1-71D7-034D-B2F9-9FC010D78609}" srcOrd="15" destOrd="0" presId="urn:microsoft.com/office/officeart/2005/8/layout/list1"/>
    <dgm:cxn modelId="{9F623E37-3C45-514C-932B-1E61EC58D1F6}" type="presParOf" srcId="{00030396-05C1-9942-96E1-6B6BE2405EAA}" destId="{3D518E93-9552-F24F-B322-C75E33D8FA7C}" srcOrd="16" destOrd="0" presId="urn:microsoft.com/office/officeart/2005/8/layout/list1"/>
    <dgm:cxn modelId="{D0AA21A8-E1AE-8345-AAEA-81394871F8F1}" type="presParOf" srcId="{3D518E93-9552-F24F-B322-C75E33D8FA7C}" destId="{9788A8CC-5C29-744F-A9C5-864CB7EF86D2}" srcOrd="0" destOrd="0" presId="urn:microsoft.com/office/officeart/2005/8/layout/list1"/>
    <dgm:cxn modelId="{5615A67A-8385-C746-859E-5FBB094C2E83}" type="presParOf" srcId="{3D518E93-9552-F24F-B322-C75E33D8FA7C}" destId="{634501AD-78A2-7E44-8711-2D7B9436BCEB}" srcOrd="1" destOrd="0" presId="urn:microsoft.com/office/officeart/2005/8/layout/list1"/>
    <dgm:cxn modelId="{F1281520-1A33-4A4D-B75F-F4021E33EC4E}" type="presParOf" srcId="{00030396-05C1-9942-96E1-6B6BE2405EAA}" destId="{20B14D35-4235-1943-8104-076CB09A49E0}" srcOrd="17" destOrd="0" presId="urn:microsoft.com/office/officeart/2005/8/layout/list1"/>
    <dgm:cxn modelId="{68EDC79B-5D2C-5A42-B064-EFC91FFDD7AE}" type="presParOf" srcId="{00030396-05C1-9942-96E1-6B6BE2405EAA}" destId="{35B2E7C8-0118-BA47-869C-4A9F621397AC}" srcOrd="18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59B48725-8164-48E2-83AE-6A0F034E462B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56D2CC8-C45D-4E18-B90B-54073C21F11D}">
      <dgm:prSet custT="1"/>
      <dgm:spPr/>
      <dgm:t>
        <a:bodyPr/>
        <a:lstStyle/>
        <a:p>
          <a:r>
            <a:rPr lang="en-US" sz="1400" err="1"/>
            <a:t>Entwicklung</a:t>
          </a:r>
          <a:r>
            <a:rPr lang="en-US" sz="1400"/>
            <a:t> </a:t>
          </a:r>
          <a:r>
            <a:rPr lang="en-US" sz="1400" err="1"/>
            <a:t>leistungsstarker</a:t>
          </a:r>
          <a:r>
            <a:rPr lang="en-US" sz="1400"/>
            <a:t> </a:t>
          </a:r>
          <a:r>
            <a:rPr lang="en-US" sz="1400" err="1"/>
            <a:t>Premiumfahrzeuge</a:t>
          </a:r>
          <a:endParaRPr lang="en-US" sz="1400"/>
        </a:p>
      </dgm:t>
    </dgm:pt>
    <dgm:pt modelId="{2A3E0714-CC4C-462A-A188-122DF104917B}" type="parTrans" cxnId="{2ECDD3CA-8260-4828-A315-7A38C1478EE6}">
      <dgm:prSet/>
      <dgm:spPr/>
      <dgm:t>
        <a:bodyPr/>
        <a:lstStyle/>
        <a:p>
          <a:endParaRPr lang="en-US"/>
        </a:p>
      </dgm:t>
    </dgm:pt>
    <dgm:pt modelId="{89C48FA8-710C-437F-BFF9-10423656F7C3}" type="sibTrans" cxnId="{2ECDD3CA-8260-4828-A315-7A38C1478EE6}">
      <dgm:prSet/>
      <dgm:spPr/>
      <dgm:t>
        <a:bodyPr/>
        <a:lstStyle/>
        <a:p>
          <a:endParaRPr lang="en-US"/>
        </a:p>
      </dgm:t>
    </dgm:pt>
    <dgm:pt modelId="{F7A837DC-A90A-4895-B089-0530387F1145}">
      <dgm:prSet custT="1"/>
      <dgm:spPr/>
      <dgm:t>
        <a:bodyPr/>
        <a:lstStyle/>
        <a:p>
          <a:r>
            <a:rPr lang="en-US" sz="1400" err="1"/>
            <a:t>Fahrdynamik</a:t>
          </a:r>
          <a:endParaRPr lang="en-US" sz="1400"/>
        </a:p>
      </dgm:t>
    </dgm:pt>
    <dgm:pt modelId="{593376E8-5632-4408-86EF-F01E4DF2FC34}" type="parTrans" cxnId="{84739461-851F-4412-9426-435F9D759BD2}">
      <dgm:prSet/>
      <dgm:spPr/>
      <dgm:t>
        <a:bodyPr/>
        <a:lstStyle/>
        <a:p>
          <a:endParaRPr lang="en-US"/>
        </a:p>
      </dgm:t>
    </dgm:pt>
    <dgm:pt modelId="{0547D193-59CF-49B0-98AA-9778832CD715}" type="sibTrans" cxnId="{84739461-851F-4412-9426-435F9D759BD2}">
      <dgm:prSet/>
      <dgm:spPr/>
      <dgm:t>
        <a:bodyPr/>
        <a:lstStyle/>
        <a:p>
          <a:endParaRPr lang="en-US"/>
        </a:p>
      </dgm:t>
    </dgm:pt>
    <dgm:pt modelId="{E9B2743D-E813-4ED6-B7B3-4B2993A6FCD9}">
      <dgm:prSet custT="1"/>
      <dgm:spPr/>
      <dgm:t>
        <a:bodyPr/>
        <a:lstStyle/>
        <a:p>
          <a:r>
            <a:rPr lang="en-US" sz="1400"/>
            <a:t>Premium-</a:t>
          </a:r>
          <a:r>
            <a:rPr lang="en-US" sz="1400" err="1"/>
            <a:t>Marktführung</a:t>
          </a:r>
          <a:r>
            <a:rPr lang="en-US" sz="1400"/>
            <a:t> </a:t>
          </a:r>
        </a:p>
      </dgm:t>
    </dgm:pt>
    <dgm:pt modelId="{071F5E14-BCCA-4F70-8057-AFF3B4C7153F}" type="parTrans" cxnId="{B217C22A-F393-4B3A-BD52-BE7D0ED54CB1}">
      <dgm:prSet/>
      <dgm:spPr/>
      <dgm:t>
        <a:bodyPr/>
        <a:lstStyle/>
        <a:p>
          <a:endParaRPr lang="en-US"/>
        </a:p>
      </dgm:t>
    </dgm:pt>
    <dgm:pt modelId="{0D10EED2-FE71-4A74-89D3-D4BD8FA006FB}" type="sibTrans" cxnId="{B217C22A-F393-4B3A-BD52-BE7D0ED54CB1}">
      <dgm:prSet/>
      <dgm:spPr/>
      <dgm:t>
        <a:bodyPr/>
        <a:lstStyle/>
        <a:p>
          <a:endParaRPr lang="en-US"/>
        </a:p>
      </dgm:t>
    </dgm:pt>
    <dgm:pt modelId="{BD935179-6D5D-41E6-A951-5AC8DBA5A1DB}">
      <dgm:prSet custT="1"/>
      <dgm:spPr/>
      <dgm:t>
        <a:bodyPr/>
        <a:lstStyle/>
        <a:p>
          <a:r>
            <a:rPr lang="en-US" sz="1400" err="1"/>
            <a:t>Exklusivität</a:t>
          </a:r>
          <a:endParaRPr lang="en-US" sz="1400"/>
        </a:p>
      </dgm:t>
    </dgm:pt>
    <dgm:pt modelId="{C77F31B3-87A1-4429-953A-487B3A08A818}" type="parTrans" cxnId="{858E2124-960E-4198-ACD8-CCF568EDAF72}">
      <dgm:prSet/>
      <dgm:spPr/>
      <dgm:t>
        <a:bodyPr/>
        <a:lstStyle/>
        <a:p>
          <a:endParaRPr lang="en-US"/>
        </a:p>
      </dgm:t>
    </dgm:pt>
    <dgm:pt modelId="{31C5A9AE-7D48-4467-AC70-B02FC786B0FD}" type="sibTrans" cxnId="{858E2124-960E-4198-ACD8-CCF568EDAF72}">
      <dgm:prSet/>
      <dgm:spPr/>
      <dgm:t>
        <a:bodyPr/>
        <a:lstStyle/>
        <a:p>
          <a:endParaRPr lang="en-US"/>
        </a:p>
      </dgm:t>
    </dgm:pt>
    <dgm:pt modelId="{CB6F0E57-4FB7-7748-924D-5F64896C3834}">
      <dgm:prSet custT="1"/>
      <dgm:spPr/>
      <dgm:t>
        <a:bodyPr/>
        <a:lstStyle/>
        <a:p>
          <a:r>
            <a:rPr lang="en-US" sz="1400" err="1"/>
            <a:t>Technologische</a:t>
          </a:r>
          <a:r>
            <a:rPr lang="en-US" sz="1400"/>
            <a:t> Transformation</a:t>
          </a:r>
        </a:p>
      </dgm:t>
    </dgm:pt>
    <dgm:pt modelId="{B8EC7A60-D473-A84F-B9DF-CAA5F7028504}" type="parTrans" cxnId="{ACE098B3-4BB9-6847-AD92-DF7FB161DA22}">
      <dgm:prSet/>
      <dgm:spPr/>
      <dgm:t>
        <a:bodyPr/>
        <a:lstStyle/>
        <a:p>
          <a:endParaRPr lang="en-US"/>
        </a:p>
      </dgm:t>
    </dgm:pt>
    <dgm:pt modelId="{F95B6BDC-FFF5-A743-8F1B-53D85CBBC7CB}" type="sibTrans" cxnId="{ACE098B3-4BB9-6847-AD92-DF7FB161DA22}">
      <dgm:prSet/>
      <dgm:spPr/>
      <dgm:t>
        <a:bodyPr/>
        <a:lstStyle/>
        <a:p>
          <a:endParaRPr lang="en-US"/>
        </a:p>
      </dgm:t>
    </dgm:pt>
    <dgm:pt modelId="{D9215C02-210F-C24D-81E5-07D9665FA7D9}">
      <dgm:prSet custT="1"/>
      <dgm:spPr/>
      <dgm:t>
        <a:bodyPr/>
        <a:lstStyle/>
        <a:p>
          <a:r>
            <a:rPr lang="en-US" sz="1400" err="1"/>
            <a:t>Elektromobilität</a:t>
          </a:r>
          <a:endParaRPr lang="en-US" sz="1400"/>
        </a:p>
      </dgm:t>
    </dgm:pt>
    <dgm:pt modelId="{832EE14E-1FE2-354C-8EDF-4ED05235F6E6}" type="parTrans" cxnId="{3762E97B-46F8-1043-8DA0-1FBCBC097E40}">
      <dgm:prSet/>
      <dgm:spPr/>
      <dgm:t>
        <a:bodyPr/>
        <a:lstStyle/>
        <a:p>
          <a:endParaRPr lang="en-US"/>
        </a:p>
      </dgm:t>
    </dgm:pt>
    <dgm:pt modelId="{6A14E933-C9EE-A24F-9E1E-5A89066D03B4}" type="sibTrans" cxnId="{3762E97B-46F8-1043-8DA0-1FBCBC097E40}">
      <dgm:prSet/>
      <dgm:spPr/>
      <dgm:t>
        <a:bodyPr/>
        <a:lstStyle/>
        <a:p>
          <a:endParaRPr lang="en-US"/>
        </a:p>
      </dgm:t>
    </dgm:pt>
    <dgm:pt modelId="{A9E01AB2-DB94-7447-A25D-1F5A64189369}">
      <dgm:prSet custT="1"/>
      <dgm:spPr/>
      <dgm:t>
        <a:bodyPr/>
        <a:lstStyle/>
        <a:p>
          <a:r>
            <a:rPr lang="en-US" sz="1400" err="1"/>
            <a:t>Qualität</a:t>
          </a:r>
          <a:endParaRPr lang="en-US" sz="1400"/>
        </a:p>
      </dgm:t>
    </dgm:pt>
    <dgm:pt modelId="{18B4420C-7085-7C4D-BB16-2DBE88CA875A}" type="parTrans" cxnId="{61A34582-93D3-7A40-B5C0-9A6D831D65E9}">
      <dgm:prSet/>
      <dgm:spPr/>
      <dgm:t>
        <a:bodyPr/>
        <a:lstStyle/>
        <a:p>
          <a:endParaRPr lang="en-US"/>
        </a:p>
      </dgm:t>
    </dgm:pt>
    <dgm:pt modelId="{AF1EE2D1-F073-7547-955F-BE52E3A58C79}" type="sibTrans" cxnId="{61A34582-93D3-7A40-B5C0-9A6D831D65E9}">
      <dgm:prSet/>
      <dgm:spPr/>
      <dgm:t>
        <a:bodyPr/>
        <a:lstStyle/>
        <a:p>
          <a:endParaRPr lang="en-US"/>
        </a:p>
      </dgm:t>
    </dgm:pt>
    <dgm:pt modelId="{0C710009-82BB-7640-B224-2BA7B52EE180}">
      <dgm:prSet custT="1"/>
      <dgm:spPr/>
      <dgm:t>
        <a:bodyPr/>
        <a:lstStyle/>
        <a:p>
          <a:r>
            <a:rPr lang="en-US" sz="1400"/>
            <a:t>Innovation</a:t>
          </a:r>
        </a:p>
      </dgm:t>
    </dgm:pt>
    <dgm:pt modelId="{0CF2DB84-414F-C341-8E83-9BBC5AE8111A}" type="parTrans" cxnId="{B145DF1B-B207-8842-9EB5-61562B65A56A}">
      <dgm:prSet/>
      <dgm:spPr/>
      <dgm:t>
        <a:bodyPr/>
        <a:lstStyle/>
        <a:p>
          <a:endParaRPr lang="en-US"/>
        </a:p>
      </dgm:t>
    </dgm:pt>
    <dgm:pt modelId="{10ABF6CD-B1BD-8642-9D1B-A81FAA3E0FA3}" type="sibTrans" cxnId="{B145DF1B-B207-8842-9EB5-61562B65A56A}">
      <dgm:prSet/>
      <dgm:spPr/>
      <dgm:t>
        <a:bodyPr/>
        <a:lstStyle/>
        <a:p>
          <a:endParaRPr lang="en-US"/>
        </a:p>
      </dgm:t>
    </dgm:pt>
    <dgm:pt modelId="{344BD48C-6097-D544-B9F1-1FE328F94989}">
      <dgm:prSet custT="1"/>
      <dgm:spPr/>
      <dgm:t>
        <a:bodyPr/>
        <a:lstStyle/>
        <a:p>
          <a:r>
            <a:rPr lang="en-US" sz="1400"/>
            <a:t>Hohe </a:t>
          </a:r>
          <a:r>
            <a:rPr lang="en-US" sz="1400" err="1"/>
            <a:t>Kundenloyalität</a:t>
          </a:r>
          <a:endParaRPr lang="en-US" sz="1400"/>
        </a:p>
      </dgm:t>
    </dgm:pt>
    <dgm:pt modelId="{D5C8833B-CDB5-3645-B9D0-F9FB8943CD7B}" type="parTrans" cxnId="{D7929DDE-1C1F-8F4D-A851-3E44D0354ED9}">
      <dgm:prSet/>
      <dgm:spPr/>
      <dgm:t>
        <a:bodyPr/>
        <a:lstStyle/>
        <a:p>
          <a:endParaRPr lang="en-US"/>
        </a:p>
      </dgm:t>
    </dgm:pt>
    <dgm:pt modelId="{9BEDB8F0-21A9-794A-96CD-8717500A3848}" type="sibTrans" cxnId="{D7929DDE-1C1F-8F4D-A851-3E44D0354ED9}">
      <dgm:prSet/>
      <dgm:spPr/>
      <dgm:t>
        <a:bodyPr/>
        <a:lstStyle/>
        <a:p>
          <a:endParaRPr lang="en-US"/>
        </a:p>
      </dgm:t>
    </dgm:pt>
    <dgm:pt modelId="{5C55BA16-E3BF-AC42-AD37-2CAAD013965D}">
      <dgm:prSet custT="1"/>
      <dgm:spPr/>
      <dgm:t>
        <a:bodyPr/>
        <a:lstStyle/>
        <a:p>
          <a:r>
            <a:rPr lang="en-US" sz="1400"/>
            <a:t>Hohe </a:t>
          </a:r>
          <a:r>
            <a:rPr lang="en-US" sz="1400" err="1"/>
            <a:t>Preisbereitschaft</a:t>
          </a:r>
          <a:endParaRPr lang="en-US" sz="1400"/>
        </a:p>
      </dgm:t>
    </dgm:pt>
    <dgm:pt modelId="{DA47E86B-C00C-0E41-BFE7-AEA81BFDDD75}" type="parTrans" cxnId="{8BDC2238-5295-B740-A703-29FE9C817C70}">
      <dgm:prSet/>
      <dgm:spPr/>
      <dgm:t>
        <a:bodyPr/>
        <a:lstStyle/>
        <a:p>
          <a:endParaRPr lang="en-US"/>
        </a:p>
      </dgm:t>
    </dgm:pt>
    <dgm:pt modelId="{84321658-BF2D-0940-B775-5103EF489D30}" type="sibTrans" cxnId="{8BDC2238-5295-B740-A703-29FE9C817C70}">
      <dgm:prSet/>
      <dgm:spPr/>
      <dgm:t>
        <a:bodyPr/>
        <a:lstStyle/>
        <a:p>
          <a:endParaRPr lang="en-US"/>
        </a:p>
      </dgm:t>
    </dgm:pt>
    <dgm:pt modelId="{ED23B666-57F8-134E-BC23-2C0DA39A6A61}">
      <dgm:prSet custT="1"/>
      <dgm:spPr/>
      <dgm:t>
        <a:bodyPr/>
        <a:lstStyle/>
        <a:p>
          <a:r>
            <a:rPr lang="en-US" sz="1400"/>
            <a:t>Software</a:t>
          </a:r>
        </a:p>
      </dgm:t>
    </dgm:pt>
    <dgm:pt modelId="{69C91B18-2D08-1944-BAAF-0E9F97BB9934}" type="parTrans" cxnId="{C63D3391-AA3A-7349-A6EE-38B5A246E688}">
      <dgm:prSet/>
      <dgm:spPr/>
      <dgm:t>
        <a:bodyPr/>
        <a:lstStyle/>
        <a:p>
          <a:endParaRPr lang="en-US"/>
        </a:p>
      </dgm:t>
    </dgm:pt>
    <dgm:pt modelId="{BD171BD0-A0E9-9844-A504-9407AA42E093}" type="sibTrans" cxnId="{C63D3391-AA3A-7349-A6EE-38B5A246E688}">
      <dgm:prSet/>
      <dgm:spPr/>
      <dgm:t>
        <a:bodyPr/>
        <a:lstStyle/>
        <a:p>
          <a:endParaRPr lang="en-US"/>
        </a:p>
      </dgm:t>
    </dgm:pt>
    <dgm:pt modelId="{D2FC57FA-7A10-194E-A9EC-A09F46EC6DF2}">
      <dgm:prSet custT="1"/>
      <dgm:spPr/>
      <dgm:t>
        <a:bodyPr/>
        <a:lstStyle/>
        <a:p>
          <a:r>
            <a:rPr lang="en-US" sz="1400" err="1"/>
            <a:t>Digitalisierung</a:t>
          </a:r>
          <a:endParaRPr lang="en-US" sz="1400"/>
        </a:p>
      </dgm:t>
    </dgm:pt>
    <dgm:pt modelId="{9F7A77BB-A07D-E94E-A6A1-BC9F38F8BBD0}" type="parTrans" cxnId="{942F37F8-8787-7B48-829D-AFE5E1A890E2}">
      <dgm:prSet/>
      <dgm:spPr/>
      <dgm:t>
        <a:bodyPr/>
        <a:lstStyle/>
        <a:p>
          <a:endParaRPr lang="en-US"/>
        </a:p>
      </dgm:t>
    </dgm:pt>
    <dgm:pt modelId="{A4A85D66-2787-6B48-BAB7-8DEC1BBC36AC}" type="sibTrans" cxnId="{942F37F8-8787-7B48-829D-AFE5E1A890E2}">
      <dgm:prSet/>
      <dgm:spPr/>
      <dgm:t>
        <a:bodyPr/>
        <a:lstStyle/>
        <a:p>
          <a:endParaRPr lang="en-US"/>
        </a:p>
      </dgm:t>
    </dgm:pt>
    <dgm:pt modelId="{00030396-05C1-9942-96E1-6B6BE2405EAA}" type="pres">
      <dgm:prSet presAssocID="{59B48725-8164-48E2-83AE-6A0F034E462B}" presName="linear" presStyleCnt="0">
        <dgm:presLayoutVars>
          <dgm:dir/>
          <dgm:animLvl val="lvl"/>
          <dgm:resizeHandles val="exact"/>
        </dgm:presLayoutVars>
      </dgm:prSet>
      <dgm:spPr/>
    </dgm:pt>
    <dgm:pt modelId="{6F03F502-C2DF-DF49-BC61-7232A7DEE0CF}" type="pres">
      <dgm:prSet presAssocID="{C56D2CC8-C45D-4E18-B90B-54073C21F11D}" presName="parentLin" presStyleCnt="0"/>
      <dgm:spPr/>
    </dgm:pt>
    <dgm:pt modelId="{42D43E87-9907-2A43-945A-965102CFB845}" type="pres">
      <dgm:prSet presAssocID="{C56D2CC8-C45D-4E18-B90B-54073C21F11D}" presName="parentLeftMargin" presStyleLbl="node1" presStyleIdx="0" presStyleCnt="3"/>
      <dgm:spPr/>
    </dgm:pt>
    <dgm:pt modelId="{33167095-FB17-394F-9171-76DBB7052190}" type="pres">
      <dgm:prSet presAssocID="{C56D2CC8-C45D-4E18-B90B-54073C21F11D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93169E09-A52D-AC46-BE8F-5391994D0514}" type="pres">
      <dgm:prSet presAssocID="{C56D2CC8-C45D-4E18-B90B-54073C21F11D}" presName="negativeSpace" presStyleCnt="0"/>
      <dgm:spPr/>
    </dgm:pt>
    <dgm:pt modelId="{35CEA706-903E-F241-AC8F-50D0F712E7C1}" type="pres">
      <dgm:prSet presAssocID="{C56D2CC8-C45D-4E18-B90B-54073C21F11D}" presName="childText" presStyleLbl="conFgAcc1" presStyleIdx="0" presStyleCnt="3">
        <dgm:presLayoutVars>
          <dgm:bulletEnabled val="1"/>
        </dgm:presLayoutVars>
      </dgm:prSet>
      <dgm:spPr/>
    </dgm:pt>
    <dgm:pt modelId="{E19D3269-19F3-0041-919A-8FBA52E12DAE}" type="pres">
      <dgm:prSet presAssocID="{89C48FA8-710C-437F-BFF9-10423656F7C3}" presName="spaceBetweenRectangles" presStyleCnt="0"/>
      <dgm:spPr/>
    </dgm:pt>
    <dgm:pt modelId="{67CA3CD5-92B5-7F4E-B694-E632D0B25F08}" type="pres">
      <dgm:prSet presAssocID="{E9B2743D-E813-4ED6-B7B3-4B2993A6FCD9}" presName="parentLin" presStyleCnt="0"/>
      <dgm:spPr/>
    </dgm:pt>
    <dgm:pt modelId="{E9FCE9E4-876F-F844-9CB1-460EFB6F2B18}" type="pres">
      <dgm:prSet presAssocID="{E9B2743D-E813-4ED6-B7B3-4B2993A6FCD9}" presName="parentLeftMargin" presStyleLbl="node1" presStyleIdx="0" presStyleCnt="3"/>
      <dgm:spPr/>
    </dgm:pt>
    <dgm:pt modelId="{196EF647-398A-CA4B-AF4C-FB6AF0167BB6}" type="pres">
      <dgm:prSet presAssocID="{E9B2743D-E813-4ED6-B7B3-4B2993A6FCD9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21F7A3F4-0250-7E46-AE2A-53771559068A}" type="pres">
      <dgm:prSet presAssocID="{E9B2743D-E813-4ED6-B7B3-4B2993A6FCD9}" presName="negativeSpace" presStyleCnt="0"/>
      <dgm:spPr/>
    </dgm:pt>
    <dgm:pt modelId="{11965E2B-CBE5-4F45-B0BB-379EAC21032B}" type="pres">
      <dgm:prSet presAssocID="{E9B2743D-E813-4ED6-B7B3-4B2993A6FCD9}" presName="childText" presStyleLbl="conFgAcc1" presStyleIdx="1" presStyleCnt="3">
        <dgm:presLayoutVars>
          <dgm:bulletEnabled val="1"/>
        </dgm:presLayoutVars>
      </dgm:prSet>
      <dgm:spPr/>
    </dgm:pt>
    <dgm:pt modelId="{344D3030-AE94-0543-BDCD-3E7CC9AD859B}" type="pres">
      <dgm:prSet presAssocID="{0D10EED2-FE71-4A74-89D3-D4BD8FA006FB}" presName="spaceBetweenRectangles" presStyleCnt="0"/>
      <dgm:spPr/>
    </dgm:pt>
    <dgm:pt modelId="{1C771FBA-361D-5143-BE8A-5799C09B1DD2}" type="pres">
      <dgm:prSet presAssocID="{CB6F0E57-4FB7-7748-924D-5F64896C3834}" presName="parentLin" presStyleCnt="0"/>
      <dgm:spPr/>
    </dgm:pt>
    <dgm:pt modelId="{8EA095CA-E29B-8A4D-96F8-4B6F004FDB39}" type="pres">
      <dgm:prSet presAssocID="{CB6F0E57-4FB7-7748-924D-5F64896C3834}" presName="parentLeftMargin" presStyleLbl="node1" presStyleIdx="1" presStyleCnt="3"/>
      <dgm:spPr/>
    </dgm:pt>
    <dgm:pt modelId="{7776384E-C1B1-7A44-8475-EE49241621E7}" type="pres">
      <dgm:prSet presAssocID="{CB6F0E57-4FB7-7748-924D-5F64896C3834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411CE63E-7984-ED4A-A28F-3CD25201F725}" type="pres">
      <dgm:prSet presAssocID="{CB6F0E57-4FB7-7748-924D-5F64896C3834}" presName="negativeSpace" presStyleCnt="0"/>
      <dgm:spPr/>
    </dgm:pt>
    <dgm:pt modelId="{00638775-915F-9C46-A89C-6B4065C44AA4}" type="pres">
      <dgm:prSet presAssocID="{CB6F0E57-4FB7-7748-924D-5F64896C3834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A8242407-0912-2848-B695-F02E23467821}" type="presOf" srcId="{C56D2CC8-C45D-4E18-B90B-54073C21F11D}" destId="{42D43E87-9907-2A43-945A-965102CFB845}" srcOrd="0" destOrd="0" presId="urn:microsoft.com/office/officeart/2005/8/layout/list1"/>
    <dgm:cxn modelId="{A1EEE50F-0871-F546-B4FF-FA6DC6251DDB}" type="presOf" srcId="{BD935179-6D5D-41E6-A951-5AC8DBA5A1DB}" destId="{11965E2B-CBE5-4F45-B0BB-379EAC21032B}" srcOrd="0" destOrd="0" presId="urn:microsoft.com/office/officeart/2005/8/layout/list1"/>
    <dgm:cxn modelId="{B145DF1B-B207-8842-9EB5-61562B65A56A}" srcId="{C56D2CC8-C45D-4E18-B90B-54073C21F11D}" destId="{0C710009-82BB-7640-B224-2BA7B52EE180}" srcOrd="2" destOrd="0" parTransId="{0CF2DB84-414F-C341-8E83-9BBC5AE8111A}" sibTransId="{10ABF6CD-B1BD-8642-9D1B-A81FAA3E0FA3}"/>
    <dgm:cxn modelId="{858E2124-960E-4198-ACD8-CCF568EDAF72}" srcId="{E9B2743D-E813-4ED6-B7B3-4B2993A6FCD9}" destId="{BD935179-6D5D-41E6-A951-5AC8DBA5A1DB}" srcOrd="0" destOrd="0" parTransId="{C77F31B3-87A1-4429-953A-487B3A08A818}" sibTransId="{31C5A9AE-7D48-4467-AC70-B02FC786B0FD}"/>
    <dgm:cxn modelId="{B217C22A-F393-4B3A-BD52-BE7D0ED54CB1}" srcId="{59B48725-8164-48E2-83AE-6A0F034E462B}" destId="{E9B2743D-E813-4ED6-B7B3-4B2993A6FCD9}" srcOrd="1" destOrd="0" parTransId="{071F5E14-BCCA-4F70-8057-AFF3B4C7153F}" sibTransId="{0D10EED2-FE71-4A74-89D3-D4BD8FA006FB}"/>
    <dgm:cxn modelId="{9765A237-1E89-B347-8BEB-28CAC35FDC45}" type="presOf" srcId="{E9B2743D-E813-4ED6-B7B3-4B2993A6FCD9}" destId="{196EF647-398A-CA4B-AF4C-FB6AF0167BB6}" srcOrd="1" destOrd="0" presId="urn:microsoft.com/office/officeart/2005/8/layout/list1"/>
    <dgm:cxn modelId="{8BDC2238-5295-B740-A703-29FE9C817C70}" srcId="{E9B2743D-E813-4ED6-B7B3-4B2993A6FCD9}" destId="{5C55BA16-E3BF-AC42-AD37-2CAAD013965D}" srcOrd="2" destOrd="0" parTransId="{DA47E86B-C00C-0E41-BFE7-AEA81BFDDD75}" sibTransId="{84321658-BF2D-0940-B775-5103EF489D30}"/>
    <dgm:cxn modelId="{60271D55-FED6-8D4F-BA23-18D9881648C0}" type="presOf" srcId="{E9B2743D-E813-4ED6-B7B3-4B2993A6FCD9}" destId="{E9FCE9E4-876F-F844-9CB1-460EFB6F2B18}" srcOrd="0" destOrd="0" presId="urn:microsoft.com/office/officeart/2005/8/layout/list1"/>
    <dgm:cxn modelId="{F473E756-3AFC-CE46-B7D5-7E2068245AC9}" type="presOf" srcId="{59B48725-8164-48E2-83AE-6A0F034E462B}" destId="{00030396-05C1-9942-96E1-6B6BE2405EAA}" srcOrd="0" destOrd="0" presId="urn:microsoft.com/office/officeart/2005/8/layout/list1"/>
    <dgm:cxn modelId="{84739461-851F-4412-9426-435F9D759BD2}" srcId="{C56D2CC8-C45D-4E18-B90B-54073C21F11D}" destId="{F7A837DC-A90A-4895-B089-0530387F1145}" srcOrd="0" destOrd="0" parTransId="{593376E8-5632-4408-86EF-F01E4DF2FC34}" sibTransId="{0547D193-59CF-49B0-98AA-9778832CD715}"/>
    <dgm:cxn modelId="{716D8765-A976-C94F-94B4-97903F853851}" type="presOf" srcId="{CB6F0E57-4FB7-7748-924D-5F64896C3834}" destId="{8EA095CA-E29B-8A4D-96F8-4B6F004FDB39}" srcOrd="0" destOrd="0" presId="urn:microsoft.com/office/officeart/2005/8/layout/list1"/>
    <dgm:cxn modelId="{0E03987B-FD3C-7C49-8A2D-1E22A8843428}" type="presOf" srcId="{D9215C02-210F-C24D-81E5-07D9665FA7D9}" destId="{00638775-915F-9C46-A89C-6B4065C44AA4}" srcOrd="0" destOrd="0" presId="urn:microsoft.com/office/officeart/2005/8/layout/list1"/>
    <dgm:cxn modelId="{3762E97B-46F8-1043-8DA0-1FBCBC097E40}" srcId="{CB6F0E57-4FB7-7748-924D-5F64896C3834}" destId="{D9215C02-210F-C24D-81E5-07D9665FA7D9}" srcOrd="0" destOrd="0" parTransId="{832EE14E-1FE2-354C-8EDF-4ED05235F6E6}" sibTransId="{6A14E933-C9EE-A24F-9E1E-5A89066D03B4}"/>
    <dgm:cxn modelId="{16D8217C-03FE-D940-8F6B-E888EA5B6C9F}" type="presOf" srcId="{D2FC57FA-7A10-194E-A9EC-A09F46EC6DF2}" destId="{00638775-915F-9C46-A89C-6B4065C44AA4}" srcOrd="0" destOrd="2" presId="urn:microsoft.com/office/officeart/2005/8/layout/list1"/>
    <dgm:cxn modelId="{76180180-FC0E-FB4B-B137-FAE306C4279C}" type="presOf" srcId="{C56D2CC8-C45D-4E18-B90B-54073C21F11D}" destId="{33167095-FB17-394F-9171-76DBB7052190}" srcOrd="1" destOrd="0" presId="urn:microsoft.com/office/officeart/2005/8/layout/list1"/>
    <dgm:cxn modelId="{61A34582-93D3-7A40-B5C0-9A6D831D65E9}" srcId="{C56D2CC8-C45D-4E18-B90B-54073C21F11D}" destId="{A9E01AB2-DB94-7447-A25D-1F5A64189369}" srcOrd="1" destOrd="0" parTransId="{18B4420C-7085-7C4D-BB16-2DBE88CA875A}" sibTransId="{AF1EE2D1-F073-7547-955F-BE52E3A58C79}"/>
    <dgm:cxn modelId="{47E9C48C-E607-F347-B5C9-37DE7C693606}" type="presOf" srcId="{0C710009-82BB-7640-B224-2BA7B52EE180}" destId="{35CEA706-903E-F241-AC8F-50D0F712E7C1}" srcOrd="0" destOrd="2" presId="urn:microsoft.com/office/officeart/2005/8/layout/list1"/>
    <dgm:cxn modelId="{D65EEA8C-D444-5D4A-9789-47C02D85C90A}" type="presOf" srcId="{F7A837DC-A90A-4895-B089-0530387F1145}" destId="{35CEA706-903E-F241-AC8F-50D0F712E7C1}" srcOrd="0" destOrd="0" presId="urn:microsoft.com/office/officeart/2005/8/layout/list1"/>
    <dgm:cxn modelId="{C63D3391-AA3A-7349-A6EE-38B5A246E688}" srcId="{CB6F0E57-4FB7-7748-924D-5F64896C3834}" destId="{ED23B666-57F8-134E-BC23-2C0DA39A6A61}" srcOrd="1" destOrd="0" parTransId="{69C91B18-2D08-1944-BAAF-0E9F97BB9934}" sibTransId="{BD171BD0-A0E9-9844-A504-9407AA42E093}"/>
    <dgm:cxn modelId="{2C9C6A9C-67B8-114E-9CA6-B7003AC5AE8F}" type="presOf" srcId="{A9E01AB2-DB94-7447-A25D-1F5A64189369}" destId="{35CEA706-903E-F241-AC8F-50D0F712E7C1}" srcOrd="0" destOrd="1" presId="urn:microsoft.com/office/officeart/2005/8/layout/list1"/>
    <dgm:cxn modelId="{4D3B0CAD-C24A-B844-8676-304D2CCA1DA8}" type="presOf" srcId="{344BD48C-6097-D544-B9F1-1FE328F94989}" destId="{11965E2B-CBE5-4F45-B0BB-379EAC21032B}" srcOrd="0" destOrd="1" presId="urn:microsoft.com/office/officeart/2005/8/layout/list1"/>
    <dgm:cxn modelId="{ACE098B3-4BB9-6847-AD92-DF7FB161DA22}" srcId="{59B48725-8164-48E2-83AE-6A0F034E462B}" destId="{CB6F0E57-4FB7-7748-924D-5F64896C3834}" srcOrd="2" destOrd="0" parTransId="{B8EC7A60-D473-A84F-B9DF-CAA5F7028504}" sibTransId="{F95B6BDC-FFF5-A743-8F1B-53D85CBBC7CB}"/>
    <dgm:cxn modelId="{58D042B7-BC89-F74E-9C7B-B4A5B284F94D}" type="presOf" srcId="{ED23B666-57F8-134E-BC23-2C0DA39A6A61}" destId="{00638775-915F-9C46-A89C-6B4065C44AA4}" srcOrd="0" destOrd="1" presId="urn:microsoft.com/office/officeart/2005/8/layout/list1"/>
    <dgm:cxn modelId="{2ECDD3CA-8260-4828-A315-7A38C1478EE6}" srcId="{59B48725-8164-48E2-83AE-6A0F034E462B}" destId="{C56D2CC8-C45D-4E18-B90B-54073C21F11D}" srcOrd="0" destOrd="0" parTransId="{2A3E0714-CC4C-462A-A188-122DF104917B}" sibTransId="{89C48FA8-710C-437F-BFF9-10423656F7C3}"/>
    <dgm:cxn modelId="{5B82FDDC-93A2-564B-BFA8-082940F2BB60}" type="presOf" srcId="{5C55BA16-E3BF-AC42-AD37-2CAAD013965D}" destId="{11965E2B-CBE5-4F45-B0BB-379EAC21032B}" srcOrd="0" destOrd="2" presId="urn:microsoft.com/office/officeart/2005/8/layout/list1"/>
    <dgm:cxn modelId="{D7929DDE-1C1F-8F4D-A851-3E44D0354ED9}" srcId="{E9B2743D-E813-4ED6-B7B3-4B2993A6FCD9}" destId="{344BD48C-6097-D544-B9F1-1FE328F94989}" srcOrd="1" destOrd="0" parTransId="{D5C8833B-CDB5-3645-B9D0-F9FB8943CD7B}" sibTransId="{9BEDB8F0-21A9-794A-96CD-8717500A3848}"/>
    <dgm:cxn modelId="{942F37F8-8787-7B48-829D-AFE5E1A890E2}" srcId="{CB6F0E57-4FB7-7748-924D-5F64896C3834}" destId="{D2FC57FA-7A10-194E-A9EC-A09F46EC6DF2}" srcOrd="2" destOrd="0" parTransId="{9F7A77BB-A07D-E94E-A6A1-BC9F38F8BBD0}" sibTransId="{A4A85D66-2787-6B48-BAB7-8DEC1BBC36AC}"/>
    <dgm:cxn modelId="{B0921EFE-A315-2E45-9161-5B05F48B2CD4}" type="presOf" srcId="{CB6F0E57-4FB7-7748-924D-5F64896C3834}" destId="{7776384E-C1B1-7A44-8475-EE49241621E7}" srcOrd="1" destOrd="0" presId="urn:microsoft.com/office/officeart/2005/8/layout/list1"/>
    <dgm:cxn modelId="{CD1843A6-5C48-0643-8FE4-01300E1A8951}" type="presParOf" srcId="{00030396-05C1-9942-96E1-6B6BE2405EAA}" destId="{6F03F502-C2DF-DF49-BC61-7232A7DEE0CF}" srcOrd="0" destOrd="0" presId="urn:microsoft.com/office/officeart/2005/8/layout/list1"/>
    <dgm:cxn modelId="{701C2181-2B0B-3647-9B0C-6FB7AD927959}" type="presParOf" srcId="{6F03F502-C2DF-DF49-BC61-7232A7DEE0CF}" destId="{42D43E87-9907-2A43-945A-965102CFB845}" srcOrd="0" destOrd="0" presId="urn:microsoft.com/office/officeart/2005/8/layout/list1"/>
    <dgm:cxn modelId="{B3E32596-B45B-7A4D-A2F1-82783E77063C}" type="presParOf" srcId="{6F03F502-C2DF-DF49-BC61-7232A7DEE0CF}" destId="{33167095-FB17-394F-9171-76DBB7052190}" srcOrd="1" destOrd="0" presId="urn:microsoft.com/office/officeart/2005/8/layout/list1"/>
    <dgm:cxn modelId="{CC67AFB1-69A9-C74D-AE33-122B31D16CC9}" type="presParOf" srcId="{00030396-05C1-9942-96E1-6B6BE2405EAA}" destId="{93169E09-A52D-AC46-BE8F-5391994D0514}" srcOrd="1" destOrd="0" presId="urn:microsoft.com/office/officeart/2005/8/layout/list1"/>
    <dgm:cxn modelId="{9F73A90E-2CCD-E248-AFB1-630461C8BF24}" type="presParOf" srcId="{00030396-05C1-9942-96E1-6B6BE2405EAA}" destId="{35CEA706-903E-F241-AC8F-50D0F712E7C1}" srcOrd="2" destOrd="0" presId="urn:microsoft.com/office/officeart/2005/8/layout/list1"/>
    <dgm:cxn modelId="{BD689CDF-537A-8C4F-94B1-12C1090AABF2}" type="presParOf" srcId="{00030396-05C1-9942-96E1-6B6BE2405EAA}" destId="{E19D3269-19F3-0041-919A-8FBA52E12DAE}" srcOrd="3" destOrd="0" presId="urn:microsoft.com/office/officeart/2005/8/layout/list1"/>
    <dgm:cxn modelId="{A0B84CF2-425E-5B4E-9CE8-604EC4B5D697}" type="presParOf" srcId="{00030396-05C1-9942-96E1-6B6BE2405EAA}" destId="{67CA3CD5-92B5-7F4E-B694-E632D0B25F08}" srcOrd="4" destOrd="0" presId="urn:microsoft.com/office/officeart/2005/8/layout/list1"/>
    <dgm:cxn modelId="{24D03010-4E56-0445-A122-CA7BA25CD9BF}" type="presParOf" srcId="{67CA3CD5-92B5-7F4E-B694-E632D0B25F08}" destId="{E9FCE9E4-876F-F844-9CB1-460EFB6F2B18}" srcOrd="0" destOrd="0" presId="urn:microsoft.com/office/officeart/2005/8/layout/list1"/>
    <dgm:cxn modelId="{0C8F9D4B-E4F6-DD41-ACBE-2901AF573DE3}" type="presParOf" srcId="{67CA3CD5-92B5-7F4E-B694-E632D0B25F08}" destId="{196EF647-398A-CA4B-AF4C-FB6AF0167BB6}" srcOrd="1" destOrd="0" presId="urn:microsoft.com/office/officeart/2005/8/layout/list1"/>
    <dgm:cxn modelId="{9A834F0A-0210-2047-9A8B-EF66B98A708D}" type="presParOf" srcId="{00030396-05C1-9942-96E1-6B6BE2405EAA}" destId="{21F7A3F4-0250-7E46-AE2A-53771559068A}" srcOrd="5" destOrd="0" presId="urn:microsoft.com/office/officeart/2005/8/layout/list1"/>
    <dgm:cxn modelId="{37729AE1-9D1F-7146-A0CA-4B3EE67EABC6}" type="presParOf" srcId="{00030396-05C1-9942-96E1-6B6BE2405EAA}" destId="{11965E2B-CBE5-4F45-B0BB-379EAC21032B}" srcOrd="6" destOrd="0" presId="urn:microsoft.com/office/officeart/2005/8/layout/list1"/>
    <dgm:cxn modelId="{445BCF0F-44DA-2C42-A590-CD8DA4C8AF8D}" type="presParOf" srcId="{00030396-05C1-9942-96E1-6B6BE2405EAA}" destId="{344D3030-AE94-0543-BDCD-3E7CC9AD859B}" srcOrd="7" destOrd="0" presId="urn:microsoft.com/office/officeart/2005/8/layout/list1"/>
    <dgm:cxn modelId="{07C5A28D-3E8C-064E-87E0-DC11B2534F7F}" type="presParOf" srcId="{00030396-05C1-9942-96E1-6B6BE2405EAA}" destId="{1C771FBA-361D-5143-BE8A-5799C09B1DD2}" srcOrd="8" destOrd="0" presId="urn:microsoft.com/office/officeart/2005/8/layout/list1"/>
    <dgm:cxn modelId="{BFCC27C9-5B8D-D344-8184-9BFCE51F65D0}" type="presParOf" srcId="{1C771FBA-361D-5143-BE8A-5799C09B1DD2}" destId="{8EA095CA-E29B-8A4D-96F8-4B6F004FDB39}" srcOrd="0" destOrd="0" presId="urn:microsoft.com/office/officeart/2005/8/layout/list1"/>
    <dgm:cxn modelId="{85CB5F99-0724-7945-A0F2-EAC40370C7DB}" type="presParOf" srcId="{1C771FBA-361D-5143-BE8A-5799C09B1DD2}" destId="{7776384E-C1B1-7A44-8475-EE49241621E7}" srcOrd="1" destOrd="0" presId="urn:microsoft.com/office/officeart/2005/8/layout/list1"/>
    <dgm:cxn modelId="{29FD265F-1E00-F142-B45D-374172B9C541}" type="presParOf" srcId="{00030396-05C1-9942-96E1-6B6BE2405EAA}" destId="{411CE63E-7984-ED4A-A28F-3CD25201F725}" srcOrd="9" destOrd="0" presId="urn:microsoft.com/office/officeart/2005/8/layout/list1"/>
    <dgm:cxn modelId="{96068E2B-A5E4-9045-ABEF-1E78D98B89F1}" type="presParOf" srcId="{00030396-05C1-9942-96E1-6B6BE2405EAA}" destId="{00638775-915F-9C46-A89C-6B4065C44AA4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59B48725-8164-48E2-83AE-6A0F034E462B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56D2CC8-C45D-4E18-B90B-54073C21F11D}">
      <dgm:prSet custT="1"/>
      <dgm:spPr/>
      <dgm:t>
        <a:bodyPr/>
        <a:lstStyle/>
        <a:p>
          <a:r>
            <a:rPr lang="en-US" sz="1400"/>
            <a:t>Premium Produktion</a:t>
          </a:r>
        </a:p>
      </dgm:t>
    </dgm:pt>
    <dgm:pt modelId="{2A3E0714-CC4C-462A-A188-122DF104917B}" type="parTrans" cxnId="{2ECDD3CA-8260-4828-A315-7A38C1478EE6}">
      <dgm:prSet/>
      <dgm:spPr/>
      <dgm:t>
        <a:bodyPr/>
        <a:lstStyle/>
        <a:p>
          <a:endParaRPr lang="en-US"/>
        </a:p>
      </dgm:t>
    </dgm:pt>
    <dgm:pt modelId="{89C48FA8-710C-437F-BFF9-10423656F7C3}" type="sibTrans" cxnId="{2ECDD3CA-8260-4828-A315-7A38C1478EE6}">
      <dgm:prSet/>
      <dgm:spPr/>
      <dgm:t>
        <a:bodyPr/>
        <a:lstStyle/>
        <a:p>
          <a:endParaRPr lang="en-US"/>
        </a:p>
      </dgm:t>
    </dgm:pt>
    <dgm:pt modelId="{F7A837DC-A90A-4895-B089-0530387F1145}">
      <dgm:prSet custT="1"/>
      <dgm:spPr/>
      <dgm:t>
        <a:bodyPr/>
        <a:lstStyle/>
        <a:p>
          <a:r>
            <a:rPr lang="en-US" sz="1400" err="1"/>
            <a:t>Qualitätsmanagement</a:t>
          </a:r>
          <a:endParaRPr lang="en-US" sz="1400"/>
        </a:p>
      </dgm:t>
    </dgm:pt>
    <dgm:pt modelId="{593376E8-5632-4408-86EF-F01E4DF2FC34}" type="parTrans" cxnId="{84739461-851F-4412-9426-435F9D759BD2}">
      <dgm:prSet/>
      <dgm:spPr/>
      <dgm:t>
        <a:bodyPr/>
        <a:lstStyle/>
        <a:p>
          <a:endParaRPr lang="en-US"/>
        </a:p>
      </dgm:t>
    </dgm:pt>
    <dgm:pt modelId="{0547D193-59CF-49B0-98AA-9778832CD715}" type="sibTrans" cxnId="{84739461-851F-4412-9426-435F9D759BD2}">
      <dgm:prSet/>
      <dgm:spPr/>
      <dgm:t>
        <a:bodyPr/>
        <a:lstStyle/>
        <a:p>
          <a:endParaRPr lang="en-US"/>
        </a:p>
      </dgm:t>
    </dgm:pt>
    <dgm:pt modelId="{E9B2743D-E813-4ED6-B7B3-4B2993A6FCD9}">
      <dgm:prSet custT="1"/>
      <dgm:spPr/>
      <dgm:t>
        <a:bodyPr/>
        <a:lstStyle/>
        <a:p>
          <a:r>
            <a:rPr lang="en-US" sz="1400" err="1"/>
            <a:t>Wettbewerbsvorteil</a:t>
          </a:r>
          <a:endParaRPr lang="en-US" sz="1400"/>
        </a:p>
      </dgm:t>
    </dgm:pt>
    <dgm:pt modelId="{071F5E14-BCCA-4F70-8057-AFF3B4C7153F}" type="parTrans" cxnId="{B217C22A-F393-4B3A-BD52-BE7D0ED54CB1}">
      <dgm:prSet/>
      <dgm:spPr/>
      <dgm:t>
        <a:bodyPr/>
        <a:lstStyle/>
        <a:p>
          <a:endParaRPr lang="en-US"/>
        </a:p>
      </dgm:t>
    </dgm:pt>
    <dgm:pt modelId="{0D10EED2-FE71-4A74-89D3-D4BD8FA006FB}" type="sibTrans" cxnId="{B217C22A-F393-4B3A-BD52-BE7D0ED54CB1}">
      <dgm:prSet/>
      <dgm:spPr/>
      <dgm:t>
        <a:bodyPr/>
        <a:lstStyle/>
        <a:p>
          <a:endParaRPr lang="en-US"/>
        </a:p>
      </dgm:t>
    </dgm:pt>
    <dgm:pt modelId="{BD935179-6D5D-41E6-A951-5AC8DBA5A1DB}">
      <dgm:prSet custT="1"/>
      <dgm:spPr/>
      <dgm:t>
        <a:bodyPr/>
        <a:lstStyle/>
        <a:p>
          <a:r>
            <a:rPr lang="en-US" sz="1400"/>
            <a:t>Hohe </a:t>
          </a:r>
          <a:r>
            <a:rPr lang="en-US" sz="1400" err="1"/>
            <a:t>Margen</a:t>
          </a:r>
          <a:endParaRPr lang="en-US" sz="1400"/>
        </a:p>
      </dgm:t>
    </dgm:pt>
    <dgm:pt modelId="{C77F31B3-87A1-4429-953A-487B3A08A818}" type="parTrans" cxnId="{858E2124-960E-4198-ACD8-CCF568EDAF72}">
      <dgm:prSet/>
      <dgm:spPr/>
      <dgm:t>
        <a:bodyPr/>
        <a:lstStyle/>
        <a:p>
          <a:endParaRPr lang="en-US"/>
        </a:p>
      </dgm:t>
    </dgm:pt>
    <dgm:pt modelId="{31C5A9AE-7D48-4467-AC70-B02FC786B0FD}" type="sibTrans" cxnId="{858E2124-960E-4198-ACD8-CCF568EDAF72}">
      <dgm:prSet/>
      <dgm:spPr/>
      <dgm:t>
        <a:bodyPr/>
        <a:lstStyle/>
        <a:p>
          <a:endParaRPr lang="en-US"/>
        </a:p>
      </dgm:t>
    </dgm:pt>
    <dgm:pt modelId="{DEB1C9E0-6B19-6242-9B36-A31495D8CBB9}">
      <dgm:prSet custT="1"/>
      <dgm:spPr/>
      <dgm:t>
        <a:bodyPr/>
        <a:lstStyle/>
        <a:p>
          <a:r>
            <a:rPr lang="en-US" sz="1400"/>
            <a:t>Flexible </a:t>
          </a:r>
          <a:r>
            <a:rPr lang="en-US" sz="1400" err="1"/>
            <a:t>Fertigung</a:t>
          </a:r>
          <a:endParaRPr lang="en-US" sz="1400"/>
        </a:p>
      </dgm:t>
    </dgm:pt>
    <dgm:pt modelId="{41A49795-279F-4049-88C1-807B13E3023A}" type="parTrans" cxnId="{89FEC26A-5F5A-764F-BA99-F992E3EB9021}">
      <dgm:prSet/>
      <dgm:spPr/>
      <dgm:t>
        <a:bodyPr/>
        <a:lstStyle/>
        <a:p>
          <a:endParaRPr lang="en-US"/>
        </a:p>
      </dgm:t>
    </dgm:pt>
    <dgm:pt modelId="{176F1075-DBF7-934A-84EF-36DA0CAE53D7}" type="sibTrans" cxnId="{89FEC26A-5F5A-764F-BA99-F992E3EB9021}">
      <dgm:prSet/>
      <dgm:spPr/>
      <dgm:t>
        <a:bodyPr/>
        <a:lstStyle/>
        <a:p>
          <a:endParaRPr lang="en-US"/>
        </a:p>
      </dgm:t>
    </dgm:pt>
    <dgm:pt modelId="{85F80D47-2E54-DF4E-9D95-59CA6F9A230D}">
      <dgm:prSet custT="1"/>
      <dgm:spPr/>
      <dgm:t>
        <a:bodyPr/>
        <a:lstStyle/>
        <a:p>
          <a:r>
            <a:rPr lang="en-US" sz="1400"/>
            <a:t>Multi-</a:t>
          </a:r>
          <a:r>
            <a:rPr lang="en-US" sz="1400" err="1"/>
            <a:t>Antriebsstrategie</a:t>
          </a:r>
          <a:endParaRPr lang="en-US" sz="1400"/>
        </a:p>
      </dgm:t>
    </dgm:pt>
    <dgm:pt modelId="{9372F488-A91D-B14B-ACDC-053B0633A29A}" type="parTrans" cxnId="{58CA4940-0956-E647-A7D7-3E20CB8A8D1E}">
      <dgm:prSet/>
      <dgm:spPr/>
      <dgm:t>
        <a:bodyPr/>
        <a:lstStyle/>
        <a:p>
          <a:endParaRPr lang="en-US"/>
        </a:p>
      </dgm:t>
    </dgm:pt>
    <dgm:pt modelId="{831A52F3-ED7B-C144-93BD-A7BF4622EDB4}" type="sibTrans" cxnId="{58CA4940-0956-E647-A7D7-3E20CB8A8D1E}">
      <dgm:prSet/>
      <dgm:spPr/>
      <dgm:t>
        <a:bodyPr/>
        <a:lstStyle/>
        <a:p>
          <a:endParaRPr lang="en-US"/>
        </a:p>
      </dgm:t>
    </dgm:pt>
    <dgm:pt modelId="{4B76A273-37EA-8B42-8191-ECFF2E85FE60}">
      <dgm:prSet custT="1"/>
      <dgm:spPr/>
      <dgm:t>
        <a:bodyPr/>
        <a:lstStyle/>
        <a:p>
          <a:r>
            <a:rPr lang="en-US" sz="1400"/>
            <a:t>Starke </a:t>
          </a:r>
          <a:r>
            <a:rPr lang="en-US" sz="1400" err="1"/>
            <a:t>Marktposition</a:t>
          </a:r>
          <a:endParaRPr lang="en-US" sz="1400"/>
        </a:p>
      </dgm:t>
    </dgm:pt>
    <dgm:pt modelId="{DE7B73DD-D147-7841-80B6-A26DDC643316}" type="parTrans" cxnId="{9C8F9EF0-C144-D641-90EE-D70BAE200AF8}">
      <dgm:prSet/>
      <dgm:spPr/>
      <dgm:t>
        <a:bodyPr/>
        <a:lstStyle/>
        <a:p>
          <a:endParaRPr lang="en-US"/>
        </a:p>
      </dgm:t>
    </dgm:pt>
    <dgm:pt modelId="{B9DD9C3E-0B2B-9346-8885-99F27857B508}" type="sibTrans" cxnId="{9C8F9EF0-C144-D641-90EE-D70BAE200AF8}">
      <dgm:prSet/>
      <dgm:spPr/>
      <dgm:t>
        <a:bodyPr/>
        <a:lstStyle/>
        <a:p>
          <a:endParaRPr lang="en-US"/>
        </a:p>
      </dgm:t>
    </dgm:pt>
    <dgm:pt modelId="{FE65A7E9-F245-DC4D-84A5-CFD3BE294F92}">
      <dgm:prSet custT="1"/>
      <dgm:spPr/>
      <dgm:t>
        <a:bodyPr/>
        <a:lstStyle/>
        <a:p>
          <a:r>
            <a:rPr lang="en-US" sz="1400" err="1"/>
            <a:t>Langfristige</a:t>
          </a:r>
          <a:r>
            <a:rPr lang="en-US" sz="1400"/>
            <a:t> </a:t>
          </a:r>
          <a:r>
            <a:rPr lang="en-US" sz="1400" err="1"/>
            <a:t>Kundenbindung</a:t>
          </a:r>
          <a:endParaRPr lang="en-US" sz="1400"/>
        </a:p>
      </dgm:t>
    </dgm:pt>
    <dgm:pt modelId="{25661E31-6515-A94F-BC8A-A7EA307236CD}" type="parTrans" cxnId="{D6E344D5-AB03-674F-894D-3F2908B6E1A7}">
      <dgm:prSet/>
      <dgm:spPr/>
      <dgm:t>
        <a:bodyPr/>
        <a:lstStyle/>
        <a:p>
          <a:endParaRPr lang="en-US"/>
        </a:p>
      </dgm:t>
    </dgm:pt>
    <dgm:pt modelId="{AE2EF6A6-A4F1-844F-AFA9-F2F783D4E5F5}" type="sibTrans" cxnId="{D6E344D5-AB03-674F-894D-3F2908B6E1A7}">
      <dgm:prSet/>
      <dgm:spPr/>
      <dgm:t>
        <a:bodyPr/>
        <a:lstStyle/>
        <a:p>
          <a:endParaRPr lang="en-US"/>
        </a:p>
      </dgm:t>
    </dgm:pt>
    <dgm:pt modelId="{00030396-05C1-9942-96E1-6B6BE2405EAA}" type="pres">
      <dgm:prSet presAssocID="{59B48725-8164-48E2-83AE-6A0F034E462B}" presName="linear" presStyleCnt="0">
        <dgm:presLayoutVars>
          <dgm:dir/>
          <dgm:animLvl val="lvl"/>
          <dgm:resizeHandles val="exact"/>
        </dgm:presLayoutVars>
      </dgm:prSet>
      <dgm:spPr/>
    </dgm:pt>
    <dgm:pt modelId="{6F03F502-C2DF-DF49-BC61-7232A7DEE0CF}" type="pres">
      <dgm:prSet presAssocID="{C56D2CC8-C45D-4E18-B90B-54073C21F11D}" presName="parentLin" presStyleCnt="0"/>
      <dgm:spPr/>
    </dgm:pt>
    <dgm:pt modelId="{42D43E87-9907-2A43-945A-965102CFB845}" type="pres">
      <dgm:prSet presAssocID="{C56D2CC8-C45D-4E18-B90B-54073C21F11D}" presName="parentLeftMargin" presStyleLbl="node1" presStyleIdx="0" presStyleCnt="2"/>
      <dgm:spPr/>
    </dgm:pt>
    <dgm:pt modelId="{33167095-FB17-394F-9171-76DBB7052190}" type="pres">
      <dgm:prSet presAssocID="{C56D2CC8-C45D-4E18-B90B-54073C21F11D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93169E09-A52D-AC46-BE8F-5391994D0514}" type="pres">
      <dgm:prSet presAssocID="{C56D2CC8-C45D-4E18-B90B-54073C21F11D}" presName="negativeSpace" presStyleCnt="0"/>
      <dgm:spPr/>
    </dgm:pt>
    <dgm:pt modelId="{35CEA706-903E-F241-AC8F-50D0F712E7C1}" type="pres">
      <dgm:prSet presAssocID="{C56D2CC8-C45D-4E18-B90B-54073C21F11D}" presName="childText" presStyleLbl="conFgAcc1" presStyleIdx="0" presStyleCnt="2">
        <dgm:presLayoutVars>
          <dgm:bulletEnabled val="1"/>
        </dgm:presLayoutVars>
      </dgm:prSet>
      <dgm:spPr/>
    </dgm:pt>
    <dgm:pt modelId="{E19D3269-19F3-0041-919A-8FBA52E12DAE}" type="pres">
      <dgm:prSet presAssocID="{89C48FA8-710C-437F-BFF9-10423656F7C3}" presName="spaceBetweenRectangles" presStyleCnt="0"/>
      <dgm:spPr/>
    </dgm:pt>
    <dgm:pt modelId="{67CA3CD5-92B5-7F4E-B694-E632D0B25F08}" type="pres">
      <dgm:prSet presAssocID="{E9B2743D-E813-4ED6-B7B3-4B2993A6FCD9}" presName="parentLin" presStyleCnt="0"/>
      <dgm:spPr/>
    </dgm:pt>
    <dgm:pt modelId="{E9FCE9E4-876F-F844-9CB1-460EFB6F2B18}" type="pres">
      <dgm:prSet presAssocID="{E9B2743D-E813-4ED6-B7B3-4B2993A6FCD9}" presName="parentLeftMargin" presStyleLbl="node1" presStyleIdx="0" presStyleCnt="2"/>
      <dgm:spPr/>
    </dgm:pt>
    <dgm:pt modelId="{196EF647-398A-CA4B-AF4C-FB6AF0167BB6}" type="pres">
      <dgm:prSet presAssocID="{E9B2743D-E813-4ED6-B7B3-4B2993A6FCD9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21F7A3F4-0250-7E46-AE2A-53771559068A}" type="pres">
      <dgm:prSet presAssocID="{E9B2743D-E813-4ED6-B7B3-4B2993A6FCD9}" presName="negativeSpace" presStyleCnt="0"/>
      <dgm:spPr/>
    </dgm:pt>
    <dgm:pt modelId="{11965E2B-CBE5-4F45-B0BB-379EAC21032B}" type="pres">
      <dgm:prSet presAssocID="{E9B2743D-E813-4ED6-B7B3-4B2993A6FCD9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A8242407-0912-2848-B695-F02E23467821}" type="presOf" srcId="{C56D2CC8-C45D-4E18-B90B-54073C21F11D}" destId="{42D43E87-9907-2A43-945A-965102CFB845}" srcOrd="0" destOrd="0" presId="urn:microsoft.com/office/officeart/2005/8/layout/list1"/>
    <dgm:cxn modelId="{A1EEE50F-0871-F546-B4FF-FA6DC6251DDB}" type="presOf" srcId="{BD935179-6D5D-41E6-A951-5AC8DBA5A1DB}" destId="{11965E2B-CBE5-4F45-B0BB-379EAC21032B}" srcOrd="0" destOrd="0" presId="urn:microsoft.com/office/officeart/2005/8/layout/list1"/>
    <dgm:cxn modelId="{D1E98613-3A73-4245-B729-228069365908}" type="presOf" srcId="{4B76A273-37EA-8B42-8191-ECFF2E85FE60}" destId="{11965E2B-CBE5-4F45-B0BB-379EAC21032B}" srcOrd="0" destOrd="1" presId="urn:microsoft.com/office/officeart/2005/8/layout/list1"/>
    <dgm:cxn modelId="{858E2124-960E-4198-ACD8-CCF568EDAF72}" srcId="{E9B2743D-E813-4ED6-B7B3-4B2993A6FCD9}" destId="{BD935179-6D5D-41E6-A951-5AC8DBA5A1DB}" srcOrd="0" destOrd="0" parTransId="{C77F31B3-87A1-4429-953A-487B3A08A818}" sibTransId="{31C5A9AE-7D48-4467-AC70-B02FC786B0FD}"/>
    <dgm:cxn modelId="{B217C22A-F393-4B3A-BD52-BE7D0ED54CB1}" srcId="{59B48725-8164-48E2-83AE-6A0F034E462B}" destId="{E9B2743D-E813-4ED6-B7B3-4B2993A6FCD9}" srcOrd="1" destOrd="0" parTransId="{071F5E14-BCCA-4F70-8057-AFF3B4C7153F}" sibTransId="{0D10EED2-FE71-4A74-89D3-D4BD8FA006FB}"/>
    <dgm:cxn modelId="{9765A237-1E89-B347-8BEB-28CAC35FDC45}" type="presOf" srcId="{E9B2743D-E813-4ED6-B7B3-4B2993A6FCD9}" destId="{196EF647-398A-CA4B-AF4C-FB6AF0167BB6}" srcOrd="1" destOrd="0" presId="urn:microsoft.com/office/officeart/2005/8/layout/list1"/>
    <dgm:cxn modelId="{58CA4940-0956-E647-A7D7-3E20CB8A8D1E}" srcId="{C56D2CC8-C45D-4E18-B90B-54073C21F11D}" destId="{85F80D47-2E54-DF4E-9D95-59CA6F9A230D}" srcOrd="2" destOrd="0" parTransId="{9372F488-A91D-B14B-ACDC-053B0633A29A}" sibTransId="{831A52F3-ED7B-C144-93BD-A7BF4622EDB4}"/>
    <dgm:cxn modelId="{0471BB53-2E78-C84C-840F-90D40AB3B412}" type="presOf" srcId="{FE65A7E9-F245-DC4D-84A5-CFD3BE294F92}" destId="{11965E2B-CBE5-4F45-B0BB-379EAC21032B}" srcOrd="0" destOrd="2" presId="urn:microsoft.com/office/officeart/2005/8/layout/list1"/>
    <dgm:cxn modelId="{60271D55-FED6-8D4F-BA23-18D9881648C0}" type="presOf" srcId="{E9B2743D-E813-4ED6-B7B3-4B2993A6FCD9}" destId="{E9FCE9E4-876F-F844-9CB1-460EFB6F2B18}" srcOrd="0" destOrd="0" presId="urn:microsoft.com/office/officeart/2005/8/layout/list1"/>
    <dgm:cxn modelId="{F473E756-3AFC-CE46-B7D5-7E2068245AC9}" type="presOf" srcId="{59B48725-8164-48E2-83AE-6A0F034E462B}" destId="{00030396-05C1-9942-96E1-6B6BE2405EAA}" srcOrd="0" destOrd="0" presId="urn:microsoft.com/office/officeart/2005/8/layout/list1"/>
    <dgm:cxn modelId="{84739461-851F-4412-9426-435F9D759BD2}" srcId="{C56D2CC8-C45D-4E18-B90B-54073C21F11D}" destId="{F7A837DC-A90A-4895-B089-0530387F1145}" srcOrd="0" destOrd="0" parTransId="{593376E8-5632-4408-86EF-F01E4DF2FC34}" sibTransId="{0547D193-59CF-49B0-98AA-9778832CD715}"/>
    <dgm:cxn modelId="{89FEC26A-5F5A-764F-BA99-F992E3EB9021}" srcId="{C56D2CC8-C45D-4E18-B90B-54073C21F11D}" destId="{DEB1C9E0-6B19-6242-9B36-A31495D8CBB9}" srcOrd="1" destOrd="0" parTransId="{41A49795-279F-4049-88C1-807B13E3023A}" sibTransId="{176F1075-DBF7-934A-84EF-36DA0CAE53D7}"/>
    <dgm:cxn modelId="{76180180-FC0E-FB4B-B137-FAE306C4279C}" type="presOf" srcId="{C56D2CC8-C45D-4E18-B90B-54073C21F11D}" destId="{33167095-FB17-394F-9171-76DBB7052190}" srcOrd="1" destOrd="0" presId="urn:microsoft.com/office/officeart/2005/8/layout/list1"/>
    <dgm:cxn modelId="{D65EEA8C-D444-5D4A-9789-47C02D85C90A}" type="presOf" srcId="{F7A837DC-A90A-4895-B089-0530387F1145}" destId="{35CEA706-903E-F241-AC8F-50D0F712E7C1}" srcOrd="0" destOrd="0" presId="urn:microsoft.com/office/officeart/2005/8/layout/list1"/>
    <dgm:cxn modelId="{CCBE14A4-1E9E-FF48-842E-72C36297AFD9}" type="presOf" srcId="{85F80D47-2E54-DF4E-9D95-59CA6F9A230D}" destId="{35CEA706-903E-F241-AC8F-50D0F712E7C1}" srcOrd="0" destOrd="2" presId="urn:microsoft.com/office/officeart/2005/8/layout/list1"/>
    <dgm:cxn modelId="{229151BD-376E-E541-BA06-BD9BCC944122}" type="presOf" srcId="{DEB1C9E0-6B19-6242-9B36-A31495D8CBB9}" destId="{35CEA706-903E-F241-AC8F-50D0F712E7C1}" srcOrd="0" destOrd="1" presId="urn:microsoft.com/office/officeart/2005/8/layout/list1"/>
    <dgm:cxn modelId="{2ECDD3CA-8260-4828-A315-7A38C1478EE6}" srcId="{59B48725-8164-48E2-83AE-6A0F034E462B}" destId="{C56D2CC8-C45D-4E18-B90B-54073C21F11D}" srcOrd="0" destOrd="0" parTransId="{2A3E0714-CC4C-462A-A188-122DF104917B}" sibTransId="{89C48FA8-710C-437F-BFF9-10423656F7C3}"/>
    <dgm:cxn modelId="{D6E344D5-AB03-674F-894D-3F2908B6E1A7}" srcId="{E9B2743D-E813-4ED6-B7B3-4B2993A6FCD9}" destId="{FE65A7E9-F245-DC4D-84A5-CFD3BE294F92}" srcOrd="2" destOrd="0" parTransId="{25661E31-6515-A94F-BC8A-A7EA307236CD}" sibTransId="{AE2EF6A6-A4F1-844F-AFA9-F2F783D4E5F5}"/>
    <dgm:cxn modelId="{9C8F9EF0-C144-D641-90EE-D70BAE200AF8}" srcId="{E9B2743D-E813-4ED6-B7B3-4B2993A6FCD9}" destId="{4B76A273-37EA-8B42-8191-ECFF2E85FE60}" srcOrd="1" destOrd="0" parTransId="{DE7B73DD-D147-7841-80B6-A26DDC643316}" sibTransId="{B9DD9C3E-0B2B-9346-8885-99F27857B508}"/>
    <dgm:cxn modelId="{CD1843A6-5C48-0643-8FE4-01300E1A8951}" type="presParOf" srcId="{00030396-05C1-9942-96E1-6B6BE2405EAA}" destId="{6F03F502-C2DF-DF49-BC61-7232A7DEE0CF}" srcOrd="0" destOrd="0" presId="urn:microsoft.com/office/officeart/2005/8/layout/list1"/>
    <dgm:cxn modelId="{701C2181-2B0B-3647-9B0C-6FB7AD927959}" type="presParOf" srcId="{6F03F502-C2DF-DF49-BC61-7232A7DEE0CF}" destId="{42D43E87-9907-2A43-945A-965102CFB845}" srcOrd="0" destOrd="0" presId="urn:microsoft.com/office/officeart/2005/8/layout/list1"/>
    <dgm:cxn modelId="{B3E32596-B45B-7A4D-A2F1-82783E77063C}" type="presParOf" srcId="{6F03F502-C2DF-DF49-BC61-7232A7DEE0CF}" destId="{33167095-FB17-394F-9171-76DBB7052190}" srcOrd="1" destOrd="0" presId="urn:microsoft.com/office/officeart/2005/8/layout/list1"/>
    <dgm:cxn modelId="{CC67AFB1-69A9-C74D-AE33-122B31D16CC9}" type="presParOf" srcId="{00030396-05C1-9942-96E1-6B6BE2405EAA}" destId="{93169E09-A52D-AC46-BE8F-5391994D0514}" srcOrd="1" destOrd="0" presId="urn:microsoft.com/office/officeart/2005/8/layout/list1"/>
    <dgm:cxn modelId="{9F73A90E-2CCD-E248-AFB1-630461C8BF24}" type="presParOf" srcId="{00030396-05C1-9942-96E1-6B6BE2405EAA}" destId="{35CEA706-903E-F241-AC8F-50D0F712E7C1}" srcOrd="2" destOrd="0" presId="urn:microsoft.com/office/officeart/2005/8/layout/list1"/>
    <dgm:cxn modelId="{BD689CDF-537A-8C4F-94B1-12C1090AABF2}" type="presParOf" srcId="{00030396-05C1-9942-96E1-6B6BE2405EAA}" destId="{E19D3269-19F3-0041-919A-8FBA52E12DAE}" srcOrd="3" destOrd="0" presId="urn:microsoft.com/office/officeart/2005/8/layout/list1"/>
    <dgm:cxn modelId="{A0B84CF2-425E-5B4E-9CE8-604EC4B5D697}" type="presParOf" srcId="{00030396-05C1-9942-96E1-6B6BE2405EAA}" destId="{67CA3CD5-92B5-7F4E-B694-E632D0B25F08}" srcOrd="4" destOrd="0" presId="urn:microsoft.com/office/officeart/2005/8/layout/list1"/>
    <dgm:cxn modelId="{24D03010-4E56-0445-A122-CA7BA25CD9BF}" type="presParOf" srcId="{67CA3CD5-92B5-7F4E-B694-E632D0B25F08}" destId="{E9FCE9E4-876F-F844-9CB1-460EFB6F2B18}" srcOrd="0" destOrd="0" presId="urn:microsoft.com/office/officeart/2005/8/layout/list1"/>
    <dgm:cxn modelId="{0C8F9D4B-E4F6-DD41-ACBE-2901AF573DE3}" type="presParOf" srcId="{67CA3CD5-92B5-7F4E-B694-E632D0B25F08}" destId="{196EF647-398A-CA4B-AF4C-FB6AF0167BB6}" srcOrd="1" destOrd="0" presId="urn:microsoft.com/office/officeart/2005/8/layout/list1"/>
    <dgm:cxn modelId="{9A834F0A-0210-2047-9A8B-EF66B98A708D}" type="presParOf" srcId="{00030396-05C1-9942-96E1-6B6BE2405EAA}" destId="{21F7A3F4-0250-7E46-AE2A-53771559068A}" srcOrd="5" destOrd="0" presId="urn:microsoft.com/office/officeart/2005/8/layout/list1"/>
    <dgm:cxn modelId="{37729AE1-9D1F-7146-A0CA-4B3EE67EABC6}" type="presParOf" srcId="{00030396-05C1-9942-96E1-6B6BE2405EAA}" destId="{11965E2B-CBE5-4F45-B0BB-379EAC21032B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59B48725-8164-48E2-83AE-6A0F034E462B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56D2CC8-C45D-4E18-B90B-54073C21F11D}">
      <dgm:prSet/>
      <dgm:spPr/>
      <dgm:t>
        <a:bodyPr/>
        <a:lstStyle/>
        <a:p>
          <a:pPr rtl="0"/>
          <a:r>
            <a:rPr lang="en-US">
              <a:latin typeface="Aptos Display" panose="02110004020202020204"/>
            </a:rPr>
            <a:t> </a:t>
          </a:r>
          <a:r>
            <a:rPr lang="en-US" err="1"/>
            <a:t>Materielle</a:t>
          </a:r>
          <a:r>
            <a:rPr lang="en-US"/>
            <a:t> &amp; </a:t>
          </a:r>
          <a:r>
            <a:rPr lang="en-US" err="1"/>
            <a:t>Finanzielle</a:t>
          </a:r>
          <a:r>
            <a:rPr lang="en-US"/>
            <a:t> </a:t>
          </a:r>
          <a:r>
            <a:rPr lang="en-US">
              <a:latin typeface="Aptos Display" panose="02110004020202020204"/>
            </a:rPr>
            <a:t>Ressourcene</a:t>
          </a:r>
          <a:endParaRPr lang="en-US"/>
        </a:p>
      </dgm:t>
    </dgm:pt>
    <dgm:pt modelId="{2A3E0714-CC4C-462A-A188-122DF104917B}" type="parTrans" cxnId="{2ECDD3CA-8260-4828-A315-7A38C1478EE6}">
      <dgm:prSet/>
      <dgm:spPr/>
      <dgm:t>
        <a:bodyPr/>
        <a:lstStyle/>
        <a:p>
          <a:endParaRPr lang="en-US"/>
        </a:p>
      </dgm:t>
    </dgm:pt>
    <dgm:pt modelId="{89C48FA8-710C-437F-BFF9-10423656F7C3}" type="sibTrans" cxnId="{2ECDD3CA-8260-4828-A315-7A38C1478EE6}">
      <dgm:prSet/>
      <dgm:spPr/>
      <dgm:t>
        <a:bodyPr/>
        <a:lstStyle/>
        <a:p>
          <a:endParaRPr lang="en-US"/>
        </a:p>
      </dgm:t>
    </dgm:pt>
    <dgm:pt modelId="{E9B2743D-E813-4ED6-B7B3-4B2993A6FCD9}">
      <dgm:prSet/>
      <dgm:spPr/>
      <dgm:t>
        <a:bodyPr/>
        <a:lstStyle/>
        <a:p>
          <a:pPr rtl="0"/>
          <a:r>
            <a:rPr lang="en-US">
              <a:latin typeface="Aptos Display" panose="02110004020202020204"/>
            </a:rPr>
            <a:t> </a:t>
          </a:r>
          <a:r>
            <a:rPr lang="en-US" err="1"/>
            <a:t>Immaterielle</a:t>
          </a:r>
          <a:r>
            <a:rPr lang="en-US"/>
            <a:t> </a:t>
          </a:r>
          <a:r>
            <a:rPr lang="en-US" err="1"/>
            <a:t>Ressourcen</a:t>
          </a:r>
          <a:r>
            <a:rPr lang="en-US"/>
            <a:t> &amp; Design</a:t>
          </a:r>
        </a:p>
      </dgm:t>
    </dgm:pt>
    <dgm:pt modelId="{071F5E14-BCCA-4F70-8057-AFF3B4C7153F}" type="parTrans" cxnId="{B217C22A-F393-4B3A-BD52-BE7D0ED54CB1}">
      <dgm:prSet/>
      <dgm:spPr/>
      <dgm:t>
        <a:bodyPr/>
        <a:lstStyle/>
        <a:p>
          <a:endParaRPr lang="en-US"/>
        </a:p>
      </dgm:t>
    </dgm:pt>
    <dgm:pt modelId="{0D10EED2-FE71-4A74-89D3-D4BD8FA006FB}" type="sibTrans" cxnId="{B217C22A-F393-4B3A-BD52-BE7D0ED54CB1}">
      <dgm:prSet/>
      <dgm:spPr/>
      <dgm:t>
        <a:bodyPr/>
        <a:lstStyle/>
        <a:p>
          <a:endParaRPr lang="en-US"/>
        </a:p>
      </dgm:t>
    </dgm:pt>
    <dgm:pt modelId="{BD935179-6D5D-41E6-A951-5AC8DBA5A1DB}">
      <dgm:prSet/>
      <dgm:spPr/>
      <dgm:t>
        <a:bodyPr/>
        <a:lstStyle/>
        <a:p>
          <a:pPr rtl="0"/>
          <a:r>
            <a:rPr lang="en-US" b="0"/>
            <a:t>Das </a:t>
          </a:r>
          <a:r>
            <a:rPr lang="en-US" b="0" err="1"/>
            <a:t>technologische</a:t>
          </a:r>
          <a:r>
            <a:rPr lang="en-US" b="0"/>
            <a:t> Know-how </a:t>
          </a:r>
          <a:r>
            <a:rPr lang="en-US" b="0" err="1"/>
            <a:t>sowie</a:t>
          </a:r>
          <a:r>
            <a:rPr lang="en-US" b="0"/>
            <a:t> </a:t>
          </a:r>
          <a:r>
            <a:rPr lang="en-US" b="0" err="1"/>
            <a:t>Patente</a:t>
          </a:r>
          <a:r>
            <a:rPr lang="en-US" b="0"/>
            <a:t> und </a:t>
          </a:r>
          <a:r>
            <a:rPr lang="en-US" b="0" err="1"/>
            <a:t>geistiges</a:t>
          </a:r>
          <a:r>
            <a:rPr lang="en-US" b="0"/>
            <a:t> </a:t>
          </a:r>
          <a:r>
            <a:rPr lang="en-US" b="0" err="1"/>
            <a:t>Eigentum</a:t>
          </a:r>
          <a:r>
            <a:rPr lang="en-US" b="0"/>
            <a:t> </a:t>
          </a:r>
          <a:r>
            <a:rPr lang="en-US" b="0" err="1"/>
            <a:t>erweiterten</a:t>
          </a:r>
          <a:r>
            <a:rPr lang="en-US" b="0"/>
            <a:t> </a:t>
          </a:r>
          <a:r>
            <a:rPr lang="en-US" b="0" err="1"/>
            <a:t>sich</a:t>
          </a:r>
          <a:r>
            <a:rPr lang="en-US" b="0"/>
            <a:t> um </a:t>
          </a:r>
          <a:r>
            <a:rPr lang="en-US" b="0" err="1"/>
            <a:t>Kernbereiche</a:t>
          </a:r>
          <a:r>
            <a:rPr lang="en-US" b="0"/>
            <a:t> </a:t>
          </a:r>
          <a:r>
            <a:rPr lang="en-US" b="0" err="1"/>
            <a:t>wie</a:t>
          </a:r>
          <a:r>
            <a:rPr lang="en-US" b="0"/>
            <a:t> 800-Volt-Ladetechnik und </a:t>
          </a:r>
          <a:r>
            <a:rPr lang="en-US" b="0" err="1"/>
            <a:t>Thermomanagement</a:t>
          </a:r>
          <a:r>
            <a:rPr lang="en-US"/>
            <a:t>.</a:t>
          </a:r>
        </a:p>
      </dgm:t>
    </dgm:pt>
    <dgm:pt modelId="{C77F31B3-87A1-4429-953A-487B3A08A818}" type="parTrans" cxnId="{858E2124-960E-4198-ACD8-CCF568EDAF72}">
      <dgm:prSet/>
      <dgm:spPr/>
      <dgm:t>
        <a:bodyPr/>
        <a:lstStyle/>
        <a:p>
          <a:endParaRPr lang="en-US"/>
        </a:p>
      </dgm:t>
    </dgm:pt>
    <dgm:pt modelId="{31C5A9AE-7D48-4467-AC70-B02FC786B0FD}" type="sibTrans" cxnId="{858E2124-960E-4198-ACD8-CCF568EDAF72}">
      <dgm:prSet/>
      <dgm:spPr/>
      <dgm:t>
        <a:bodyPr/>
        <a:lstStyle/>
        <a:p>
          <a:endParaRPr lang="en-US"/>
        </a:p>
      </dgm:t>
    </dgm:pt>
    <dgm:pt modelId="{0C710009-82BB-7640-B224-2BA7B52EE180}">
      <dgm:prSet/>
      <dgm:spPr/>
      <dgm:t>
        <a:bodyPr/>
        <a:lstStyle/>
        <a:p>
          <a:r>
            <a:rPr lang="en-US"/>
            <a:t>Die </a:t>
          </a:r>
          <a:r>
            <a:rPr lang="en-US" b="0" err="1"/>
            <a:t>Produktionswerke</a:t>
          </a:r>
          <a:r>
            <a:rPr lang="en-US" b="0"/>
            <a:t> </a:t>
          </a:r>
          <a:r>
            <a:rPr lang="en-US" b="0">
              <a:latin typeface="Aptos Display" panose="02110004020202020204"/>
            </a:rPr>
            <a:t>in</a:t>
          </a:r>
          <a:r>
            <a:rPr lang="en-US" b="0"/>
            <a:t> Stuttgart-</a:t>
          </a:r>
          <a:r>
            <a:rPr lang="en-US" b="0" err="1"/>
            <a:t>Zuffenhausen</a:t>
          </a:r>
          <a:r>
            <a:rPr lang="en-US" b="1"/>
            <a:t> </a:t>
          </a:r>
          <a:r>
            <a:rPr lang="en-US" b="0"/>
            <a:t>und Leipzig</a:t>
          </a:r>
          <a:r>
            <a:rPr lang="en-US"/>
            <a:t> </a:t>
          </a:r>
          <a:r>
            <a:rPr lang="en-US" err="1"/>
            <a:t>wandelten</a:t>
          </a:r>
          <a:r>
            <a:rPr lang="en-US"/>
            <a:t> </a:t>
          </a:r>
          <a:r>
            <a:rPr lang="en-US" err="1"/>
            <a:t>sich</a:t>
          </a:r>
          <a:r>
            <a:rPr lang="en-US"/>
            <a:t> von </a:t>
          </a:r>
          <a:r>
            <a:rPr lang="en-US" err="1"/>
            <a:t>getrennten</a:t>
          </a:r>
          <a:r>
            <a:rPr lang="en-US"/>
            <a:t> </a:t>
          </a:r>
          <a:r>
            <a:rPr lang="en-US" err="1"/>
            <a:t>Fertigungslinien</a:t>
          </a:r>
          <a:r>
            <a:rPr lang="en-US"/>
            <a:t> </a:t>
          </a:r>
          <a:r>
            <a:rPr lang="en-US" err="1"/>
            <a:t>zu</a:t>
          </a:r>
          <a:r>
            <a:rPr lang="en-US"/>
            <a:t> </a:t>
          </a:r>
          <a:r>
            <a:rPr lang="en-US" err="1"/>
            <a:t>vollflexiblen</a:t>
          </a:r>
          <a:r>
            <a:rPr lang="en-US"/>
            <a:t> Anlagen für die </a:t>
          </a:r>
          <a:r>
            <a:rPr lang="en-US" b="0"/>
            <a:t>Premium-</a:t>
          </a:r>
          <a:r>
            <a:rPr lang="en-US" b="0" err="1"/>
            <a:t>Fertigung</a:t>
          </a:r>
          <a:r>
            <a:rPr lang="en-US"/>
            <a:t> </a:t>
          </a:r>
          <a:r>
            <a:rPr lang="en-US" err="1"/>
            <a:t>aller</a:t>
          </a:r>
          <a:r>
            <a:rPr lang="en-US"/>
            <a:t> </a:t>
          </a:r>
          <a:r>
            <a:rPr lang="en-US" err="1"/>
            <a:t>Antriebsarten</a:t>
          </a:r>
          <a:r>
            <a:rPr lang="en-US"/>
            <a:t> auf </a:t>
          </a:r>
          <a:r>
            <a:rPr lang="en-US" err="1"/>
            <a:t>einem</a:t>
          </a:r>
          <a:r>
            <a:rPr lang="en-US"/>
            <a:t> Band.</a:t>
          </a:r>
        </a:p>
      </dgm:t>
    </dgm:pt>
    <dgm:pt modelId="{0CF2DB84-414F-C341-8E83-9BBC5AE8111A}" type="parTrans" cxnId="{B145DF1B-B207-8842-9EB5-61562B65A56A}">
      <dgm:prSet/>
      <dgm:spPr/>
      <dgm:t>
        <a:bodyPr/>
        <a:lstStyle/>
        <a:p>
          <a:endParaRPr lang="en-US"/>
        </a:p>
      </dgm:t>
    </dgm:pt>
    <dgm:pt modelId="{10ABF6CD-B1BD-8642-9D1B-A81FAA3E0FA3}" type="sibTrans" cxnId="{B145DF1B-B207-8842-9EB5-61562B65A56A}">
      <dgm:prSet/>
      <dgm:spPr/>
      <dgm:t>
        <a:bodyPr/>
        <a:lstStyle/>
        <a:p>
          <a:endParaRPr lang="en-US"/>
        </a:p>
      </dgm:t>
    </dgm:pt>
    <dgm:pt modelId="{5C55BA16-E3BF-AC42-AD37-2CAAD013965D}">
      <dgm:prSet/>
      <dgm:spPr/>
      <dgm:t>
        <a:bodyPr/>
        <a:lstStyle/>
        <a:p>
          <a:pPr rtl="0"/>
          <a:r>
            <a:rPr lang="en-US" b="0"/>
            <a:t>Die Motorsport-</a:t>
          </a:r>
          <a:r>
            <a:rPr lang="en-US" b="0" err="1"/>
            <a:t>Erfahrung</a:t>
          </a:r>
          <a:r>
            <a:rPr lang="en-US" b="0"/>
            <a:t> (z. B. Le Mans-Siege </a:t>
          </a:r>
          <a:r>
            <a:rPr lang="en-US" b="0" err="1"/>
            <a:t>mit</a:t>
          </a:r>
          <a:r>
            <a:rPr lang="en-US" b="0"/>
            <a:t> dem 919 Hybrid) </a:t>
          </a:r>
          <a:r>
            <a:rPr lang="en-US" b="0" err="1"/>
            <a:t>diente</a:t>
          </a:r>
          <a:r>
            <a:rPr lang="en-US" b="0"/>
            <a:t> </a:t>
          </a:r>
          <a:r>
            <a:rPr lang="en-US" b="0" err="1"/>
            <a:t>direkt</a:t>
          </a:r>
          <a:r>
            <a:rPr lang="en-US" b="0"/>
            <a:t> </a:t>
          </a:r>
          <a:r>
            <a:rPr lang="en-US" b="0" err="1"/>
            <a:t>als</a:t>
          </a:r>
          <a:r>
            <a:rPr lang="en-US" b="0"/>
            <a:t> </a:t>
          </a:r>
          <a:r>
            <a:rPr lang="en-US" b="0" err="1"/>
            <a:t>Technologielabor</a:t>
          </a:r>
          <a:r>
            <a:rPr lang="en-US" b="0"/>
            <a:t> für die Serie.</a:t>
          </a:r>
        </a:p>
      </dgm:t>
    </dgm:pt>
    <dgm:pt modelId="{DA47E86B-C00C-0E41-BFE7-AEA81BFDDD75}" type="parTrans" cxnId="{8BDC2238-5295-B740-A703-29FE9C817C70}">
      <dgm:prSet/>
      <dgm:spPr/>
      <dgm:t>
        <a:bodyPr/>
        <a:lstStyle/>
        <a:p>
          <a:endParaRPr lang="en-US"/>
        </a:p>
      </dgm:t>
    </dgm:pt>
    <dgm:pt modelId="{84321658-BF2D-0940-B775-5103EF489D30}" type="sibTrans" cxnId="{8BDC2238-5295-B740-A703-29FE9C817C70}">
      <dgm:prSet/>
      <dgm:spPr/>
      <dgm:t>
        <a:bodyPr/>
        <a:lstStyle/>
        <a:p>
          <a:endParaRPr lang="en-US"/>
        </a:p>
      </dgm:t>
    </dgm:pt>
    <dgm:pt modelId="{280815F5-2663-4DE8-98B4-FC2B30B834D0}">
      <dgm:prSet phldrT="[Text]" phldr="0"/>
      <dgm:spPr/>
      <dgm:t>
        <a:bodyPr/>
        <a:lstStyle/>
        <a:p>
          <a:pPr rtl="0"/>
          <a:r>
            <a:rPr lang="en-US"/>
            <a:t>Die </a:t>
          </a:r>
          <a:r>
            <a:rPr lang="en-US" b="0" err="1"/>
            <a:t>Entwicklungs</a:t>
          </a:r>
          <a:r>
            <a:rPr lang="en-US" b="0"/>
            <a:t>- und Testzentren</a:t>
          </a:r>
          <a:r>
            <a:rPr lang="en-US"/>
            <a:t> (v. a. </a:t>
          </a:r>
          <a:r>
            <a:rPr lang="en-US" err="1"/>
            <a:t>Weissach</a:t>
          </a:r>
          <a:r>
            <a:rPr lang="en-US"/>
            <a:t>) </a:t>
          </a:r>
          <a:r>
            <a:rPr lang="en-US" err="1"/>
            <a:t>verlagerten</a:t>
          </a:r>
          <a:r>
            <a:rPr lang="en-US"/>
            <a:t> </a:t>
          </a:r>
          <a:r>
            <a:rPr lang="en-US" err="1"/>
            <a:t>ihren</a:t>
          </a:r>
          <a:r>
            <a:rPr lang="en-US"/>
            <a:t> </a:t>
          </a:r>
          <a:r>
            <a:rPr lang="en-US" err="1"/>
            <a:t>Schwerpunkt</a:t>
          </a:r>
          <a:r>
            <a:rPr lang="en-US"/>
            <a:t> von der </a:t>
          </a:r>
          <a:r>
            <a:rPr lang="en-US" err="1"/>
            <a:t>reinen</a:t>
          </a:r>
          <a:r>
            <a:rPr lang="en-US"/>
            <a:t> Mechanik </a:t>
          </a:r>
          <a:r>
            <a:rPr lang="en-US" err="1"/>
            <a:t>hin</a:t>
          </a:r>
          <a:r>
            <a:rPr lang="en-US"/>
            <a:t> </a:t>
          </a:r>
          <a:r>
            <a:rPr lang="en-US" err="1"/>
            <a:t>zu</a:t>
          </a:r>
          <a:r>
            <a:rPr lang="en-US"/>
            <a:t> </a:t>
          </a:r>
          <a:r>
            <a:rPr lang="en-US" err="1"/>
            <a:t>Hochvolt-Prüfständen</a:t>
          </a:r>
          <a:r>
            <a:rPr lang="en-US"/>
            <a:t> und Software-</a:t>
          </a:r>
          <a:r>
            <a:rPr lang="en-US" err="1"/>
            <a:t>Simulationsumgebungen</a:t>
          </a:r>
          <a:r>
            <a:rPr lang="en-US"/>
            <a:t>.</a:t>
          </a:r>
          <a:endParaRPr lang="en-US">
            <a:latin typeface="Aptos Display" panose="02110004020202020204"/>
          </a:endParaRPr>
        </a:p>
      </dgm:t>
    </dgm:pt>
    <dgm:pt modelId="{258D8FE0-76BC-4AA5-B48B-AED4BA687CA8}" type="parTrans" cxnId="{2BD7B492-BBB0-4F12-A05D-F637EBDF979A}">
      <dgm:prSet/>
      <dgm:spPr/>
    </dgm:pt>
    <dgm:pt modelId="{A3BCC624-5D23-4D98-ABD1-0534D9764C77}" type="sibTrans" cxnId="{2BD7B492-BBB0-4F12-A05D-F637EBDF979A}">
      <dgm:prSet/>
      <dgm:spPr/>
    </dgm:pt>
    <dgm:pt modelId="{57EE056C-D3BB-4B20-971B-76798D8BF741}">
      <dgm:prSet phldrT="[Text]" phldr="0"/>
      <dgm:spPr/>
      <dgm:t>
        <a:bodyPr/>
        <a:lstStyle/>
        <a:p>
          <a:pPr rtl="0"/>
          <a:r>
            <a:rPr lang="en-US" b="0" err="1">
              <a:latin typeface="Calibri"/>
              <a:ea typeface="Calibri"/>
              <a:cs typeface="Calibri"/>
            </a:rPr>
            <a:t>Personelle</a:t>
          </a:r>
          <a:r>
            <a:rPr lang="en-US" b="0">
              <a:latin typeface="Calibri"/>
              <a:ea typeface="Calibri"/>
              <a:cs typeface="Calibri"/>
            </a:rPr>
            <a:t> </a:t>
          </a:r>
          <a:r>
            <a:rPr lang="en-US" b="0" err="1">
              <a:latin typeface="Calibri"/>
              <a:ea typeface="Calibri"/>
              <a:cs typeface="Calibri"/>
            </a:rPr>
            <a:t>Ressourcen</a:t>
          </a:r>
          <a:r>
            <a:rPr lang="en-US" b="0">
              <a:latin typeface="Calibri"/>
              <a:ea typeface="Calibri"/>
              <a:cs typeface="Calibri"/>
            </a:rPr>
            <a:t> &amp; F&amp;E</a:t>
          </a:r>
        </a:p>
      </dgm:t>
    </dgm:pt>
    <dgm:pt modelId="{84ACD4CE-A4CD-42CB-B5DD-A00B0677760A}" type="parTrans" cxnId="{6DE67D25-DFD7-4C6A-9DF5-336B5CB47F94}">
      <dgm:prSet/>
      <dgm:spPr/>
    </dgm:pt>
    <dgm:pt modelId="{5B1EED04-F56A-4702-8F07-6D157714CB16}" type="sibTrans" cxnId="{6DE67D25-DFD7-4C6A-9DF5-336B5CB47F94}">
      <dgm:prSet/>
      <dgm:spPr/>
    </dgm:pt>
    <dgm:pt modelId="{FC68E00B-8715-494C-9A71-A8AACB6DEB37}">
      <dgm:prSet phldrT="[Text]" phldr="0"/>
      <dgm:spPr/>
      <dgm:t>
        <a:bodyPr/>
        <a:lstStyle/>
        <a:p>
          <a:r>
            <a:rPr lang="en-US" b="0">
              <a:latin typeface="Calibri"/>
              <a:ea typeface="Calibri"/>
              <a:cs typeface="Calibri"/>
            </a:rPr>
            <a:t>Das </a:t>
          </a:r>
          <a:r>
            <a:rPr lang="en-US" b="0" err="1">
              <a:latin typeface="Calibri"/>
              <a:ea typeface="Calibri"/>
              <a:cs typeface="Calibri"/>
            </a:rPr>
            <a:t>Profil</a:t>
          </a:r>
          <a:r>
            <a:rPr lang="en-US" b="0">
              <a:latin typeface="Calibri"/>
              <a:ea typeface="Calibri"/>
              <a:cs typeface="Calibri"/>
            </a:rPr>
            <a:t> der </a:t>
          </a:r>
          <a:r>
            <a:rPr lang="en-US" b="0" err="1">
              <a:latin typeface="Calibri"/>
              <a:ea typeface="Calibri"/>
              <a:cs typeface="Calibri"/>
            </a:rPr>
            <a:t>Ingenieure</a:t>
          </a:r>
          <a:r>
            <a:rPr lang="en-US" b="0">
              <a:latin typeface="Calibri"/>
              <a:ea typeface="Calibri"/>
              <a:cs typeface="Calibri"/>
            </a:rPr>
            <a:t> und </a:t>
          </a:r>
          <a:r>
            <a:rPr lang="en-US" b="0" err="1">
              <a:latin typeface="Calibri"/>
              <a:ea typeface="Calibri"/>
              <a:cs typeface="Calibri"/>
            </a:rPr>
            <a:t>Entwickler</a:t>
          </a:r>
          <a:r>
            <a:rPr lang="en-US" b="0">
              <a:latin typeface="Calibri"/>
              <a:ea typeface="Calibri"/>
              <a:cs typeface="Calibri"/>
            </a:rPr>
            <a:t> </a:t>
          </a:r>
          <a:r>
            <a:rPr lang="en-US" b="0" err="1">
              <a:latin typeface="Calibri"/>
              <a:ea typeface="Calibri"/>
              <a:cs typeface="Calibri"/>
            </a:rPr>
            <a:t>wandelte</a:t>
          </a:r>
          <a:r>
            <a:rPr lang="en-US" b="0">
              <a:latin typeface="Calibri"/>
              <a:ea typeface="Calibri"/>
              <a:cs typeface="Calibri"/>
            </a:rPr>
            <a:t> </a:t>
          </a:r>
          <a:r>
            <a:rPr lang="en-US" b="0" err="1">
              <a:latin typeface="Calibri"/>
              <a:ea typeface="Calibri"/>
              <a:cs typeface="Calibri"/>
            </a:rPr>
            <a:t>sich</a:t>
          </a:r>
          <a:r>
            <a:rPr lang="en-US" b="0">
              <a:latin typeface="Calibri"/>
              <a:ea typeface="Calibri"/>
              <a:cs typeface="Calibri"/>
            </a:rPr>
            <a:t> </a:t>
          </a:r>
          <a:r>
            <a:rPr lang="en-US" b="0" err="1">
              <a:latin typeface="Calibri"/>
              <a:ea typeface="Calibri"/>
              <a:cs typeface="Calibri"/>
            </a:rPr>
            <a:t>drastisch</a:t>
          </a:r>
          <a:r>
            <a:rPr lang="en-US" b="0">
              <a:latin typeface="Calibri"/>
              <a:ea typeface="Calibri"/>
              <a:cs typeface="Calibri"/>
            </a:rPr>
            <a:t>: Neben </a:t>
          </a:r>
          <a:r>
            <a:rPr lang="en-US" b="0" err="1">
              <a:latin typeface="Calibri"/>
              <a:ea typeface="Calibri"/>
              <a:cs typeface="Calibri"/>
            </a:rPr>
            <a:t>klassischen</a:t>
          </a:r>
          <a:r>
            <a:rPr lang="en-US" b="0">
              <a:latin typeface="Calibri"/>
              <a:ea typeface="Calibri"/>
              <a:cs typeface="Calibri"/>
            </a:rPr>
            <a:t> </a:t>
          </a:r>
          <a:r>
            <a:rPr lang="en-US" b="0" err="1">
              <a:latin typeface="Calibri"/>
              <a:ea typeface="Calibri"/>
              <a:cs typeface="Calibri"/>
            </a:rPr>
            <a:t>Maschinenbauern</a:t>
          </a:r>
          <a:r>
            <a:rPr lang="en-US" b="0">
              <a:latin typeface="Calibri"/>
              <a:ea typeface="Calibri"/>
              <a:cs typeface="Calibri"/>
            </a:rPr>
            <a:t> </a:t>
          </a:r>
          <a:r>
            <a:rPr lang="en-US" b="0" err="1">
              <a:latin typeface="Calibri"/>
              <a:ea typeface="Calibri"/>
              <a:cs typeface="Calibri"/>
            </a:rPr>
            <a:t>wurden</a:t>
          </a:r>
          <a:r>
            <a:rPr lang="en-US" b="0">
              <a:latin typeface="Calibri"/>
              <a:ea typeface="Calibri"/>
              <a:cs typeface="Calibri"/>
            </a:rPr>
            <a:t> </a:t>
          </a:r>
          <a:r>
            <a:rPr lang="en-US" b="0" err="1">
              <a:latin typeface="Calibri"/>
              <a:ea typeface="Calibri"/>
              <a:cs typeface="Calibri"/>
            </a:rPr>
            <a:t>gezielt</a:t>
          </a:r>
          <a:r>
            <a:rPr lang="en-US" b="0">
              <a:latin typeface="Calibri"/>
              <a:ea typeface="Calibri"/>
              <a:cs typeface="Calibri"/>
            </a:rPr>
            <a:t> Software-</a:t>
          </a:r>
          <a:r>
            <a:rPr lang="en-US" b="0" err="1">
              <a:latin typeface="Calibri"/>
              <a:ea typeface="Calibri"/>
              <a:cs typeface="Calibri"/>
            </a:rPr>
            <a:t>Spezialisten</a:t>
          </a:r>
          <a:r>
            <a:rPr lang="en-US" b="0">
              <a:latin typeface="Calibri"/>
              <a:ea typeface="Calibri"/>
              <a:cs typeface="Calibri"/>
            </a:rPr>
            <a:t> </a:t>
          </a:r>
          <a:r>
            <a:rPr lang="en-US" b="0" err="1">
              <a:latin typeface="Calibri"/>
              <a:ea typeface="Calibri"/>
              <a:cs typeface="Calibri"/>
            </a:rPr>
            <a:t>aufgebaut</a:t>
          </a:r>
          <a:r>
            <a:rPr lang="en-US" b="0">
              <a:latin typeface="Calibri"/>
              <a:ea typeface="Calibri"/>
              <a:cs typeface="Calibri"/>
            </a:rPr>
            <a:t>.</a:t>
          </a:r>
        </a:p>
      </dgm:t>
    </dgm:pt>
    <dgm:pt modelId="{042A4D11-1CD9-4483-B160-A7B15AAAB5DC}" type="parTrans" cxnId="{F0173EF5-A21B-43E3-95C9-8D65B17A8941}">
      <dgm:prSet/>
      <dgm:spPr/>
    </dgm:pt>
    <dgm:pt modelId="{F1568996-FD73-4044-882E-BB272CE8FACA}" type="sibTrans" cxnId="{F0173EF5-A21B-43E3-95C9-8D65B17A8941}">
      <dgm:prSet/>
      <dgm:spPr/>
    </dgm:pt>
    <dgm:pt modelId="{DDE6FA0A-F1D0-4CD6-818D-FC595659E979}">
      <dgm:prSet phldrT="[Text]" phldr="0"/>
      <dgm:spPr/>
      <dgm:t>
        <a:bodyPr/>
        <a:lstStyle/>
        <a:p>
          <a:r>
            <a:rPr lang="en-US" b="0">
              <a:latin typeface="Calibri"/>
              <a:ea typeface="Calibri"/>
              <a:cs typeface="Calibri"/>
            </a:rPr>
            <a:t>Die Forschung und </a:t>
          </a:r>
          <a:r>
            <a:rPr lang="en-US" b="0" err="1">
              <a:latin typeface="Calibri"/>
              <a:ea typeface="Calibri"/>
              <a:cs typeface="Calibri"/>
            </a:rPr>
            <a:t>Entwicklung</a:t>
          </a:r>
          <a:r>
            <a:rPr lang="en-US" b="0">
              <a:latin typeface="Calibri"/>
              <a:ea typeface="Calibri"/>
              <a:cs typeface="Calibri"/>
            </a:rPr>
            <a:t> </a:t>
          </a:r>
          <a:r>
            <a:rPr lang="en-US" b="0" err="1">
              <a:latin typeface="Calibri"/>
              <a:ea typeface="Calibri"/>
              <a:cs typeface="Calibri"/>
            </a:rPr>
            <a:t>verschob</a:t>
          </a:r>
          <a:r>
            <a:rPr lang="en-US" b="0">
              <a:latin typeface="Calibri"/>
              <a:ea typeface="Calibri"/>
              <a:cs typeface="Calibri"/>
            </a:rPr>
            <a:t> den </a:t>
          </a:r>
          <a:r>
            <a:rPr lang="en-US" b="0" err="1">
              <a:latin typeface="Calibri"/>
              <a:ea typeface="Calibri"/>
              <a:cs typeface="Calibri"/>
            </a:rPr>
            <a:t>Fokus</a:t>
          </a:r>
          <a:r>
            <a:rPr lang="en-US" b="0">
              <a:latin typeface="Calibri"/>
              <a:ea typeface="Calibri"/>
              <a:cs typeface="Calibri"/>
            </a:rPr>
            <a:t> </a:t>
          </a:r>
          <a:r>
            <a:rPr lang="en-US" b="0" err="1">
              <a:latin typeface="Calibri"/>
              <a:ea typeface="Calibri"/>
              <a:cs typeface="Calibri"/>
            </a:rPr>
            <a:t>bei</a:t>
          </a:r>
          <a:r>
            <a:rPr lang="en-US" b="0">
              <a:latin typeface="Calibri"/>
              <a:ea typeface="Calibri"/>
              <a:cs typeface="Calibri"/>
            </a:rPr>
            <a:t> der </a:t>
          </a:r>
          <a:r>
            <a:rPr lang="en-US" b="0" err="1">
              <a:latin typeface="Calibri"/>
              <a:ea typeface="Calibri"/>
              <a:cs typeface="Calibri"/>
            </a:rPr>
            <a:t>Entwicklung</a:t>
          </a:r>
          <a:r>
            <a:rPr lang="en-US" b="0">
              <a:latin typeface="Calibri"/>
              <a:ea typeface="Calibri"/>
              <a:cs typeface="Calibri"/>
            </a:rPr>
            <a:t> </a:t>
          </a:r>
          <a:r>
            <a:rPr lang="en-US" b="0" err="1">
              <a:latin typeface="Calibri"/>
              <a:ea typeface="Calibri"/>
              <a:cs typeface="Calibri"/>
            </a:rPr>
            <a:t>neuer</a:t>
          </a:r>
          <a:r>
            <a:rPr lang="en-US" b="0">
              <a:latin typeface="Calibri"/>
              <a:ea typeface="Calibri"/>
              <a:cs typeface="Calibri"/>
            </a:rPr>
            <a:t> </a:t>
          </a:r>
          <a:r>
            <a:rPr lang="en-US" b="0" err="1">
              <a:latin typeface="Calibri"/>
              <a:ea typeface="Calibri"/>
              <a:cs typeface="Calibri"/>
            </a:rPr>
            <a:t>Fahrzeugtechnologien</a:t>
          </a:r>
          <a:r>
            <a:rPr lang="en-US" b="0">
              <a:latin typeface="Calibri"/>
              <a:ea typeface="Calibri"/>
              <a:cs typeface="Calibri"/>
            </a:rPr>
            <a:t> </a:t>
          </a:r>
          <a:r>
            <a:rPr lang="en-US" b="0" err="1">
              <a:latin typeface="Calibri"/>
              <a:ea typeface="Calibri"/>
              <a:cs typeface="Calibri"/>
            </a:rPr>
            <a:t>massiv</a:t>
          </a:r>
          <a:r>
            <a:rPr lang="en-US" b="0">
              <a:latin typeface="Calibri"/>
              <a:ea typeface="Calibri"/>
              <a:cs typeface="Calibri"/>
            </a:rPr>
            <a:t> in </a:t>
          </a:r>
          <a:r>
            <a:rPr lang="en-US" b="0" err="1">
              <a:latin typeface="Calibri"/>
              <a:ea typeface="Calibri"/>
              <a:cs typeface="Calibri"/>
            </a:rPr>
            <a:t>Richtung</a:t>
          </a:r>
          <a:r>
            <a:rPr lang="en-US" b="0">
              <a:latin typeface="Calibri"/>
              <a:ea typeface="Calibri"/>
              <a:cs typeface="Calibri"/>
            </a:rPr>
            <a:t> </a:t>
          </a:r>
          <a:r>
            <a:rPr lang="en-US" b="0" err="1">
              <a:latin typeface="Calibri"/>
              <a:ea typeface="Calibri"/>
              <a:cs typeface="Calibri"/>
            </a:rPr>
            <a:t>Elektromobilität</a:t>
          </a:r>
          <a:r>
            <a:rPr lang="en-US" b="0">
              <a:latin typeface="Calibri"/>
              <a:ea typeface="Calibri"/>
              <a:cs typeface="Calibri"/>
            </a:rPr>
            <a:t> und </a:t>
          </a:r>
          <a:r>
            <a:rPr lang="en-US" b="0" err="1">
              <a:latin typeface="Calibri"/>
              <a:ea typeface="Calibri"/>
              <a:cs typeface="Calibri"/>
            </a:rPr>
            <a:t>Batterietechnik</a:t>
          </a:r>
          <a:r>
            <a:rPr lang="en-US" b="0">
              <a:latin typeface="Calibri"/>
              <a:ea typeface="Calibri"/>
              <a:cs typeface="Calibri"/>
            </a:rPr>
            <a:t>.</a:t>
          </a:r>
        </a:p>
      </dgm:t>
    </dgm:pt>
    <dgm:pt modelId="{1A3A7279-8F74-49BF-8388-ABB749C31C01}" type="parTrans" cxnId="{4C9D4969-FEBD-4C23-BAC1-FF64D4DA99B9}">
      <dgm:prSet/>
      <dgm:spPr/>
    </dgm:pt>
    <dgm:pt modelId="{AF7EA5D2-6382-4A43-BF6B-7E9F004FC0F5}" type="sibTrans" cxnId="{4C9D4969-FEBD-4C23-BAC1-FF64D4DA99B9}">
      <dgm:prSet/>
      <dgm:spPr/>
    </dgm:pt>
    <dgm:pt modelId="{375992B7-ACF1-4D46-837B-36723EED3E84}" type="pres">
      <dgm:prSet presAssocID="{59B48725-8164-48E2-83AE-6A0F034E462B}" presName="linear" presStyleCnt="0">
        <dgm:presLayoutVars>
          <dgm:dir/>
          <dgm:animLvl val="lvl"/>
          <dgm:resizeHandles val="exact"/>
        </dgm:presLayoutVars>
      </dgm:prSet>
      <dgm:spPr/>
    </dgm:pt>
    <dgm:pt modelId="{F371A86E-4236-4FF7-993A-C21465EC40AB}" type="pres">
      <dgm:prSet presAssocID="{C56D2CC8-C45D-4E18-B90B-54073C21F11D}" presName="parentLin" presStyleCnt="0"/>
      <dgm:spPr/>
    </dgm:pt>
    <dgm:pt modelId="{94449367-7F46-49E8-8234-C99E97B430CE}" type="pres">
      <dgm:prSet presAssocID="{C56D2CC8-C45D-4E18-B90B-54073C21F11D}" presName="parentLeftMargin" presStyleLbl="node1" presStyleIdx="0" presStyleCnt="3"/>
      <dgm:spPr/>
    </dgm:pt>
    <dgm:pt modelId="{46072EA0-3A8A-4C5E-A4BA-97CD85B6BB18}" type="pres">
      <dgm:prSet presAssocID="{C56D2CC8-C45D-4E18-B90B-54073C21F11D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0878519C-DB1D-47BC-96B9-3645F8D9CCA8}" type="pres">
      <dgm:prSet presAssocID="{C56D2CC8-C45D-4E18-B90B-54073C21F11D}" presName="negativeSpace" presStyleCnt="0"/>
      <dgm:spPr/>
    </dgm:pt>
    <dgm:pt modelId="{22796D9B-E35B-47BE-B37D-17F4F0401E5B}" type="pres">
      <dgm:prSet presAssocID="{C56D2CC8-C45D-4E18-B90B-54073C21F11D}" presName="childText" presStyleLbl="conFgAcc1" presStyleIdx="0" presStyleCnt="3">
        <dgm:presLayoutVars>
          <dgm:bulletEnabled val="1"/>
        </dgm:presLayoutVars>
      </dgm:prSet>
      <dgm:spPr/>
    </dgm:pt>
    <dgm:pt modelId="{9BEA2A6C-34D9-4DF1-8EE3-BEC60E721BE6}" type="pres">
      <dgm:prSet presAssocID="{89C48FA8-710C-437F-BFF9-10423656F7C3}" presName="spaceBetweenRectangles" presStyleCnt="0"/>
      <dgm:spPr/>
    </dgm:pt>
    <dgm:pt modelId="{310219A8-9E58-495E-96A4-26E7488278DB}" type="pres">
      <dgm:prSet presAssocID="{E9B2743D-E813-4ED6-B7B3-4B2993A6FCD9}" presName="parentLin" presStyleCnt="0"/>
      <dgm:spPr/>
    </dgm:pt>
    <dgm:pt modelId="{CF87A662-4CBD-44DB-9EB7-7696D6898579}" type="pres">
      <dgm:prSet presAssocID="{E9B2743D-E813-4ED6-B7B3-4B2993A6FCD9}" presName="parentLeftMargin" presStyleLbl="node1" presStyleIdx="0" presStyleCnt="3"/>
      <dgm:spPr/>
    </dgm:pt>
    <dgm:pt modelId="{F87C57E0-2122-4979-A760-2DF98E4AFF6C}" type="pres">
      <dgm:prSet presAssocID="{E9B2743D-E813-4ED6-B7B3-4B2993A6FCD9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2B4CFD15-7E34-48CD-B614-67CF38A6E3F1}" type="pres">
      <dgm:prSet presAssocID="{E9B2743D-E813-4ED6-B7B3-4B2993A6FCD9}" presName="negativeSpace" presStyleCnt="0"/>
      <dgm:spPr/>
    </dgm:pt>
    <dgm:pt modelId="{8AC9CA7F-823A-49BC-9171-68C00533E5BF}" type="pres">
      <dgm:prSet presAssocID="{E9B2743D-E813-4ED6-B7B3-4B2993A6FCD9}" presName="childText" presStyleLbl="conFgAcc1" presStyleIdx="1" presStyleCnt="3">
        <dgm:presLayoutVars>
          <dgm:bulletEnabled val="1"/>
        </dgm:presLayoutVars>
      </dgm:prSet>
      <dgm:spPr/>
    </dgm:pt>
    <dgm:pt modelId="{1E89644C-8F79-42EC-A0CB-7E1C7C3D24A8}" type="pres">
      <dgm:prSet presAssocID="{0D10EED2-FE71-4A74-89D3-D4BD8FA006FB}" presName="spaceBetweenRectangles" presStyleCnt="0"/>
      <dgm:spPr/>
    </dgm:pt>
    <dgm:pt modelId="{64915168-D0EE-4904-8EA7-FE42D9FE598C}" type="pres">
      <dgm:prSet presAssocID="{57EE056C-D3BB-4B20-971B-76798D8BF741}" presName="parentLin" presStyleCnt="0"/>
      <dgm:spPr/>
    </dgm:pt>
    <dgm:pt modelId="{C553DEBA-150C-41AF-BEBB-022AC941E092}" type="pres">
      <dgm:prSet presAssocID="{57EE056C-D3BB-4B20-971B-76798D8BF741}" presName="parentLeftMargin" presStyleLbl="node1" presStyleIdx="1" presStyleCnt="3"/>
      <dgm:spPr/>
    </dgm:pt>
    <dgm:pt modelId="{9B0A622B-2DB6-414E-95EC-1BD0A9B6330D}" type="pres">
      <dgm:prSet presAssocID="{57EE056C-D3BB-4B20-971B-76798D8BF741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F4240D3F-1654-4F36-ABF3-40A162FBDA26}" type="pres">
      <dgm:prSet presAssocID="{57EE056C-D3BB-4B20-971B-76798D8BF741}" presName="negativeSpace" presStyleCnt="0"/>
      <dgm:spPr/>
    </dgm:pt>
    <dgm:pt modelId="{6265ED3E-4C88-468B-AB70-EC5A109E7C94}" type="pres">
      <dgm:prSet presAssocID="{57EE056C-D3BB-4B20-971B-76798D8BF741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B145DF1B-B207-8842-9EB5-61562B65A56A}" srcId="{C56D2CC8-C45D-4E18-B90B-54073C21F11D}" destId="{0C710009-82BB-7640-B224-2BA7B52EE180}" srcOrd="0" destOrd="0" parTransId="{0CF2DB84-414F-C341-8E83-9BBC5AE8111A}" sibTransId="{10ABF6CD-B1BD-8642-9D1B-A81FAA3E0FA3}"/>
    <dgm:cxn modelId="{EC1BBB1E-7F81-4D66-A087-8A3EC7D36A28}" type="presOf" srcId="{280815F5-2663-4DE8-98B4-FC2B30B834D0}" destId="{22796D9B-E35B-47BE-B37D-17F4F0401E5B}" srcOrd="0" destOrd="1" presId="urn:microsoft.com/office/officeart/2005/8/layout/list1"/>
    <dgm:cxn modelId="{858E2124-960E-4198-ACD8-CCF568EDAF72}" srcId="{E9B2743D-E813-4ED6-B7B3-4B2993A6FCD9}" destId="{BD935179-6D5D-41E6-A951-5AC8DBA5A1DB}" srcOrd="0" destOrd="0" parTransId="{C77F31B3-87A1-4429-953A-487B3A08A818}" sibTransId="{31C5A9AE-7D48-4467-AC70-B02FC786B0FD}"/>
    <dgm:cxn modelId="{81FDD124-1AEA-4409-8669-8C1E2F08AC1A}" type="presOf" srcId="{DDE6FA0A-F1D0-4CD6-818D-FC595659E979}" destId="{6265ED3E-4C88-468B-AB70-EC5A109E7C94}" srcOrd="0" destOrd="1" presId="urn:microsoft.com/office/officeart/2005/8/layout/list1"/>
    <dgm:cxn modelId="{6DE67D25-DFD7-4C6A-9DF5-336B5CB47F94}" srcId="{59B48725-8164-48E2-83AE-6A0F034E462B}" destId="{57EE056C-D3BB-4B20-971B-76798D8BF741}" srcOrd="2" destOrd="0" parTransId="{84ACD4CE-A4CD-42CB-B5DD-A00B0677760A}" sibTransId="{5B1EED04-F56A-4702-8F07-6D157714CB16}"/>
    <dgm:cxn modelId="{B217C22A-F393-4B3A-BD52-BE7D0ED54CB1}" srcId="{59B48725-8164-48E2-83AE-6A0F034E462B}" destId="{E9B2743D-E813-4ED6-B7B3-4B2993A6FCD9}" srcOrd="1" destOrd="0" parTransId="{071F5E14-BCCA-4F70-8057-AFF3B4C7153F}" sibTransId="{0D10EED2-FE71-4A74-89D3-D4BD8FA006FB}"/>
    <dgm:cxn modelId="{3B29E433-52BE-4859-99BB-382FF1E20899}" type="presOf" srcId="{C56D2CC8-C45D-4E18-B90B-54073C21F11D}" destId="{46072EA0-3A8A-4C5E-A4BA-97CD85B6BB18}" srcOrd="1" destOrd="0" presId="urn:microsoft.com/office/officeart/2005/8/layout/list1"/>
    <dgm:cxn modelId="{8BDC2238-5295-B740-A703-29FE9C817C70}" srcId="{E9B2743D-E813-4ED6-B7B3-4B2993A6FCD9}" destId="{5C55BA16-E3BF-AC42-AD37-2CAAD013965D}" srcOrd="1" destOrd="0" parTransId="{DA47E86B-C00C-0E41-BFE7-AEA81BFDDD75}" sibTransId="{84321658-BF2D-0940-B775-5103EF489D30}"/>
    <dgm:cxn modelId="{690C285D-05E0-4AB9-B7E1-0CC1807C9129}" type="presOf" srcId="{E9B2743D-E813-4ED6-B7B3-4B2993A6FCD9}" destId="{CF87A662-4CBD-44DB-9EB7-7696D6898579}" srcOrd="0" destOrd="0" presId="urn:microsoft.com/office/officeart/2005/8/layout/list1"/>
    <dgm:cxn modelId="{4C9D4969-FEBD-4C23-BAC1-FF64D4DA99B9}" srcId="{57EE056C-D3BB-4B20-971B-76798D8BF741}" destId="{DDE6FA0A-F1D0-4CD6-818D-FC595659E979}" srcOrd="1" destOrd="0" parTransId="{1A3A7279-8F74-49BF-8388-ABB749C31C01}" sibTransId="{AF7EA5D2-6382-4A43-BF6B-7E9F004FC0F5}"/>
    <dgm:cxn modelId="{812C886E-C876-457E-BF40-7AFA048A20BE}" type="presOf" srcId="{FC68E00B-8715-494C-9A71-A8AACB6DEB37}" destId="{6265ED3E-4C88-468B-AB70-EC5A109E7C94}" srcOrd="0" destOrd="0" presId="urn:microsoft.com/office/officeart/2005/8/layout/list1"/>
    <dgm:cxn modelId="{2BD7B492-BBB0-4F12-A05D-F637EBDF979A}" srcId="{C56D2CC8-C45D-4E18-B90B-54073C21F11D}" destId="{280815F5-2663-4DE8-98B4-FC2B30B834D0}" srcOrd="1" destOrd="0" parTransId="{258D8FE0-76BC-4AA5-B48B-AED4BA687CA8}" sibTransId="{A3BCC624-5D23-4D98-ABD1-0534D9764C77}"/>
    <dgm:cxn modelId="{78BDFC92-1211-4FA2-83E3-24E076AF882B}" type="presOf" srcId="{E9B2743D-E813-4ED6-B7B3-4B2993A6FCD9}" destId="{F87C57E0-2122-4979-A760-2DF98E4AFF6C}" srcOrd="1" destOrd="0" presId="urn:microsoft.com/office/officeart/2005/8/layout/list1"/>
    <dgm:cxn modelId="{B0E7EA9E-F809-4872-BF9A-A43DAFDAC445}" type="presOf" srcId="{C56D2CC8-C45D-4E18-B90B-54073C21F11D}" destId="{94449367-7F46-49E8-8234-C99E97B430CE}" srcOrd="0" destOrd="0" presId="urn:microsoft.com/office/officeart/2005/8/layout/list1"/>
    <dgm:cxn modelId="{EC9655BC-2CE8-41FD-8D7A-07A7B578B5E5}" type="presOf" srcId="{BD935179-6D5D-41E6-A951-5AC8DBA5A1DB}" destId="{8AC9CA7F-823A-49BC-9171-68C00533E5BF}" srcOrd="0" destOrd="0" presId="urn:microsoft.com/office/officeart/2005/8/layout/list1"/>
    <dgm:cxn modelId="{A88B9FC4-5222-46BC-8C2C-A71DCB986834}" type="presOf" srcId="{59B48725-8164-48E2-83AE-6A0F034E462B}" destId="{375992B7-ACF1-4D46-837B-36723EED3E84}" srcOrd="0" destOrd="0" presId="urn:microsoft.com/office/officeart/2005/8/layout/list1"/>
    <dgm:cxn modelId="{2ECDD3CA-8260-4828-A315-7A38C1478EE6}" srcId="{59B48725-8164-48E2-83AE-6A0F034E462B}" destId="{C56D2CC8-C45D-4E18-B90B-54073C21F11D}" srcOrd="0" destOrd="0" parTransId="{2A3E0714-CC4C-462A-A188-122DF104917B}" sibTransId="{89C48FA8-710C-437F-BFF9-10423656F7C3}"/>
    <dgm:cxn modelId="{42C570CF-1F44-4B9A-8B3B-8E3B8AEC59DD}" type="presOf" srcId="{57EE056C-D3BB-4B20-971B-76798D8BF741}" destId="{C553DEBA-150C-41AF-BEBB-022AC941E092}" srcOrd="0" destOrd="0" presId="urn:microsoft.com/office/officeart/2005/8/layout/list1"/>
    <dgm:cxn modelId="{FDC2A7D7-E843-4E4F-AFFC-78A696329D07}" type="presOf" srcId="{0C710009-82BB-7640-B224-2BA7B52EE180}" destId="{22796D9B-E35B-47BE-B37D-17F4F0401E5B}" srcOrd="0" destOrd="0" presId="urn:microsoft.com/office/officeart/2005/8/layout/list1"/>
    <dgm:cxn modelId="{F6D65FE7-3B7A-4DD0-91C2-8EF421F2F523}" type="presOf" srcId="{57EE056C-D3BB-4B20-971B-76798D8BF741}" destId="{9B0A622B-2DB6-414E-95EC-1BD0A9B6330D}" srcOrd="1" destOrd="0" presId="urn:microsoft.com/office/officeart/2005/8/layout/list1"/>
    <dgm:cxn modelId="{88070FEB-131C-4B18-93C3-DD1F78F309EB}" type="presOf" srcId="{5C55BA16-E3BF-AC42-AD37-2CAAD013965D}" destId="{8AC9CA7F-823A-49BC-9171-68C00533E5BF}" srcOrd="0" destOrd="1" presId="urn:microsoft.com/office/officeart/2005/8/layout/list1"/>
    <dgm:cxn modelId="{F0173EF5-A21B-43E3-95C9-8D65B17A8941}" srcId="{57EE056C-D3BB-4B20-971B-76798D8BF741}" destId="{FC68E00B-8715-494C-9A71-A8AACB6DEB37}" srcOrd="0" destOrd="0" parTransId="{042A4D11-1CD9-4483-B160-A7B15AAAB5DC}" sibTransId="{F1568996-FD73-4044-882E-BB272CE8FACA}"/>
    <dgm:cxn modelId="{1A8D57C9-86A0-47BA-B161-8C6862A50C4D}" type="presParOf" srcId="{375992B7-ACF1-4D46-837B-36723EED3E84}" destId="{F371A86E-4236-4FF7-993A-C21465EC40AB}" srcOrd="0" destOrd="0" presId="urn:microsoft.com/office/officeart/2005/8/layout/list1"/>
    <dgm:cxn modelId="{421A073E-64F4-4E32-8F9E-926E9BD3B48F}" type="presParOf" srcId="{F371A86E-4236-4FF7-993A-C21465EC40AB}" destId="{94449367-7F46-49E8-8234-C99E97B430CE}" srcOrd="0" destOrd="0" presId="urn:microsoft.com/office/officeart/2005/8/layout/list1"/>
    <dgm:cxn modelId="{A061737D-A6CE-4E94-A4B7-7AA49D9A40B5}" type="presParOf" srcId="{F371A86E-4236-4FF7-993A-C21465EC40AB}" destId="{46072EA0-3A8A-4C5E-A4BA-97CD85B6BB18}" srcOrd="1" destOrd="0" presId="urn:microsoft.com/office/officeart/2005/8/layout/list1"/>
    <dgm:cxn modelId="{2F11650A-73EC-489C-AB9D-5CFAB8BD1972}" type="presParOf" srcId="{375992B7-ACF1-4D46-837B-36723EED3E84}" destId="{0878519C-DB1D-47BC-96B9-3645F8D9CCA8}" srcOrd="1" destOrd="0" presId="urn:microsoft.com/office/officeart/2005/8/layout/list1"/>
    <dgm:cxn modelId="{FDB5199D-6AFC-4E60-BCD9-BF8CD8B49A94}" type="presParOf" srcId="{375992B7-ACF1-4D46-837B-36723EED3E84}" destId="{22796D9B-E35B-47BE-B37D-17F4F0401E5B}" srcOrd="2" destOrd="0" presId="urn:microsoft.com/office/officeart/2005/8/layout/list1"/>
    <dgm:cxn modelId="{064179ED-5984-47AE-BDB9-3D1782DDF0E4}" type="presParOf" srcId="{375992B7-ACF1-4D46-837B-36723EED3E84}" destId="{9BEA2A6C-34D9-4DF1-8EE3-BEC60E721BE6}" srcOrd="3" destOrd="0" presId="urn:microsoft.com/office/officeart/2005/8/layout/list1"/>
    <dgm:cxn modelId="{DA250EDF-1965-4C30-B157-E455DDB75E9E}" type="presParOf" srcId="{375992B7-ACF1-4D46-837B-36723EED3E84}" destId="{310219A8-9E58-495E-96A4-26E7488278DB}" srcOrd="4" destOrd="0" presId="urn:microsoft.com/office/officeart/2005/8/layout/list1"/>
    <dgm:cxn modelId="{08703704-64B4-45F9-BD8B-43BAB8DE8107}" type="presParOf" srcId="{310219A8-9E58-495E-96A4-26E7488278DB}" destId="{CF87A662-4CBD-44DB-9EB7-7696D6898579}" srcOrd="0" destOrd="0" presId="urn:microsoft.com/office/officeart/2005/8/layout/list1"/>
    <dgm:cxn modelId="{D0E766DF-A463-4C0B-A0AC-A346C2C7E1B7}" type="presParOf" srcId="{310219A8-9E58-495E-96A4-26E7488278DB}" destId="{F87C57E0-2122-4979-A760-2DF98E4AFF6C}" srcOrd="1" destOrd="0" presId="urn:microsoft.com/office/officeart/2005/8/layout/list1"/>
    <dgm:cxn modelId="{4FE098A0-01B5-4C93-8EA9-49A0DEAC966D}" type="presParOf" srcId="{375992B7-ACF1-4D46-837B-36723EED3E84}" destId="{2B4CFD15-7E34-48CD-B614-67CF38A6E3F1}" srcOrd="5" destOrd="0" presId="urn:microsoft.com/office/officeart/2005/8/layout/list1"/>
    <dgm:cxn modelId="{4FC43371-53F2-4138-A429-68527E721728}" type="presParOf" srcId="{375992B7-ACF1-4D46-837B-36723EED3E84}" destId="{8AC9CA7F-823A-49BC-9171-68C00533E5BF}" srcOrd="6" destOrd="0" presId="urn:microsoft.com/office/officeart/2005/8/layout/list1"/>
    <dgm:cxn modelId="{4742E26C-AE6A-4381-8CA2-358C9864EF6F}" type="presParOf" srcId="{375992B7-ACF1-4D46-837B-36723EED3E84}" destId="{1E89644C-8F79-42EC-A0CB-7E1C7C3D24A8}" srcOrd="7" destOrd="0" presId="urn:microsoft.com/office/officeart/2005/8/layout/list1"/>
    <dgm:cxn modelId="{4FADA41E-4A42-4AB2-B7E1-C660A6E18532}" type="presParOf" srcId="{375992B7-ACF1-4D46-837B-36723EED3E84}" destId="{64915168-D0EE-4904-8EA7-FE42D9FE598C}" srcOrd="8" destOrd="0" presId="urn:microsoft.com/office/officeart/2005/8/layout/list1"/>
    <dgm:cxn modelId="{1EE8DFF7-7AC9-464C-B830-144EA2447A46}" type="presParOf" srcId="{64915168-D0EE-4904-8EA7-FE42D9FE598C}" destId="{C553DEBA-150C-41AF-BEBB-022AC941E092}" srcOrd="0" destOrd="0" presId="urn:microsoft.com/office/officeart/2005/8/layout/list1"/>
    <dgm:cxn modelId="{56B879E5-C103-4B0D-8B71-BAD4F1BD5FAC}" type="presParOf" srcId="{64915168-D0EE-4904-8EA7-FE42D9FE598C}" destId="{9B0A622B-2DB6-414E-95EC-1BD0A9B6330D}" srcOrd="1" destOrd="0" presId="urn:microsoft.com/office/officeart/2005/8/layout/list1"/>
    <dgm:cxn modelId="{BA4D9856-3F1D-41E5-A4F1-71D9F2402832}" type="presParOf" srcId="{375992B7-ACF1-4D46-837B-36723EED3E84}" destId="{F4240D3F-1654-4F36-ABF3-40A162FBDA26}" srcOrd="9" destOrd="0" presId="urn:microsoft.com/office/officeart/2005/8/layout/list1"/>
    <dgm:cxn modelId="{20B7275F-BCB5-424E-83CD-78D7AB2F698A}" type="presParOf" srcId="{375992B7-ACF1-4D46-837B-36723EED3E84}" destId="{6265ED3E-4C88-468B-AB70-EC5A109E7C94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59B48725-8164-48E2-83AE-6A0F034E462B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56D2CC8-C45D-4E18-B90B-54073C21F11D}">
      <dgm:prSet/>
      <dgm:spPr/>
      <dgm:t>
        <a:bodyPr/>
        <a:lstStyle/>
        <a:p>
          <a:pPr algn="l"/>
          <a:r>
            <a:rPr lang="en-US" b="1"/>
            <a:t>Entwicklung leistungsstarker Premiumfahrzeuge</a:t>
          </a:r>
        </a:p>
      </dgm:t>
    </dgm:pt>
    <dgm:pt modelId="{2A3E0714-CC4C-462A-A188-122DF104917B}" type="parTrans" cxnId="{2ECDD3CA-8260-4828-A315-7A38C1478EE6}">
      <dgm:prSet/>
      <dgm:spPr/>
      <dgm:t>
        <a:bodyPr/>
        <a:lstStyle/>
        <a:p>
          <a:endParaRPr lang="en-US"/>
        </a:p>
      </dgm:t>
    </dgm:pt>
    <dgm:pt modelId="{89C48FA8-710C-437F-BFF9-10423656F7C3}" type="sibTrans" cxnId="{2ECDD3CA-8260-4828-A315-7A38C1478EE6}">
      <dgm:prSet/>
      <dgm:spPr/>
      <dgm:t>
        <a:bodyPr/>
        <a:lstStyle/>
        <a:p>
          <a:endParaRPr lang="en-US"/>
        </a:p>
      </dgm:t>
    </dgm:pt>
    <dgm:pt modelId="{E9B2743D-E813-4ED6-B7B3-4B2993A6FCD9}">
      <dgm:prSet/>
      <dgm:spPr/>
      <dgm:t>
        <a:bodyPr/>
        <a:lstStyle/>
        <a:p>
          <a:r>
            <a:rPr lang="en-US" b="1"/>
            <a:t>Premium-Marktführung als Schutzschild</a:t>
          </a:r>
        </a:p>
      </dgm:t>
    </dgm:pt>
    <dgm:pt modelId="{071F5E14-BCCA-4F70-8057-AFF3B4C7153F}" type="parTrans" cxnId="{B217C22A-F393-4B3A-BD52-BE7D0ED54CB1}">
      <dgm:prSet/>
      <dgm:spPr/>
      <dgm:t>
        <a:bodyPr/>
        <a:lstStyle/>
        <a:p>
          <a:endParaRPr lang="en-US"/>
        </a:p>
      </dgm:t>
    </dgm:pt>
    <dgm:pt modelId="{0D10EED2-FE71-4A74-89D3-D4BD8FA006FB}" type="sibTrans" cxnId="{B217C22A-F393-4B3A-BD52-BE7D0ED54CB1}">
      <dgm:prSet/>
      <dgm:spPr/>
      <dgm:t>
        <a:bodyPr/>
        <a:lstStyle/>
        <a:p>
          <a:endParaRPr lang="en-US"/>
        </a:p>
      </dgm:t>
    </dgm:pt>
    <dgm:pt modelId="{BD935179-6D5D-41E6-A951-5AC8DBA5A1DB}">
      <dgm:prSet/>
      <dgm:spPr/>
      <dgm:t>
        <a:bodyPr/>
        <a:lstStyle/>
        <a:p>
          <a:pPr algn="l" rtl="0"/>
          <a:r>
            <a:rPr lang="en-US" sz="1400" b="0" i="0"/>
            <a:t>Durch die konsequente Wahrung der </a:t>
          </a:r>
          <a:r>
            <a:rPr lang="en-US" sz="1400" b="1"/>
            <a:t>Exklusivität</a:t>
          </a:r>
          <a:r>
            <a:rPr lang="en-US" sz="1400" b="0"/>
            <a:t> besitzt Porsche eine außergewöhnlich </a:t>
          </a:r>
          <a:r>
            <a:rPr lang="en-US" sz="1400" b="1"/>
            <a:t>hohe Kundenloyalität</a:t>
          </a:r>
          <a:r>
            <a:rPr lang="en-US" sz="1400"/>
            <a:t>.</a:t>
          </a:r>
        </a:p>
      </dgm:t>
    </dgm:pt>
    <dgm:pt modelId="{C77F31B3-87A1-4429-953A-487B3A08A818}" type="parTrans" cxnId="{858E2124-960E-4198-ACD8-CCF568EDAF72}">
      <dgm:prSet/>
      <dgm:spPr/>
      <dgm:t>
        <a:bodyPr/>
        <a:lstStyle/>
        <a:p>
          <a:endParaRPr lang="en-US"/>
        </a:p>
      </dgm:t>
    </dgm:pt>
    <dgm:pt modelId="{31C5A9AE-7D48-4467-AC70-B02FC786B0FD}" type="sibTrans" cxnId="{858E2124-960E-4198-ACD8-CCF568EDAF72}">
      <dgm:prSet/>
      <dgm:spPr/>
      <dgm:t>
        <a:bodyPr/>
        <a:lstStyle/>
        <a:p>
          <a:endParaRPr lang="en-US"/>
        </a:p>
      </dgm:t>
    </dgm:pt>
    <dgm:pt modelId="{0C710009-82BB-7640-B224-2BA7B52EE180}">
      <dgm:prSet/>
      <dgm:spPr/>
      <dgm:t>
        <a:bodyPr/>
        <a:lstStyle/>
        <a:p>
          <a:r>
            <a:rPr lang="en-US"/>
            <a:t>Die </a:t>
          </a:r>
          <a:r>
            <a:rPr lang="en-US" b="0"/>
            <a:t>Kombination aus unverwechselbarer </a:t>
          </a:r>
          <a:r>
            <a:rPr lang="en-US" b="1"/>
            <a:t>Fahrdynamik</a:t>
          </a:r>
          <a:r>
            <a:rPr lang="en-US" b="0"/>
            <a:t>, </a:t>
          </a:r>
          <a:r>
            <a:rPr lang="en-US"/>
            <a:t>kompromissloser </a:t>
          </a:r>
          <a:r>
            <a:rPr lang="en-US" b="1"/>
            <a:t>Qualität</a:t>
          </a:r>
          <a:r>
            <a:rPr lang="en-US"/>
            <a:t> und kontinuierlicher </a:t>
          </a:r>
          <a:r>
            <a:rPr lang="en-US" b="1"/>
            <a:t>Innovation</a:t>
          </a:r>
          <a:r>
            <a:rPr lang="en-US"/>
            <a:t> wurde </a:t>
          </a:r>
          <a:r>
            <a:rPr lang="en-US" b="0"/>
            <a:t>in </a:t>
          </a:r>
          <a:r>
            <a:rPr lang="en-US"/>
            <a:t>den letzten 15 Jahren erfolgreich vom Verbrenner auf </a:t>
          </a:r>
          <a:r>
            <a:rPr lang="en-US" b="0"/>
            <a:t>den Elektroantrieb übertragen</a:t>
          </a:r>
          <a:r>
            <a:rPr lang="en-US"/>
            <a:t>.</a:t>
          </a:r>
        </a:p>
      </dgm:t>
    </dgm:pt>
    <dgm:pt modelId="{0CF2DB84-414F-C341-8E83-9BBC5AE8111A}" type="parTrans" cxnId="{B145DF1B-B207-8842-9EB5-61562B65A56A}">
      <dgm:prSet/>
      <dgm:spPr/>
      <dgm:t>
        <a:bodyPr/>
        <a:lstStyle/>
        <a:p>
          <a:endParaRPr lang="en-US"/>
        </a:p>
      </dgm:t>
    </dgm:pt>
    <dgm:pt modelId="{10ABF6CD-B1BD-8642-9D1B-A81FAA3E0FA3}" type="sibTrans" cxnId="{B145DF1B-B207-8842-9EB5-61562B65A56A}">
      <dgm:prSet/>
      <dgm:spPr/>
      <dgm:t>
        <a:bodyPr/>
        <a:lstStyle/>
        <a:p>
          <a:endParaRPr lang="en-US"/>
        </a:p>
      </dgm:t>
    </dgm:pt>
    <dgm:pt modelId="{5C55BA16-E3BF-AC42-AD37-2CAAD013965D}">
      <dgm:prSet/>
      <dgm:spPr/>
      <dgm:t>
        <a:bodyPr/>
        <a:lstStyle/>
        <a:p>
          <a:pPr algn="l"/>
          <a:r>
            <a:rPr lang="en-US" b="0" i="0"/>
            <a:t>Dies resultiert in einer extrem </a:t>
          </a:r>
          <a:r>
            <a:rPr lang="en-US" b="1" i="0"/>
            <a:t>hohen Preisbereitschaft</a:t>
          </a:r>
          <a:r>
            <a:rPr lang="en-US" b="0" i="0"/>
            <a:t> der </a:t>
          </a:r>
          <a:r>
            <a:rPr lang="en-US" b="0"/>
            <a:t>Käufer, was Porsche im volatilen Marktumfeld der Jahre 2024–2026 vor tiefen Krisen schützte.</a:t>
          </a:r>
          <a:endParaRPr lang="en-US"/>
        </a:p>
      </dgm:t>
    </dgm:pt>
    <dgm:pt modelId="{DA47E86B-C00C-0E41-BFE7-AEA81BFDDD75}" type="parTrans" cxnId="{8BDC2238-5295-B740-A703-29FE9C817C70}">
      <dgm:prSet/>
      <dgm:spPr/>
      <dgm:t>
        <a:bodyPr/>
        <a:lstStyle/>
        <a:p>
          <a:endParaRPr lang="en-US"/>
        </a:p>
      </dgm:t>
    </dgm:pt>
    <dgm:pt modelId="{84321658-BF2D-0940-B775-5103EF489D30}" type="sibTrans" cxnId="{8BDC2238-5295-B740-A703-29FE9C817C70}">
      <dgm:prSet/>
      <dgm:spPr/>
      <dgm:t>
        <a:bodyPr/>
        <a:lstStyle/>
        <a:p>
          <a:endParaRPr lang="en-US"/>
        </a:p>
      </dgm:t>
    </dgm:pt>
    <dgm:pt modelId="{57EE056C-D3BB-4B20-971B-76798D8BF741}">
      <dgm:prSet phldrT="[Text]" phldr="0"/>
      <dgm:spPr/>
      <dgm:t>
        <a:bodyPr/>
        <a:lstStyle/>
        <a:p>
          <a:r>
            <a:rPr lang="en-US" b="1"/>
            <a:t>Premium Produktion &amp; Flexibilität</a:t>
          </a:r>
          <a:endParaRPr lang="en-US" err="1"/>
        </a:p>
      </dgm:t>
    </dgm:pt>
    <dgm:pt modelId="{84ACD4CE-A4CD-42CB-B5DD-A00B0677760A}" type="parTrans" cxnId="{6DE67D25-DFD7-4C6A-9DF5-336B5CB47F94}">
      <dgm:prSet/>
      <dgm:spPr/>
    </dgm:pt>
    <dgm:pt modelId="{5B1EED04-F56A-4702-8F07-6D157714CB16}" type="sibTrans" cxnId="{6DE67D25-DFD7-4C6A-9DF5-336B5CB47F94}">
      <dgm:prSet/>
      <dgm:spPr/>
    </dgm:pt>
    <dgm:pt modelId="{FC68E00B-8715-494C-9A71-A8AACB6DEB37}">
      <dgm:prSet phldrT="[Text]" phldr="0"/>
      <dgm:spPr/>
      <dgm:t>
        <a:bodyPr/>
        <a:lstStyle/>
        <a:p>
          <a:pPr algn="l"/>
          <a:r>
            <a:rPr lang="en-US" b="0"/>
            <a:t>Das übergeordnete </a:t>
          </a:r>
          <a:r>
            <a:rPr lang="en-US" b="1"/>
            <a:t>Qualitätsmanagement</a:t>
          </a:r>
          <a:r>
            <a:rPr lang="en-US" b="0"/>
            <a:t> steuert heute eine hochgradig </a:t>
          </a:r>
          <a:r>
            <a:rPr lang="en-US" b="1"/>
            <a:t>flexible Fertigung</a:t>
          </a:r>
          <a:r>
            <a:rPr lang="en-US" b="0"/>
            <a:t>.</a:t>
          </a:r>
          <a:endParaRPr lang="en-US"/>
        </a:p>
      </dgm:t>
    </dgm:pt>
    <dgm:pt modelId="{042A4D11-1CD9-4483-B160-A7B15AAAB5DC}" type="parTrans" cxnId="{F0173EF5-A21B-43E3-95C9-8D65B17A8941}">
      <dgm:prSet/>
      <dgm:spPr/>
    </dgm:pt>
    <dgm:pt modelId="{F1568996-FD73-4044-882E-BB272CE8FACA}" type="sibTrans" cxnId="{F0173EF5-A21B-43E3-95C9-8D65B17A8941}">
      <dgm:prSet/>
      <dgm:spPr/>
    </dgm:pt>
    <dgm:pt modelId="{DDE6FA0A-F1D0-4CD6-818D-FC595659E979}">
      <dgm:prSet phldrT="[Text]" phldr="0"/>
      <dgm:spPr/>
      <dgm:t>
        <a:bodyPr/>
        <a:lstStyle/>
        <a:p>
          <a:pPr algn="l"/>
          <a:r>
            <a:rPr lang="en-US" b="0"/>
            <a:t>Die implementierte </a:t>
          </a:r>
          <a:r>
            <a:rPr lang="en-US" b="1"/>
            <a:t>Multi-Antriebsstrategie</a:t>
          </a:r>
          <a:r>
            <a:rPr lang="en-US" b="0"/>
            <a:t> ermöglicht es Porsche im Jahr 2026, je nach weltweiter Marktlage flexibel zwischen Verbrennern, Plug-in-Hybriden und BEVs auf derselben Linie zu wechseln.</a:t>
          </a:r>
          <a:endParaRPr lang="en-US"/>
        </a:p>
      </dgm:t>
    </dgm:pt>
    <dgm:pt modelId="{1A3A7279-8F74-49BF-8388-ABB749C31C01}" type="parTrans" cxnId="{4C9D4969-FEBD-4C23-BAC1-FF64D4DA99B9}">
      <dgm:prSet/>
      <dgm:spPr/>
    </dgm:pt>
    <dgm:pt modelId="{AF7EA5D2-6382-4A43-BF6B-7E9F004FC0F5}" type="sibTrans" cxnId="{4C9D4969-FEBD-4C23-BAC1-FF64D4DA99B9}">
      <dgm:prSet/>
      <dgm:spPr/>
    </dgm:pt>
    <dgm:pt modelId="{D1B37B22-2CAF-42A5-A25B-FC22860E39D5}">
      <dgm:prSet phldrT="[Text]" phldr="0"/>
      <dgm:spPr/>
      <dgm:t>
        <a:bodyPr/>
        <a:lstStyle/>
        <a:p>
          <a:pPr rtl="0"/>
          <a:r>
            <a:rPr lang="de-DE" sz="2200" b="1"/>
            <a:t>Nachhaltiger Wettbewerbsvorteil</a:t>
          </a:r>
          <a:endParaRPr lang="de-DE" sz="2200"/>
        </a:p>
      </dgm:t>
    </dgm:pt>
    <dgm:pt modelId="{D94F4D62-5091-4B56-BFAF-939DB6CCD82B}" type="parTrans" cxnId="{AFF743B8-0533-F640-9E23-616EFACD9229}">
      <dgm:prSet/>
      <dgm:spPr/>
    </dgm:pt>
    <dgm:pt modelId="{1AB4793F-9DDC-4B45-8579-6532A020E8D7}" type="sibTrans" cxnId="{AFF743B8-0533-F640-9E23-616EFACD9229}">
      <dgm:prSet/>
      <dgm:spPr/>
    </dgm:pt>
    <dgm:pt modelId="{33AD7073-8DD8-4B9D-9B39-1E6FA112E25A}">
      <dgm:prSet phldrT="[Text]" phldr="0"/>
      <dgm:spPr/>
      <dgm:t>
        <a:bodyPr/>
        <a:lstStyle/>
        <a:p>
          <a:pPr algn="l" rtl="0"/>
          <a:r>
            <a:rPr lang="de-DE" sz="1400" b="0"/>
            <a:t>Diese strategische Flexibilität sichert Porsche im Branchenvergleich dauerhaft </a:t>
          </a:r>
          <a:r>
            <a:rPr lang="de-DE" sz="1400" b="1"/>
            <a:t>hohe Margen</a:t>
          </a:r>
          <a:r>
            <a:rPr lang="de-DE" sz="1400" b="0"/>
            <a:t> und eine </a:t>
          </a:r>
          <a:r>
            <a:rPr lang="de-DE" sz="1400" b="1"/>
            <a:t>starke Marktposition</a:t>
          </a:r>
          <a:r>
            <a:rPr lang="de-DE" sz="1400" b="0"/>
            <a:t>.</a:t>
          </a:r>
          <a:endParaRPr lang="de-DE" sz="1400" b="1">
            <a:latin typeface="Aptos Display" panose="02110004020202020204"/>
          </a:endParaRPr>
        </a:p>
      </dgm:t>
    </dgm:pt>
    <dgm:pt modelId="{1F7A9BFC-B0F4-473E-A544-0E5B26A9EC15}" type="parTrans" cxnId="{D31E0C30-ED98-E241-9F21-2A86492FD824}">
      <dgm:prSet/>
      <dgm:spPr/>
    </dgm:pt>
    <dgm:pt modelId="{F8B7E658-DDA2-4C5E-B62C-7F2B6CEDA619}" type="sibTrans" cxnId="{D31E0C30-ED98-E241-9F21-2A86492FD824}">
      <dgm:prSet/>
      <dgm:spPr/>
    </dgm:pt>
    <dgm:pt modelId="{283E24D1-3FDD-4C1D-A8A0-F94FA4983AC9}">
      <dgm:prSet phldrT="[Text]" phldr="0"/>
      <dgm:spPr/>
      <dgm:t>
        <a:bodyPr/>
        <a:lstStyle/>
        <a:p>
          <a:pPr algn="l"/>
          <a:r>
            <a:rPr lang="de-DE" sz="1800" b="0"/>
            <a:t>Die Verbindung aus emotionaler Markenhistorie und technologischer Wandlungsfähigkeit garantiert die </a:t>
          </a:r>
          <a:r>
            <a:rPr lang="de-DE" sz="1800" b="1"/>
            <a:t>langfristige Kundenbindung</a:t>
          </a:r>
          <a:r>
            <a:rPr lang="de-DE" sz="1800" b="0"/>
            <a:t> für die kommenden Jahrzehnt</a:t>
          </a:r>
          <a:endParaRPr lang="de-DE"/>
        </a:p>
      </dgm:t>
    </dgm:pt>
    <dgm:pt modelId="{579EC870-6C49-49A2-A330-F176DFB99C7B}" type="parTrans" cxnId="{0F1C37D4-556C-4A4D-AFBE-11BB78281C15}">
      <dgm:prSet/>
      <dgm:spPr/>
    </dgm:pt>
    <dgm:pt modelId="{98BA8D10-5DCB-4DF4-AE4A-2F69A31300A5}" type="sibTrans" cxnId="{0F1C37D4-556C-4A4D-AFBE-11BB78281C15}">
      <dgm:prSet/>
      <dgm:spPr/>
    </dgm:pt>
    <dgm:pt modelId="{375992B7-ACF1-4D46-837B-36723EED3E84}" type="pres">
      <dgm:prSet presAssocID="{59B48725-8164-48E2-83AE-6A0F034E462B}" presName="linear" presStyleCnt="0">
        <dgm:presLayoutVars>
          <dgm:dir/>
          <dgm:animLvl val="lvl"/>
          <dgm:resizeHandles val="exact"/>
        </dgm:presLayoutVars>
      </dgm:prSet>
      <dgm:spPr/>
    </dgm:pt>
    <dgm:pt modelId="{F371A86E-4236-4FF7-993A-C21465EC40AB}" type="pres">
      <dgm:prSet presAssocID="{C56D2CC8-C45D-4E18-B90B-54073C21F11D}" presName="parentLin" presStyleCnt="0"/>
      <dgm:spPr/>
    </dgm:pt>
    <dgm:pt modelId="{94449367-7F46-49E8-8234-C99E97B430CE}" type="pres">
      <dgm:prSet presAssocID="{C56D2CC8-C45D-4E18-B90B-54073C21F11D}" presName="parentLeftMargin" presStyleLbl="node1" presStyleIdx="0" presStyleCnt="4"/>
      <dgm:spPr/>
    </dgm:pt>
    <dgm:pt modelId="{46072EA0-3A8A-4C5E-A4BA-97CD85B6BB18}" type="pres">
      <dgm:prSet presAssocID="{C56D2CC8-C45D-4E18-B90B-54073C21F11D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0878519C-DB1D-47BC-96B9-3645F8D9CCA8}" type="pres">
      <dgm:prSet presAssocID="{C56D2CC8-C45D-4E18-B90B-54073C21F11D}" presName="negativeSpace" presStyleCnt="0"/>
      <dgm:spPr/>
    </dgm:pt>
    <dgm:pt modelId="{22796D9B-E35B-47BE-B37D-17F4F0401E5B}" type="pres">
      <dgm:prSet presAssocID="{C56D2CC8-C45D-4E18-B90B-54073C21F11D}" presName="childText" presStyleLbl="conFgAcc1" presStyleIdx="0" presStyleCnt="4">
        <dgm:presLayoutVars>
          <dgm:bulletEnabled val="1"/>
        </dgm:presLayoutVars>
      </dgm:prSet>
      <dgm:spPr/>
    </dgm:pt>
    <dgm:pt modelId="{9BEA2A6C-34D9-4DF1-8EE3-BEC60E721BE6}" type="pres">
      <dgm:prSet presAssocID="{89C48FA8-710C-437F-BFF9-10423656F7C3}" presName="spaceBetweenRectangles" presStyleCnt="0"/>
      <dgm:spPr/>
    </dgm:pt>
    <dgm:pt modelId="{310219A8-9E58-495E-96A4-26E7488278DB}" type="pres">
      <dgm:prSet presAssocID="{E9B2743D-E813-4ED6-B7B3-4B2993A6FCD9}" presName="parentLin" presStyleCnt="0"/>
      <dgm:spPr/>
    </dgm:pt>
    <dgm:pt modelId="{CF87A662-4CBD-44DB-9EB7-7696D6898579}" type="pres">
      <dgm:prSet presAssocID="{E9B2743D-E813-4ED6-B7B3-4B2993A6FCD9}" presName="parentLeftMargin" presStyleLbl="node1" presStyleIdx="0" presStyleCnt="4"/>
      <dgm:spPr/>
    </dgm:pt>
    <dgm:pt modelId="{F87C57E0-2122-4979-A760-2DF98E4AFF6C}" type="pres">
      <dgm:prSet presAssocID="{E9B2743D-E813-4ED6-B7B3-4B2993A6FCD9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2B4CFD15-7E34-48CD-B614-67CF38A6E3F1}" type="pres">
      <dgm:prSet presAssocID="{E9B2743D-E813-4ED6-B7B3-4B2993A6FCD9}" presName="negativeSpace" presStyleCnt="0"/>
      <dgm:spPr/>
    </dgm:pt>
    <dgm:pt modelId="{8AC9CA7F-823A-49BC-9171-68C00533E5BF}" type="pres">
      <dgm:prSet presAssocID="{E9B2743D-E813-4ED6-B7B3-4B2993A6FCD9}" presName="childText" presStyleLbl="conFgAcc1" presStyleIdx="1" presStyleCnt="4">
        <dgm:presLayoutVars>
          <dgm:bulletEnabled val="1"/>
        </dgm:presLayoutVars>
      </dgm:prSet>
      <dgm:spPr/>
    </dgm:pt>
    <dgm:pt modelId="{1E89644C-8F79-42EC-A0CB-7E1C7C3D24A8}" type="pres">
      <dgm:prSet presAssocID="{0D10EED2-FE71-4A74-89D3-D4BD8FA006FB}" presName="spaceBetweenRectangles" presStyleCnt="0"/>
      <dgm:spPr/>
    </dgm:pt>
    <dgm:pt modelId="{64915168-D0EE-4904-8EA7-FE42D9FE598C}" type="pres">
      <dgm:prSet presAssocID="{57EE056C-D3BB-4B20-971B-76798D8BF741}" presName="parentLin" presStyleCnt="0"/>
      <dgm:spPr/>
    </dgm:pt>
    <dgm:pt modelId="{C553DEBA-150C-41AF-BEBB-022AC941E092}" type="pres">
      <dgm:prSet presAssocID="{57EE056C-D3BB-4B20-971B-76798D8BF741}" presName="parentLeftMargin" presStyleLbl="node1" presStyleIdx="1" presStyleCnt="4"/>
      <dgm:spPr/>
    </dgm:pt>
    <dgm:pt modelId="{9B0A622B-2DB6-414E-95EC-1BD0A9B6330D}" type="pres">
      <dgm:prSet presAssocID="{57EE056C-D3BB-4B20-971B-76798D8BF741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F4240D3F-1654-4F36-ABF3-40A162FBDA26}" type="pres">
      <dgm:prSet presAssocID="{57EE056C-D3BB-4B20-971B-76798D8BF741}" presName="negativeSpace" presStyleCnt="0"/>
      <dgm:spPr/>
    </dgm:pt>
    <dgm:pt modelId="{6265ED3E-4C88-468B-AB70-EC5A109E7C94}" type="pres">
      <dgm:prSet presAssocID="{57EE056C-D3BB-4B20-971B-76798D8BF741}" presName="childText" presStyleLbl="conFgAcc1" presStyleIdx="2" presStyleCnt="4">
        <dgm:presLayoutVars>
          <dgm:bulletEnabled val="1"/>
        </dgm:presLayoutVars>
      </dgm:prSet>
      <dgm:spPr/>
    </dgm:pt>
    <dgm:pt modelId="{8E7F843D-022D-47C3-9220-8FB15B514154}" type="pres">
      <dgm:prSet presAssocID="{5B1EED04-F56A-4702-8F07-6D157714CB16}" presName="spaceBetweenRectangles" presStyleCnt="0"/>
      <dgm:spPr/>
    </dgm:pt>
    <dgm:pt modelId="{0304BE92-4CF3-4AC1-994B-F6DDC576DB53}" type="pres">
      <dgm:prSet presAssocID="{D1B37B22-2CAF-42A5-A25B-FC22860E39D5}" presName="parentLin" presStyleCnt="0"/>
      <dgm:spPr/>
    </dgm:pt>
    <dgm:pt modelId="{741A6701-B6E6-40F0-810E-E625A4EA3290}" type="pres">
      <dgm:prSet presAssocID="{D1B37B22-2CAF-42A5-A25B-FC22860E39D5}" presName="parentLeftMargin" presStyleLbl="node1" presStyleIdx="2" presStyleCnt="4"/>
      <dgm:spPr/>
    </dgm:pt>
    <dgm:pt modelId="{E258A001-E71C-4A79-BB0F-5CF8C4C7DDEE}" type="pres">
      <dgm:prSet presAssocID="{D1B37B22-2CAF-42A5-A25B-FC22860E39D5}" presName="parentText" presStyleLbl="node1" presStyleIdx="3" presStyleCnt="4">
        <dgm:presLayoutVars>
          <dgm:chMax val="0"/>
          <dgm:bulletEnabled val="1"/>
        </dgm:presLayoutVars>
      </dgm:prSet>
      <dgm:spPr/>
    </dgm:pt>
    <dgm:pt modelId="{EE149FB8-3A0A-454B-BC73-E9A78DADF969}" type="pres">
      <dgm:prSet presAssocID="{D1B37B22-2CAF-42A5-A25B-FC22860E39D5}" presName="negativeSpace" presStyleCnt="0"/>
      <dgm:spPr/>
    </dgm:pt>
    <dgm:pt modelId="{C9810F7A-6363-4A5E-8727-B415DA3D0D5B}" type="pres">
      <dgm:prSet presAssocID="{D1B37B22-2CAF-42A5-A25B-FC22860E39D5}" presName="childText" presStyleLbl="conFgAcc1" presStyleIdx="3" presStyleCnt="4">
        <dgm:presLayoutVars>
          <dgm:bulletEnabled val="1"/>
        </dgm:presLayoutVars>
      </dgm:prSet>
      <dgm:spPr/>
    </dgm:pt>
  </dgm:ptLst>
  <dgm:cxnLst>
    <dgm:cxn modelId="{B145DF1B-B207-8842-9EB5-61562B65A56A}" srcId="{C56D2CC8-C45D-4E18-B90B-54073C21F11D}" destId="{0C710009-82BB-7640-B224-2BA7B52EE180}" srcOrd="0" destOrd="0" parTransId="{0CF2DB84-414F-C341-8E83-9BBC5AE8111A}" sibTransId="{10ABF6CD-B1BD-8642-9D1B-A81FAA3E0FA3}"/>
    <dgm:cxn modelId="{CB438123-BE41-9A4F-9D74-B0FF675E4EE3}" type="presOf" srcId="{33AD7073-8DD8-4B9D-9B39-1E6FA112E25A}" destId="{C9810F7A-6363-4A5E-8727-B415DA3D0D5B}" srcOrd="0" destOrd="0" presId="urn:microsoft.com/office/officeart/2005/8/layout/list1"/>
    <dgm:cxn modelId="{858E2124-960E-4198-ACD8-CCF568EDAF72}" srcId="{E9B2743D-E813-4ED6-B7B3-4B2993A6FCD9}" destId="{BD935179-6D5D-41E6-A951-5AC8DBA5A1DB}" srcOrd="0" destOrd="0" parTransId="{C77F31B3-87A1-4429-953A-487B3A08A818}" sibTransId="{31C5A9AE-7D48-4467-AC70-B02FC786B0FD}"/>
    <dgm:cxn modelId="{81FDD124-1AEA-4409-8669-8C1E2F08AC1A}" type="presOf" srcId="{DDE6FA0A-F1D0-4CD6-818D-FC595659E979}" destId="{6265ED3E-4C88-468B-AB70-EC5A109E7C94}" srcOrd="0" destOrd="1" presId="urn:microsoft.com/office/officeart/2005/8/layout/list1"/>
    <dgm:cxn modelId="{6DE67D25-DFD7-4C6A-9DF5-336B5CB47F94}" srcId="{59B48725-8164-48E2-83AE-6A0F034E462B}" destId="{57EE056C-D3BB-4B20-971B-76798D8BF741}" srcOrd="2" destOrd="0" parTransId="{84ACD4CE-A4CD-42CB-B5DD-A00B0677760A}" sibTransId="{5B1EED04-F56A-4702-8F07-6D157714CB16}"/>
    <dgm:cxn modelId="{B217C22A-F393-4B3A-BD52-BE7D0ED54CB1}" srcId="{59B48725-8164-48E2-83AE-6A0F034E462B}" destId="{E9B2743D-E813-4ED6-B7B3-4B2993A6FCD9}" srcOrd="1" destOrd="0" parTransId="{071F5E14-BCCA-4F70-8057-AFF3B4C7153F}" sibTransId="{0D10EED2-FE71-4A74-89D3-D4BD8FA006FB}"/>
    <dgm:cxn modelId="{D31E0C30-ED98-E241-9F21-2A86492FD824}" srcId="{D1B37B22-2CAF-42A5-A25B-FC22860E39D5}" destId="{33AD7073-8DD8-4B9D-9B39-1E6FA112E25A}" srcOrd="0" destOrd="0" parTransId="{1F7A9BFC-B0F4-473E-A544-0E5B26A9EC15}" sibTransId="{F8B7E658-DDA2-4C5E-B62C-7F2B6CEDA619}"/>
    <dgm:cxn modelId="{3B29E433-52BE-4859-99BB-382FF1E20899}" type="presOf" srcId="{C56D2CC8-C45D-4E18-B90B-54073C21F11D}" destId="{46072EA0-3A8A-4C5E-A4BA-97CD85B6BB18}" srcOrd="1" destOrd="0" presId="urn:microsoft.com/office/officeart/2005/8/layout/list1"/>
    <dgm:cxn modelId="{8BDC2238-5295-B740-A703-29FE9C817C70}" srcId="{E9B2743D-E813-4ED6-B7B3-4B2993A6FCD9}" destId="{5C55BA16-E3BF-AC42-AD37-2CAAD013965D}" srcOrd="1" destOrd="0" parTransId="{DA47E86B-C00C-0E41-BFE7-AEA81BFDDD75}" sibTransId="{84321658-BF2D-0940-B775-5103EF489D30}"/>
    <dgm:cxn modelId="{BB14FD53-8FDB-C64D-8358-D7150004B4A9}" type="presOf" srcId="{D1B37B22-2CAF-42A5-A25B-FC22860E39D5}" destId="{741A6701-B6E6-40F0-810E-E625A4EA3290}" srcOrd="0" destOrd="0" presId="urn:microsoft.com/office/officeart/2005/8/layout/list1"/>
    <dgm:cxn modelId="{690C285D-05E0-4AB9-B7E1-0CC1807C9129}" type="presOf" srcId="{E9B2743D-E813-4ED6-B7B3-4B2993A6FCD9}" destId="{CF87A662-4CBD-44DB-9EB7-7696D6898579}" srcOrd="0" destOrd="0" presId="urn:microsoft.com/office/officeart/2005/8/layout/list1"/>
    <dgm:cxn modelId="{4C9D4969-FEBD-4C23-BAC1-FF64D4DA99B9}" srcId="{57EE056C-D3BB-4B20-971B-76798D8BF741}" destId="{DDE6FA0A-F1D0-4CD6-818D-FC595659E979}" srcOrd="1" destOrd="0" parTransId="{1A3A7279-8F74-49BF-8388-ABB749C31C01}" sibTransId="{AF7EA5D2-6382-4A43-BF6B-7E9F004FC0F5}"/>
    <dgm:cxn modelId="{155A4A69-F5C2-8247-9B65-88EC4AD925E6}" type="presOf" srcId="{D1B37B22-2CAF-42A5-A25B-FC22860E39D5}" destId="{E258A001-E71C-4A79-BB0F-5CF8C4C7DDEE}" srcOrd="1" destOrd="0" presId="urn:microsoft.com/office/officeart/2005/8/layout/list1"/>
    <dgm:cxn modelId="{812C886E-C876-457E-BF40-7AFA048A20BE}" type="presOf" srcId="{FC68E00B-8715-494C-9A71-A8AACB6DEB37}" destId="{6265ED3E-4C88-468B-AB70-EC5A109E7C94}" srcOrd="0" destOrd="0" presId="urn:microsoft.com/office/officeart/2005/8/layout/list1"/>
    <dgm:cxn modelId="{AC15DD87-6FDD-1F46-84E8-F786CD1C1275}" type="presOf" srcId="{283E24D1-3FDD-4C1D-A8A0-F94FA4983AC9}" destId="{C9810F7A-6363-4A5E-8727-B415DA3D0D5B}" srcOrd="0" destOrd="1" presId="urn:microsoft.com/office/officeart/2005/8/layout/list1"/>
    <dgm:cxn modelId="{78BDFC92-1211-4FA2-83E3-24E076AF882B}" type="presOf" srcId="{E9B2743D-E813-4ED6-B7B3-4B2993A6FCD9}" destId="{F87C57E0-2122-4979-A760-2DF98E4AFF6C}" srcOrd="1" destOrd="0" presId="urn:microsoft.com/office/officeart/2005/8/layout/list1"/>
    <dgm:cxn modelId="{B0E7EA9E-F809-4872-BF9A-A43DAFDAC445}" type="presOf" srcId="{C56D2CC8-C45D-4E18-B90B-54073C21F11D}" destId="{94449367-7F46-49E8-8234-C99E97B430CE}" srcOrd="0" destOrd="0" presId="urn:microsoft.com/office/officeart/2005/8/layout/list1"/>
    <dgm:cxn modelId="{AFF743B8-0533-F640-9E23-616EFACD9229}" srcId="{59B48725-8164-48E2-83AE-6A0F034E462B}" destId="{D1B37B22-2CAF-42A5-A25B-FC22860E39D5}" srcOrd="3" destOrd="0" parTransId="{D94F4D62-5091-4B56-BFAF-939DB6CCD82B}" sibTransId="{1AB4793F-9DDC-4B45-8579-6532A020E8D7}"/>
    <dgm:cxn modelId="{EC9655BC-2CE8-41FD-8D7A-07A7B578B5E5}" type="presOf" srcId="{BD935179-6D5D-41E6-A951-5AC8DBA5A1DB}" destId="{8AC9CA7F-823A-49BC-9171-68C00533E5BF}" srcOrd="0" destOrd="0" presId="urn:microsoft.com/office/officeart/2005/8/layout/list1"/>
    <dgm:cxn modelId="{A88B9FC4-5222-46BC-8C2C-A71DCB986834}" type="presOf" srcId="{59B48725-8164-48E2-83AE-6A0F034E462B}" destId="{375992B7-ACF1-4D46-837B-36723EED3E84}" srcOrd="0" destOrd="0" presId="urn:microsoft.com/office/officeart/2005/8/layout/list1"/>
    <dgm:cxn modelId="{2ECDD3CA-8260-4828-A315-7A38C1478EE6}" srcId="{59B48725-8164-48E2-83AE-6A0F034E462B}" destId="{C56D2CC8-C45D-4E18-B90B-54073C21F11D}" srcOrd="0" destOrd="0" parTransId="{2A3E0714-CC4C-462A-A188-122DF104917B}" sibTransId="{89C48FA8-710C-437F-BFF9-10423656F7C3}"/>
    <dgm:cxn modelId="{42C570CF-1F44-4B9A-8B3B-8E3B8AEC59DD}" type="presOf" srcId="{57EE056C-D3BB-4B20-971B-76798D8BF741}" destId="{C553DEBA-150C-41AF-BEBB-022AC941E092}" srcOrd="0" destOrd="0" presId="urn:microsoft.com/office/officeart/2005/8/layout/list1"/>
    <dgm:cxn modelId="{0F1C37D4-556C-4A4D-AFBE-11BB78281C15}" srcId="{D1B37B22-2CAF-42A5-A25B-FC22860E39D5}" destId="{283E24D1-3FDD-4C1D-A8A0-F94FA4983AC9}" srcOrd="1" destOrd="0" parTransId="{579EC870-6C49-49A2-A330-F176DFB99C7B}" sibTransId="{98BA8D10-5DCB-4DF4-AE4A-2F69A31300A5}"/>
    <dgm:cxn modelId="{FDC2A7D7-E843-4E4F-AFFC-78A696329D07}" type="presOf" srcId="{0C710009-82BB-7640-B224-2BA7B52EE180}" destId="{22796D9B-E35B-47BE-B37D-17F4F0401E5B}" srcOrd="0" destOrd="0" presId="urn:microsoft.com/office/officeart/2005/8/layout/list1"/>
    <dgm:cxn modelId="{F6D65FE7-3B7A-4DD0-91C2-8EF421F2F523}" type="presOf" srcId="{57EE056C-D3BB-4B20-971B-76798D8BF741}" destId="{9B0A622B-2DB6-414E-95EC-1BD0A9B6330D}" srcOrd="1" destOrd="0" presId="urn:microsoft.com/office/officeart/2005/8/layout/list1"/>
    <dgm:cxn modelId="{88070FEB-131C-4B18-93C3-DD1F78F309EB}" type="presOf" srcId="{5C55BA16-E3BF-AC42-AD37-2CAAD013965D}" destId="{8AC9CA7F-823A-49BC-9171-68C00533E5BF}" srcOrd="0" destOrd="1" presId="urn:microsoft.com/office/officeart/2005/8/layout/list1"/>
    <dgm:cxn modelId="{F0173EF5-A21B-43E3-95C9-8D65B17A8941}" srcId="{57EE056C-D3BB-4B20-971B-76798D8BF741}" destId="{FC68E00B-8715-494C-9A71-A8AACB6DEB37}" srcOrd="0" destOrd="0" parTransId="{042A4D11-1CD9-4483-B160-A7B15AAAB5DC}" sibTransId="{F1568996-FD73-4044-882E-BB272CE8FACA}"/>
    <dgm:cxn modelId="{1A8D57C9-86A0-47BA-B161-8C6862A50C4D}" type="presParOf" srcId="{375992B7-ACF1-4D46-837B-36723EED3E84}" destId="{F371A86E-4236-4FF7-993A-C21465EC40AB}" srcOrd="0" destOrd="0" presId="urn:microsoft.com/office/officeart/2005/8/layout/list1"/>
    <dgm:cxn modelId="{421A073E-64F4-4E32-8F9E-926E9BD3B48F}" type="presParOf" srcId="{F371A86E-4236-4FF7-993A-C21465EC40AB}" destId="{94449367-7F46-49E8-8234-C99E97B430CE}" srcOrd="0" destOrd="0" presId="urn:microsoft.com/office/officeart/2005/8/layout/list1"/>
    <dgm:cxn modelId="{A061737D-A6CE-4E94-A4B7-7AA49D9A40B5}" type="presParOf" srcId="{F371A86E-4236-4FF7-993A-C21465EC40AB}" destId="{46072EA0-3A8A-4C5E-A4BA-97CD85B6BB18}" srcOrd="1" destOrd="0" presId="urn:microsoft.com/office/officeart/2005/8/layout/list1"/>
    <dgm:cxn modelId="{2F11650A-73EC-489C-AB9D-5CFAB8BD1972}" type="presParOf" srcId="{375992B7-ACF1-4D46-837B-36723EED3E84}" destId="{0878519C-DB1D-47BC-96B9-3645F8D9CCA8}" srcOrd="1" destOrd="0" presId="urn:microsoft.com/office/officeart/2005/8/layout/list1"/>
    <dgm:cxn modelId="{FDB5199D-6AFC-4E60-BCD9-BF8CD8B49A94}" type="presParOf" srcId="{375992B7-ACF1-4D46-837B-36723EED3E84}" destId="{22796D9B-E35B-47BE-B37D-17F4F0401E5B}" srcOrd="2" destOrd="0" presId="urn:microsoft.com/office/officeart/2005/8/layout/list1"/>
    <dgm:cxn modelId="{064179ED-5984-47AE-BDB9-3D1782DDF0E4}" type="presParOf" srcId="{375992B7-ACF1-4D46-837B-36723EED3E84}" destId="{9BEA2A6C-34D9-4DF1-8EE3-BEC60E721BE6}" srcOrd="3" destOrd="0" presId="urn:microsoft.com/office/officeart/2005/8/layout/list1"/>
    <dgm:cxn modelId="{DA250EDF-1965-4C30-B157-E455DDB75E9E}" type="presParOf" srcId="{375992B7-ACF1-4D46-837B-36723EED3E84}" destId="{310219A8-9E58-495E-96A4-26E7488278DB}" srcOrd="4" destOrd="0" presId="urn:microsoft.com/office/officeart/2005/8/layout/list1"/>
    <dgm:cxn modelId="{08703704-64B4-45F9-BD8B-43BAB8DE8107}" type="presParOf" srcId="{310219A8-9E58-495E-96A4-26E7488278DB}" destId="{CF87A662-4CBD-44DB-9EB7-7696D6898579}" srcOrd="0" destOrd="0" presId="urn:microsoft.com/office/officeart/2005/8/layout/list1"/>
    <dgm:cxn modelId="{D0E766DF-A463-4C0B-A0AC-A346C2C7E1B7}" type="presParOf" srcId="{310219A8-9E58-495E-96A4-26E7488278DB}" destId="{F87C57E0-2122-4979-A760-2DF98E4AFF6C}" srcOrd="1" destOrd="0" presId="urn:microsoft.com/office/officeart/2005/8/layout/list1"/>
    <dgm:cxn modelId="{4FE098A0-01B5-4C93-8EA9-49A0DEAC966D}" type="presParOf" srcId="{375992B7-ACF1-4D46-837B-36723EED3E84}" destId="{2B4CFD15-7E34-48CD-B614-67CF38A6E3F1}" srcOrd="5" destOrd="0" presId="urn:microsoft.com/office/officeart/2005/8/layout/list1"/>
    <dgm:cxn modelId="{4FC43371-53F2-4138-A429-68527E721728}" type="presParOf" srcId="{375992B7-ACF1-4D46-837B-36723EED3E84}" destId="{8AC9CA7F-823A-49BC-9171-68C00533E5BF}" srcOrd="6" destOrd="0" presId="urn:microsoft.com/office/officeart/2005/8/layout/list1"/>
    <dgm:cxn modelId="{4742E26C-AE6A-4381-8CA2-358C9864EF6F}" type="presParOf" srcId="{375992B7-ACF1-4D46-837B-36723EED3E84}" destId="{1E89644C-8F79-42EC-A0CB-7E1C7C3D24A8}" srcOrd="7" destOrd="0" presId="urn:microsoft.com/office/officeart/2005/8/layout/list1"/>
    <dgm:cxn modelId="{4FADA41E-4A42-4AB2-B7E1-C660A6E18532}" type="presParOf" srcId="{375992B7-ACF1-4D46-837B-36723EED3E84}" destId="{64915168-D0EE-4904-8EA7-FE42D9FE598C}" srcOrd="8" destOrd="0" presId="urn:microsoft.com/office/officeart/2005/8/layout/list1"/>
    <dgm:cxn modelId="{1EE8DFF7-7AC9-464C-B830-144EA2447A46}" type="presParOf" srcId="{64915168-D0EE-4904-8EA7-FE42D9FE598C}" destId="{C553DEBA-150C-41AF-BEBB-022AC941E092}" srcOrd="0" destOrd="0" presId="urn:microsoft.com/office/officeart/2005/8/layout/list1"/>
    <dgm:cxn modelId="{56B879E5-C103-4B0D-8B71-BAD4F1BD5FAC}" type="presParOf" srcId="{64915168-D0EE-4904-8EA7-FE42D9FE598C}" destId="{9B0A622B-2DB6-414E-95EC-1BD0A9B6330D}" srcOrd="1" destOrd="0" presId="urn:microsoft.com/office/officeart/2005/8/layout/list1"/>
    <dgm:cxn modelId="{BA4D9856-3F1D-41E5-A4F1-71D9F2402832}" type="presParOf" srcId="{375992B7-ACF1-4D46-837B-36723EED3E84}" destId="{F4240D3F-1654-4F36-ABF3-40A162FBDA26}" srcOrd="9" destOrd="0" presId="urn:microsoft.com/office/officeart/2005/8/layout/list1"/>
    <dgm:cxn modelId="{20B7275F-BCB5-424E-83CD-78D7AB2F698A}" type="presParOf" srcId="{375992B7-ACF1-4D46-837B-36723EED3E84}" destId="{6265ED3E-4C88-468B-AB70-EC5A109E7C94}" srcOrd="10" destOrd="0" presId="urn:microsoft.com/office/officeart/2005/8/layout/list1"/>
    <dgm:cxn modelId="{E00C3CA6-173C-5A44-8F97-0D245A1A2786}" type="presParOf" srcId="{375992B7-ACF1-4D46-837B-36723EED3E84}" destId="{8E7F843D-022D-47C3-9220-8FB15B514154}" srcOrd="11" destOrd="0" presId="urn:microsoft.com/office/officeart/2005/8/layout/list1"/>
    <dgm:cxn modelId="{35C31094-38C9-1548-B32E-F2C6305AC491}" type="presParOf" srcId="{375992B7-ACF1-4D46-837B-36723EED3E84}" destId="{0304BE92-4CF3-4AC1-994B-F6DDC576DB53}" srcOrd="12" destOrd="0" presId="urn:microsoft.com/office/officeart/2005/8/layout/list1"/>
    <dgm:cxn modelId="{82EE7968-5CD7-C64C-8401-A9FA44AA7538}" type="presParOf" srcId="{0304BE92-4CF3-4AC1-994B-F6DDC576DB53}" destId="{741A6701-B6E6-40F0-810E-E625A4EA3290}" srcOrd="0" destOrd="0" presId="urn:microsoft.com/office/officeart/2005/8/layout/list1"/>
    <dgm:cxn modelId="{FCA53020-AF40-6E43-BC67-FEFA64458E7F}" type="presParOf" srcId="{0304BE92-4CF3-4AC1-994B-F6DDC576DB53}" destId="{E258A001-E71C-4A79-BB0F-5CF8C4C7DDEE}" srcOrd="1" destOrd="0" presId="urn:microsoft.com/office/officeart/2005/8/layout/list1"/>
    <dgm:cxn modelId="{6DF8D8F1-1EE7-4144-9F44-BBD4F2897F9D}" type="presParOf" srcId="{375992B7-ACF1-4D46-837B-36723EED3E84}" destId="{EE149FB8-3A0A-454B-BC73-E9A78DADF969}" srcOrd="13" destOrd="0" presId="urn:microsoft.com/office/officeart/2005/8/layout/list1"/>
    <dgm:cxn modelId="{C0CA6EE1-0D00-5F4E-ABC9-BEE65E46CA59}" type="presParOf" srcId="{375992B7-ACF1-4D46-837B-36723EED3E84}" destId="{C9810F7A-6363-4A5E-8727-B415DA3D0D5B}" srcOrd="14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E59479F-1148-1F4C-9F64-C69B57C5ED28}">
      <dsp:nvSpPr>
        <dsp:cNvPr id="0" name=""/>
        <dsp:cNvSpPr/>
      </dsp:nvSpPr>
      <dsp:spPr>
        <a:xfrm>
          <a:off x="5300526" y="1238686"/>
          <a:ext cx="251562" cy="1102081"/>
        </a:xfrm>
        <a:custGeom>
          <a:avLst/>
          <a:gdLst/>
          <a:ahLst/>
          <a:cxnLst/>
          <a:rect l="0" t="0" r="0" b="0"/>
          <a:pathLst>
            <a:path>
              <a:moveTo>
                <a:pt x="251562" y="0"/>
              </a:moveTo>
              <a:lnTo>
                <a:pt x="251562" y="1102081"/>
              </a:lnTo>
              <a:lnTo>
                <a:pt x="0" y="1102081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F722BBD-5C43-D24E-9F5D-BAEE0E5B47D1}">
      <dsp:nvSpPr>
        <dsp:cNvPr id="0" name=""/>
        <dsp:cNvSpPr/>
      </dsp:nvSpPr>
      <dsp:spPr>
        <a:xfrm>
          <a:off x="5552089" y="1238686"/>
          <a:ext cx="4348430" cy="220416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952600"/>
              </a:lnTo>
              <a:lnTo>
                <a:pt x="4348430" y="1952600"/>
              </a:lnTo>
              <a:lnTo>
                <a:pt x="4348430" y="2204163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C13EEEA-9ED1-C145-9053-4005B359DDC9}">
      <dsp:nvSpPr>
        <dsp:cNvPr id="0" name=""/>
        <dsp:cNvSpPr/>
      </dsp:nvSpPr>
      <dsp:spPr>
        <a:xfrm>
          <a:off x="5552089" y="1238686"/>
          <a:ext cx="1449476" cy="220416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952600"/>
              </a:lnTo>
              <a:lnTo>
                <a:pt x="1449476" y="1952600"/>
              </a:lnTo>
              <a:lnTo>
                <a:pt x="1449476" y="2204163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B3C8F76-6DD2-EA4B-82F5-EF463442DCDF}">
      <dsp:nvSpPr>
        <dsp:cNvPr id="0" name=""/>
        <dsp:cNvSpPr/>
      </dsp:nvSpPr>
      <dsp:spPr>
        <a:xfrm>
          <a:off x="4102612" y="1238686"/>
          <a:ext cx="1449476" cy="2204163"/>
        </a:xfrm>
        <a:custGeom>
          <a:avLst/>
          <a:gdLst/>
          <a:ahLst/>
          <a:cxnLst/>
          <a:rect l="0" t="0" r="0" b="0"/>
          <a:pathLst>
            <a:path>
              <a:moveTo>
                <a:pt x="1449476" y="0"/>
              </a:moveTo>
              <a:lnTo>
                <a:pt x="1449476" y="1952600"/>
              </a:lnTo>
              <a:lnTo>
                <a:pt x="0" y="1952600"/>
              </a:lnTo>
              <a:lnTo>
                <a:pt x="0" y="2204163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C89AC6C-50A5-564E-A829-7D2DFF0B8E44}">
      <dsp:nvSpPr>
        <dsp:cNvPr id="0" name=""/>
        <dsp:cNvSpPr/>
      </dsp:nvSpPr>
      <dsp:spPr>
        <a:xfrm>
          <a:off x="1203658" y="1238686"/>
          <a:ext cx="4348430" cy="2204163"/>
        </a:xfrm>
        <a:custGeom>
          <a:avLst/>
          <a:gdLst/>
          <a:ahLst/>
          <a:cxnLst/>
          <a:rect l="0" t="0" r="0" b="0"/>
          <a:pathLst>
            <a:path>
              <a:moveTo>
                <a:pt x="4348430" y="0"/>
              </a:moveTo>
              <a:lnTo>
                <a:pt x="4348430" y="1952600"/>
              </a:lnTo>
              <a:lnTo>
                <a:pt x="0" y="1952600"/>
              </a:lnTo>
              <a:lnTo>
                <a:pt x="0" y="2204163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DC5C8F4-70FD-C045-A5E0-E21B4D72018A}">
      <dsp:nvSpPr>
        <dsp:cNvPr id="0" name=""/>
        <dsp:cNvSpPr/>
      </dsp:nvSpPr>
      <dsp:spPr>
        <a:xfrm>
          <a:off x="4354174" y="40771"/>
          <a:ext cx="2395829" cy="11979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225" tIns="22225" rIns="22225" bIns="22225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500" kern="1200" noProof="1"/>
            <a:t>Aufsichtsrat</a:t>
          </a:r>
        </a:p>
      </dsp:txBody>
      <dsp:txXfrm>
        <a:off x="4354174" y="40771"/>
        <a:ext cx="2395829" cy="1197914"/>
      </dsp:txXfrm>
    </dsp:sp>
    <dsp:sp modelId="{7425D222-B1D0-094D-8476-503AF821CCDA}">
      <dsp:nvSpPr>
        <dsp:cNvPr id="0" name=""/>
        <dsp:cNvSpPr/>
      </dsp:nvSpPr>
      <dsp:spPr>
        <a:xfrm>
          <a:off x="5743" y="3442849"/>
          <a:ext cx="2395829" cy="11979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225" tIns="22225" rIns="22225" bIns="22225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500" kern="1200" noProof="1"/>
            <a:t>Finanzen</a:t>
          </a:r>
        </a:p>
      </dsp:txBody>
      <dsp:txXfrm>
        <a:off x="5743" y="3442849"/>
        <a:ext cx="2395829" cy="1197914"/>
      </dsp:txXfrm>
    </dsp:sp>
    <dsp:sp modelId="{AF482C45-5CF8-4B4E-AD7A-7141F5A4F22E}">
      <dsp:nvSpPr>
        <dsp:cNvPr id="0" name=""/>
        <dsp:cNvSpPr/>
      </dsp:nvSpPr>
      <dsp:spPr>
        <a:xfrm>
          <a:off x="2904697" y="3442849"/>
          <a:ext cx="2395829" cy="11979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225" tIns="22225" rIns="22225" bIns="22225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500" kern="1200" noProof="1"/>
            <a:t>Vertrieb</a:t>
          </a:r>
        </a:p>
      </dsp:txBody>
      <dsp:txXfrm>
        <a:off x="2904697" y="3442849"/>
        <a:ext cx="2395829" cy="1197914"/>
      </dsp:txXfrm>
    </dsp:sp>
    <dsp:sp modelId="{701DF199-2E1C-DE4F-8914-6E3A92143B62}">
      <dsp:nvSpPr>
        <dsp:cNvPr id="0" name=""/>
        <dsp:cNvSpPr/>
      </dsp:nvSpPr>
      <dsp:spPr>
        <a:xfrm>
          <a:off x="5803651" y="3442849"/>
          <a:ext cx="2395829" cy="11979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225" tIns="22225" rIns="22225" bIns="22225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500" kern="1200" noProof="1"/>
            <a:t>Entwicklung</a:t>
          </a:r>
        </a:p>
      </dsp:txBody>
      <dsp:txXfrm>
        <a:off x="5803651" y="3442849"/>
        <a:ext cx="2395829" cy="1197914"/>
      </dsp:txXfrm>
    </dsp:sp>
    <dsp:sp modelId="{7F69E246-C24B-F34D-B8D0-273996625A98}">
      <dsp:nvSpPr>
        <dsp:cNvPr id="0" name=""/>
        <dsp:cNvSpPr/>
      </dsp:nvSpPr>
      <dsp:spPr>
        <a:xfrm>
          <a:off x="8702604" y="3442849"/>
          <a:ext cx="2395829" cy="11979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225" tIns="22225" rIns="22225" bIns="22225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500" kern="1200" noProof="1"/>
            <a:t>Produktion</a:t>
          </a:r>
        </a:p>
      </dsp:txBody>
      <dsp:txXfrm>
        <a:off x="8702604" y="3442849"/>
        <a:ext cx="2395829" cy="1197914"/>
      </dsp:txXfrm>
    </dsp:sp>
    <dsp:sp modelId="{85C03146-02B4-E44F-B210-6DFC9FE11F3B}">
      <dsp:nvSpPr>
        <dsp:cNvPr id="0" name=""/>
        <dsp:cNvSpPr/>
      </dsp:nvSpPr>
      <dsp:spPr>
        <a:xfrm>
          <a:off x="2904697" y="1741810"/>
          <a:ext cx="2395829" cy="11979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225" tIns="22225" rIns="22225" bIns="22225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500" kern="1200" noProof="1"/>
            <a:t>CEO</a:t>
          </a:r>
        </a:p>
      </dsp:txBody>
      <dsp:txXfrm>
        <a:off x="2904697" y="1741810"/>
        <a:ext cx="2395829" cy="119791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49BFD30-79A3-6444-952A-AD871C36D35B}">
      <dsp:nvSpPr>
        <dsp:cNvPr id="0" name=""/>
        <dsp:cNvSpPr/>
      </dsp:nvSpPr>
      <dsp:spPr>
        <a:xfrm>
          <a:off x="0" y="2233"/>
          <a:ext cx="1110417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5B74931-2106-5C4D-8D62-ACF2598E7576}">
      <dsp:nvSpPr>
        <dsp:cNvPr id="0" name=""/>
        <dsp:cNvSpPr/>
      </dsp:nvSpPr>
      <dsp:spPr>
        <a:xfrm>
          <a:off x="0" y="2233"/>
          <a:ext cx="11104178" cy="15230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b="1" i="0" kern="1200"/>
            <a:t>Leistungsstand:</a:t>
          </a:r>
          <a:r>
            <a:rPr lang="de-DE" sz="2500" b="0" i="0" kern="1200"/>
            <a:t> Technologie nahezu ausentwickelt. Um ein paar PS oder Effizienzprozente aus einem Motor herauszuholen, exponentiell steigende R&amp;D Kosten</a:t>
          </a:r>
          <a:endParaRPr lang="en-US" sz="2500" kern="1200"/>
        </a:p>
      </dsp:txBody>
      <dsp:txXfrm>
        <a:off x="0" y="2233"/>
        <a:ext cx="11104178" cy="1523039"/>
      </dsp:txXfrm>
    </dsp:sp>
    <dsp:sp modelId="{C9B2F94B-21DD-1348-BF53-A2E9BF75C817}">
      <dsp:nvSpPr>
        <dsp:cNvPr id="0" name=""/>
        <dsp:cNvSpPr/>
      </dsp:nvSpPr>
      <dsp:spPr>
        <a:xfrm>
          <a:off x="0" y="1525273"/>
          <a:ext cx="1110417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26E104-0E34-8C4B-92B0-E0483AC4B8B6}">
      <dsp:nvSpPr>
        <dsp:cNvPr id="0" name=""/>
        <dsp:cNvSpPr/>
      </dsp:nvSpPr>
      <dsp:spPr>
        <a:xfrm>
          <a:off x="0" y="1525273"/>
          <a:ext cx="11104178" cy="15230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b="1" i="0" kern="1200"/>
            <a:t>Strategie:</a:t>
          </a:r>
          <a:r>
            <a:rPr lang="de-DE" sz="2500" b="0" i="0" kern="1200"/>
            <a:t> Modelle wie 911 und den Panamera, gibt es weiterhin als Verbrenner um maximale Margen abzuschöpfen.</a:t>
          </a:r>
          <a:br>
            <a:rPr lang="de-DE" sz="2500" b="0" i="0" kern="1200"/>
          </a:br>
          <a:r>
            <a:rPr lang="de-DE" sz="2500" b="0" i="0" kern="1200"/>
            <a:t>Design wird ikonisiert, limitierte Sondereditionen treiben den Preis nach oben.</a:t>
          </a:r>
          <a:endParaRPr lang="en-US" sz="2500" kern="1200"/>
        </a:p>
      </dsp:txBody>
      <dsp:txXfrm>
        <a:off x="0" y="1525273"/>
        <a:ext cx="11104178" cy="1523039"/>
      </dsp:txXfrm>
    </dsp:sp>
    <dsp:sp modelId="{2F9ABD1D-3774-7D41-BAFD-6FB457BC87B3}">
      <dsp:nvSpPr>
        <dsp:cNvPr id="0" name=""/>
        <dsp:cNvSpPr/>
      </dsp:nvSpPr>
      <dsp:spPr>
        <a:xfrm>
          <a:off x="0" y="3048312"/>
          <a:ext cx="1110417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FD07614-D1E7-AA43-9F7E-B97456E52F87}">
      <dsp:nvSpPr>
        <dsp:cNvPr id="0" name=""/>
        <dsp:cNvSpPr/>
      </dsp:nvSpPr>
      <dsp:spPr>
        <a:xfrm>
          <a:off x="0" y="3048312"/>
          <a:ext cx="11104178" cy="15230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b="1" i="0" kern="1200"/>
            <a:t>Lebensverlängerung: </a:t>
          </a:r>
          <a:r>
            <a:rPr lang="de-DE" sz="2500" b="0" i="0" kern="1200"/>
            <a:t>Mit Investitionen in E-Fuels versucht Porsche, diese S-Kurve für Liebhabermodelle künstlich in die Länge zu ziehen.</a:t>
          </a:r>
          <a:endParaRPr lang="en-US" sz="2500" kern="1200"/>
        </a:p>
      </dsp:txBody>
      <dsp:txXfrm>
        <a:off x="0" y="3048312"/>
        <a:ext cx="11104178" cy="152303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49BFD30-79A3-6444-952A-AD871C36D35B}">
      <dsp:nvSpPr>
        <dsp:cNvPr id="0" name=""/>
        <dsp:cNvSpPr/>
      </dsp:nvSpPr>
      <dsp:spPr>
        <a:xfrm>
          <a:off x="0" y="2233"/>
          <a:ext cx="1110417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5B74931-2106-5C4D-8D62-ACF2598E7576}">
      <dsp:nvSpPr>
        <dsp:cNvPr id="0" name=""/>
        <dsp:cNvSpPr/>
      </dsp:nvSpPr>
      <dsp:spPr>
        <a:xfrm>
          <a:off x="0" y="2233"/>
          <a:ext cx="11104178" cy="15230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b="1" i="0" kern="1200"/>
            <a:t>Leistungsstand: </a:t>
          </a:r>
          <a:r>
            <a:rPr lang="de-DE" sz="2500" b="0" i="0" kern="1200"/>
            <a:t>Massive schnelle technologische Sprünge. Jede neue Batteriegeneration bringt mehr Reichweite und schnellere Ladezeiten.</a:t>
          </a:r>
          <a:endParaRPr lang="en-US" sz="2500" kern="1200"/>
        </a:p>
      </dsp:txBody>
      <dsp:txXfrm>
        <a:off x="0" y="2233"/>
        <a:ext cx="11104178" cy="1523039"/>
      </dsp:txXfrm>
    </dsp:sp>
    <dsp:sp modelId="{C9B2F94B-21DD-1348-BF53-A2E9BF75C817}">
      <dsp:nvSpPr>
        <dsp:cNvPr id="0" name=""/>
        <dsp:cNvSpPr/>
      </dsp:nvSpPr>
      <dsp:spPr>
        <a:xfrm>
          <a:off x="0" y="1525273"/>
          <a:ext cx="1110417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26E104-0E34-8C4B-92B0-E0483AC4B8B6}">
      <dsp:nvSpPr>
        <dsp:cNvPr id="0" name=""/>
        <dsp:cNvSpPr/>
      </dsp:nvSpPr>
      <dsp:spPr>
        <a:xfrm>
          <a:off x="0" y="1525273"/>
          <a:ext cx="11104178" cy="15230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b="1" i="0" kern="1200"/>
            <a:t>Strategie: </a:t>
          </a:r>
          <a:r>
            <a:rPr lang="de-DE" sz="2500" b="0" i="0" kern="1200"/>
            <a:t>Der Taycan war Porsches „PoC“ am Anfang dieser Kurve. Mit dem Macan EV skaliert Posche diese Technologie  nun in die Breite.</a:t>
          </a:r>
          <a:endParaRPr lang="en-US" sz="2500" kern="1200"/>
        </a:p>
      </dsp:txBody>
      <dsp:txXfrm>
        <a:off x="0" y="1525273"/>
        <a:ext cx="11104178" cy="1523039"/>
      </dsp:txXfrm>
    </dsp:sp>
    <dsp:sp modelId="{2F9ABD1D-3774-7D41-BAFD-6FB457BC87B3}">
      <dsp:nvSpPr>
        <dsp:cNvPr id="0" name=""/>
        <dsp:cNvSpPr/>
      </dsp:nvSpPr>
      <dsp:spPr>
        <a:xfrm>
          <a:off x="0" y="3048312"/>
          <a:ext cx="1110417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FD07614-D1E7-AA43-9F7E-B97456E52F87}">
      <dsp:nvSpPr>
        <dsp:cNvPr id="0" name=""/>
        <dsp:cNvSpPr/>
      </dsp:nvSpPr>
      <dsp:spPr>
        <a:xfrm>
          <a:off x="0" y="3048312"/>
          <a:ext cx="11104178" cy="15230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b="1" kern="1200" noProof="1"/>
            <a:t>Herausforderung</a:t>
          </a:r>
          <a:r>
            <a:rPr lang="de-DE" sz="2500" b="1" i="0" kern="1200" dirty="0"/>
            <a:t>: </a:t>
          </a:r>
          <a:r>
            <a:rPr lang="de-DE" sz="2500" b="0" i="0" kern="1200" dirty="0"/>
            <a:t>Der Sprung auf diese Kurve ist „gefährlich“. Die neue Technologie hat anfangs schlechte Margen und erfordert den kompletten Umbau der Produktion.</a:t>
          </a:r>
          <a:endParaRPr lang="en-US" sz="2500" kern="1200" dirty="0"/>
        </a:p>
      </dsp:txBody>
      <dsp:txXfrm>
        <a:off x="0" y="3048312"/>
        <a:ext cx="11104178" cy="152303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CEA706-903E-F241-AC8F-50D0F712E7C1}">
      <dsp:nvSpPr>
        <dsp:cNvPr id="0" name=""/>
        <dsp:cNvSpPr/>
      </dsp:nvSpPr>
      <dsp:spPr>
        <a:xfrm>
          <a:off x="0" y="178469"/>
          <a:ext cx="5153504" cy="1436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99969" tIns="249936" rIns="399969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err="1"/>
            <a:t>Produktionswerke</a:t>
          </a:r>
          <a:r>
            <a:rPr lang="en-US" sz="1400" kern="1200"/>
            <a:t> in Stuttgart-</a:t>
          </a:r>
          <a:r>
            <a:rPr lang="en-US" sz="1400" kern="1200" err="1"/>
            <a:t>Zuffenhausen</a:t>
          </a:r>
          <a:r>
            <a:rPr lang="en-US" sz="1400" kern="1200"/>
            <a:t> und Leipzig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Entwicklungs- und Testzentren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err="1"/>
            <a:t>Finanzielle</a:t>
          </a:r>
          <a:r>
            <a:rPr lang="en-US" sz="1400" kern="1200"/>
            <a:t> </a:t>
          </a:r>
          <a:r>
            <a:rPr lang="en-US" sz="1400" kern="1200" err="1"/>
            <a:t>Ressourcen</a:t>
          </a:r>
          <a:endParaRPr lang="en-US" sz="1400" kern="120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err="1"/>
            <a:t>Globales</a:t>
          </a:r>
          <a:r>
            <a:rPr lang="en-US" sz="1400" kern="1200"/>
            <a:t> </a:t>
          </a:r>
          <a:r>
            <a:rPr lang="en-US" sz="1400" kern="1200" err="1"/>
            <a:t>Händlernetz</a:t>
          </a:r>
          <a:endParaRPr lang="en-US" sz="1400" kern="1200"/>
        </a:p>
      </dsp:txBody>
      <dsp:txXfrm>
        <a:off x="0" y="178469"/>
        <a:ext cx="5153504" cy="1436400"/>
      </dsp:txXfrm>
    </dsp:sp>
    <dsp:sp modelId="{33167095-FB17-394F-9171-76DBB7052190}">
      <dsp:nvSpPr>
        <dsp:cNvPr id="0" name=""/>
        <dsp:cNvSpPr/>
      </dsp:nvSpPr>
      <dsp:spPr>
        <a:xfrm>
          <a:off x="257675" y="1349"/>
          <a:ext cx="3607452" cy="3542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6353" tIns="0" rIns="136353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Materielle Ressourcen</a:t>
          </a:r>
        </a:p>
      </dsp:txBody>
      <dsp:txXfrm>
        <a:off x="274968" y="18642"/>
        <a:ext cx="3572866" cy="319654"/>
      </dsp:txXfrm>
    </dsp:sp>
    <dsp:sp modelId="{11965E2B-CBE5-4F45-B0BB-379EAC21032B}">
      <dsp:nvSpPr>
        <dsp:cNvPr id="0" name=""/>
        <dsp:cNvSpPr/>
      </dsp:nvSpPr>
      <dsp:spPr>
        <a:xfrm>
          <a:off x="0" y="1856789"/>
          <a:ext cx="5153504" cy="1474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99969" tIns="249936" rIns="399969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Marke Porsche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Technologiesches Know-how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Motorsport-Erfahrung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err="1"/>
            <a:t>Patente</a:t>
          </a:r>
          <a:r>
            <a:rPr lang="en-US" sz="1400" kern="1200"/>
            <a:t> und </a:t>
          </a:r>
          <a:r>
            <a:rPr lang="en-US" sz="1400" kern="1200" err="1"/>
            <a:t>geistiges</a:t>
          </a:r>
          <a:r>
            <a:rPr lang="en-US" sz="1400" kern="1200"/>
            <a:t> </a:t>
          </a:r>
          <a:r>
            <a:rPr lang="en-US" sz="1400" kern="1200" err="1"/>
            <a:t>Eigentum</a:t>
          </a:r>
          <a:endParaRPr lang="en-US" sz="1400" kern="120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Hohe Reputation </a:t>
          </a:r>
          <a:r>
            <a:rPr lang="en-US" sz="1400" kern="1200" err="1"/>
            <a:t>im</a:t>
          </a:r>
          <a:r>
            <a:rPr lang="en-US" sz="1400" kern="1200"/>
            <a:t> </a:t>
          </a:r>
          <a:r>
            <a:rPr lang="en-US" sz="1400" kern="1200" err="1"/>
            <a:t>Premiumsegment</a:t>
          </a:r>
          <a:endParaRPr lang="en-US" sz="1400" kern="1200"/>
        </a:p>
      </dsp:txBody>
      <dsp:txXfrm>
        <a:off x="0" y="1856789"/>
        <a:ext cx="5153504" cy="1474200"/>
      </dsp:txXfrm>
    </dsp:sp>
    <dsp:sp modelId="{196EF647-398A-CA4B-AF4C-FB6AF0167BB6}">
      <dsp:nvSpPr>
        <dsp:cNvPr id="0" name=""/>
        <dsp:cNvSpPr/>
      </dsp:nvSpPr>
      <dsp:spPr>
        <a:xfrm>
          <a:off x="257675" y="1679669"/>
          <a:ext cx="3607452" cy="3542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6353" tIns="0" rIns="136353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err="1"/>
            <a:t>Immaterielle</a:t>
          </a:r>
          <a:r>
            <a:rPr lang="en-US" sz="1400" kern="1200"/>
            <a:t> </a:t>
          </a:r>
          <a:r>
            <a:rPr lang="en-US" sz="1400" kern="1200" err="1"/>
            <a:t>Ressourcen</a:t>
          </a:r>
          <a:endParaRPr lang="en-US" sz="1400" kern="1200"/>
        </a:p>
      </dsp:txBody>
      <dsp:txXfrm>
        <a:off x="274968" y="1696962"/>
        <a:ext cx="3572866" cy="319654"/>
      </dsp:txXfrm>
    </dsp:sp>
    <dsp:sp modelId="{00638775-915F-9C46-A89C-6B4065C44AA4}">
      <dsp:nvSpPr>
        <dsp:cNvPr id="0" name=""/>
        <dsp:cNvSpPr/>
      </dsp:nvSpPr>
      <dsp:spPr>
        <a:xfrm>
          <a:off x="0" y="3572909"/>
          <a:ext cx="5153504" cy="1020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99969" tIns="249936" rIns="399969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err="1"/>
            <a:t>Ingenieure</a:t>
          </a:r>
          <a:r>
            <a:rPr lang="en-US" sz="1400" kern="1200"/>
            <a:t> und </a:t>
          </a:r>
          <a:r>
            <a:rPr lang="en-US" sz="1400" kern="1200" err="1"/>
            <a:t>Entwickler</a:t>
          </a:r>
          <a:endParaRPr lang="en-US" sz="1400" kern="120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Software-</a:t>
          </a:r>
          <a:r>
            <a:rPr lang="en-US" sz="1400" kern="1200" err="1"/>
            <a:t>Spezialisten</a:t>
          </a:r>
          <a:endParaRPr lang="en-US" sz="1400" kern="120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err="1"/>
            <a:t>Erfahrenes</a:t>
          </a:r>
          <a:r>
            <a:rPr lang="en-US" sz="1400" kern="1200"/>
            <a:t> Management</a:t>
          </a:r>
        </a:p>
      </dsp:txBody>
      <dsp:txXfrm>
        <a:off x="0" y="3572909"/>
        <a:ext cx="5153504" cy="1020600"/>
      </dsp:txXfrm>
    </dsp:sp>
    <dsp:sp modelId="{7776384E-C1B1-7A44-8475-EE49241621E7}">
      <dsp:nvSpPr>
        <dsp:cNvPr id="0" name=""/>
        <dsp:cNvSpPr/>
      </dsp:nvSpPr>
      <dsp:spPr>
        <a:xfrm>
          <a:off x="257675" y="3395789"/>
          <a:ext cx="3607452" cy="3542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6353" tIns="0" rIns="136353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err="1"/>
            <a:t>Personelle</a:t>
          </a:r>
          <a:r>
            <a:rPr lang="en-US" sz="1400" kern="1200"/>
            <a:t> </a:t>
          </a:r>
          <a:r>
            <a:rPr lang="en-US" sz="1400" kern="1200" err="1"/>
            <a:t>Ressourcen</a:t>
          </a:r>
          <a:endParaRPr lang="en-US" sz="1400" kern="1200"/>
        </a:p>
      </dsp:txBody>
      <dsp:txXfrm>
        <a:off x="274968" y="3413082"/>
        <a:ext cx="3572866" cy="31965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CEA706-903E-F241-AC8F-50D0F712E7C1}">
      <dsp:nvSpPr>
        <dsp:cNvPr id="0" name=""/>
        <dsp:cNvSpPr/>
      </dsp:nvSpPr>
      <dsp:spPr>
        <a:xfrm>
          <a:off x="0" y="193656"/>
          <a:ext cx="5153504" cy="7229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99969" tIns="187452" rIns="399969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err="1"/>
            <a:t>Entwicklung</a:t>
          </a:r>
          <a:r>
            <a:rPr lang="en-US" sz="1400" kern="1200"/>
            <a:t> </a:t>
          </a:r>
          <a:r>
            <a:rPr lang="en-US" sz="1400" kern="1200" err="1"/>
            <a:t>neuer</a:t>
          </a:r>
          <a:r>
            <a:rPr lang="en-US" sz="1400" kern="1200"/>
            <a:t> </a:t>
          </a:r>
          <a:r>
            <a:rPr lang="en-US" sz="1400" kern="1200" err="1"/>
            <a:t>Fahrzeugtechnologien</a:t>
          </a:r>
          <a:endParaRPr lang="en-US" sz="1400" kern="120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err="1"/>
            <a:t>Elektromobilität</a:t>
          </a:r>
          <a:r>
            <a:rPr lang="en-US" sz="1400" kern="1200"/>
            <a:t> und </a:t>
          </a:r>
          <a:r>
            <a:rPr lang="en-US" sz="1400" kern="1200" err="1"/>
            <a:t>Batterietechnik</a:t>
          </a:r>
          <a:endParaRPr lang="en-US" sz="1400" kern="1200"/>
        </a:p>
      </dsp:txBody>
      <dsp:txXfrm>
        <a:off x="0" y="193656"/>
        <a:ext cx="5153504" cy="722925"/>
      </dsp:txXfrm>
    </dsp:sp>
    <dsp:sp modelId="{33167095-FB17-394F-9171-76DBB7052190}">
      <dsp:nvSpPr>
        <dsp:cNvPr id="0" name=""/>
        <dsp:cNvSpPr/>
      </dsp:nvSpPr>
      <dsp:spPr>
        <a:xfrm>
          <a:off x="257675" y="60816"/>
          <a:ext cx="3607452" cy="2656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6353" tIns="0" rIns="136353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Forschung und </a:t>
          </a:r>
          <a:r>
            <a:rPr lang="en-US" sz="1400" kern="1200" err="1"/>
            <a:t>Entwicklung</a:t>
          </a:r>
          <a:endParaRPr lang="en-US" sz="1400" kern="1200"/>
        </a:p>
      </dsp:txBody>
      <dsp:txXfrm>
        <a:off x="270644" y="73785"/>
        <a:ext cx="3581514" cy="239742"/>
      </dsp:txXfrm>
    </dsp:sp>
    <dsp:sp modelId="{11965E2B-CBE5-4F45-B0BB-379EAC21032B}">
      <dsp:nvSpPr>
        <dsp:cNvPr id="0" name=""/>
        <dsp:cNvSpPr/>
      </dsp:nvSpPr>
      <dsp:spPr>
        <a:xfrm>
          <a:off x="0" y="1098021"/>
          <a:ext cx="5153504" cy="7229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99969" tIns="187452" rIns="399969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Premium-</a:t>
          </a:r>
          <a:r>
            <a:rPr lang="en-US" sz="1400" kern="1200" err="1"/>
            <a:t>Fertigung</a:t>
          </a:r>
          <a:endParaRPr lang="en-US" sz="1400" kern="120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Hohe </a:t>
          </a:r>
          <a:r>
            <a:rPr lang="en-US" sz="1400" kern="1200" err="1"/>
            <a:t>Qualitätstandards</a:t>
          </a:r>
          <a:endParaRPr lang="en-US" sz="1400" kern="1200"/>
        </a:p>
      </dsp:txBody>
      <dsp:txXfrm>
        <a:off x="0" y="1098021"/>
        <a:ext cx="5153504" cy="722925"/>
      </dsp:txXfrm>
    </dsp:sp>
    <dsp:sp modelId="{196EF647-398A-CA4B-AF4C-FB6AF0167BB6}">
      <dsp:nvSpPr>
        <dsp:cNvPr id="0" name=""/>
        <dsp:cNvSpPr/>
      </dsp:nvSpPr>
      <dsp:spPr>
        <a:xfrm>
          <a:off x="257675" y="965181"/>
          <a:ext cx="3607452" cy="2656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6353" tIns="0" rIns="136353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Produktion</a:t>
          </a:r>
        </a:p>
      </dsp:txBody>
      <dsp:txXfrm>
        <a:off x="270644" y="978150"/>
        <a:ext cx="3581514" cy="239742"/>
      </dsp:txXfrm>
    </dsp:sp>
    <dsp:sp modelId="{00638775-915F-9C46-A89C-6B4065C44AA4}">
      <dsp:nvSpPr>
        <dsp:cNvPr id="0" name=""/>
        <dsp:cNvSpPr/>
      </dsp:nvSpPr>
      <dsp:spPr>
        <a:xfrm>
          <a:off x="0" y="2002387"/>
          <a:ext cx="5153504" cy="7229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99969" tIns="187452" rIns="399969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err="1"/>
            <a:t>Wiedererkennbares</a:t>
          </a:r>
          <a:r>
            <a:rPr lang="en-US" sz="1400" kern="1200"/>
            <a:t> Porsche-Design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err="1"/>
            <a:t>Kombination</a:t>
          </a:r>
          <a:r>
            <a:rPr lang="en-US" sz="1400" kern="1200"/>
            <a:t> </a:t>
          </a:r>
          <a:r>
            <a:rPr lang="en-US" sz="1400" kern="1200" err="1"/>
            <a:t>aus</a:t>
          </a:r>
          <a:r>
            <a:rPr lang="en-US" sz="1400" kern="1200"/>
            <a:t> Tradition und Innovation</a:t>
          </a:r>
        </a:p>
      </dsp:txBody>
      <dsp:txXfrm>
        <a:off x="0" y="2002387"/>
        <a:ext cx="5153504" cy="722925"/>
      </dsp:txXfrm>
    </dsp:sp>
    <dsp:sp modelId="{7776384E-C1B1-7A44-8475-EE49241621E7}">
      <dsp:nvSpPr>
        <dsp:cNvPr id="0" name=""/>
        <dsp:cNvSpPr/>
      </dsp:nvSpPr>
      <dsp:spPr>
        <a:xfrm>
          <a:off x="257675" y="1869547"/>
          <a:ext cx="3607452" cy="2656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6353" tIns="0" rIns="136353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Design</a:t>
          </a:r>
        </a:p>
      </dsp:txBody>
      <dsp:txXfrm>
        <a:off x="270644" y="1882516"/>
        <a:ext cx="3581514" cy="239742"/>
      </dsp:txXfrm>
    </dsp:sp>
    <dsp:sp modelId="{83500B52-E3EA-6842-931F-41F21938943F}">
      <dsp:nvSpPr>
        <dsp:cNvPr id="0" name=""/>
        <dsp:cNvSpPr/>
      </dsp:nvSpPr>
      <dsp:spPr>
        <a:xfrm>
          <a:off x="0" y="2906751"/>
          <a:ext cx="5153504" cy="7229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99969" tIns="187452" rIns="399969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Starke </a:t>
          </a:r>
          <a:r>
            <a:rPr lang="en-US" sz="1400" kern="1200" err="1"/>
            <a:t>Marktführung</a:t>
          </a:r>
          <a:endParaRPr lang="en-US" sz="1400" kern="120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Hohe </a:t>
          </a:r>
          <a:r>
            <a:rPr lang="en-US" sz="1400" kern="1200" err="1"/>
            <a:t>Kundenbindung</a:t>
          </a:r>
          <a:endParaRPr lang="en-US" sz="1400" kern="1200"/>
        </a:p>
      </dsp:txBody>
      <dsp:txXfrm>
        <a:off x="0" y="2906751"/>
        <a:ext cx="5153504" cy="722925"/>
      </dsp:txXfrm>
    </dsp:sp>
    <dsp:sp modelId="{8976F83F-C199-2A44-87E2-C7B655AF159F}">
      <dsp:nvSpPr>
        <dsp:cNvPr id="0" name=""/>
        <dsp:cNvSpPr/>
      </dsp:nvSpPr>
      <dsp:spPr>
        <a:xfrm>
          <a:off x="257675" y="2773912"/>
          <a:ext cx="3607452" cy="2656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6353" tIns="0" rIns="136353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Marketing und </a:t>
          </a:r>
          <a:r>
            <a:rPr lang="en-US" sz="1400" kern="1200" err="1"/>
            <a:t>Vertrieb</a:t>
          </a:r>
          <a:endParaRPr lang="en-US" sz="1400" kern="1200"/>
        </a:p>
      </dsp:txBody>
      <dsp:txXfrm>
        <a:off x="270644" y="2786881"/>
        <a:ext cx="3581514" cy="239742"/>
      </dsp:txXfrm>
    </dsp:sp>
    <dsp:sp modelId="{35B2E7C8-0118-BA47-869C-4A9F621397AC}">
      <dsp:nvSpPr>
        <dsp:cNvPr id="0" name=""/>
        <dsp:cNvSpPr/>
      </dsp:nvSpPr>
      <dsp:spPr>
        <a:xfrm>
          <a:off x="0" y="3811117"/>
          <a:ext cx="5153504" cy="7229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99969" tIns="187452" rIns="399969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err="1"/>
            <a:t>Weltweites</a:t>
          </a:r>
          <a:r>
            <a:rPr lang="en-US" sz="1400" kern="1200"/>
            <a:t> Service- und </a:t>
          </a:r>
          <a:r>
            <a:rPr lang="en-US" sz="1400" kern="1200" err="1"/>
            <a:t>Händlernetz</a:t>
          </a:r>
          <a:endParaRPr lang="en-US" sz="1400" kern="120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err="1"/>
            <a:t>Digitales</a:t>
          </a:r>
          <a:r>
            <a:rPr lang="en-US" sz="1400" kern="1200"/>
            <a:t> </a:t>
          </a:r>
          <a:r>
            <a:rPr lang="en-US" sz="1400" kern="1200" err="1"/>
            <a:t>Kundendienste</a:t>
          </a:r>
          <a:endParaRPr lang="en-US" sz="1400" kern="1200"/>
        </a:p>
      </dsp:txBody>
      <dsp:txXfrm>
        <a:off x="0" y="3811117"/>
        <a:ext cx="5153504" cy="722925"/>
      </dsp:txXfrm>
    </dsp:sp>
    <dsp:sp modelId="{634501AD-78A2-7E44-8711-2D7B9436BCEB}">
      <dsp:nvSpPr>
        <dsp:cNvPr id="0" name=""/>
        <dsp:cNvSpPr/>
      </dsp:nvSpPr>
      <dsp:spPr>
        <a:xfrm>
          <a:off x="257675" y="3678277"/>
          <a:ext cx="3607452" cy="2656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6353" tIns="0" rIns="136353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Service</a:t>
          </a:r>
        </a:p>
      </dsp:txBody>
      <dsp:txXfrm>
        <a:off x="270644" y="3691246"/>
        <a:ext cx="3581514" cy="239742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CEA706-903E-F241-AC8F-50D0F712E7C1}">
      <dsp:nvSpPr>
        <dsp:cNvPr id="0" name=""/>
        <dsp:cNvSpPr/>
      </dsp:nvSpPr>
      <dsp:spPr>
        <a:xfrm>
          <a:off x="0" y="303997"/>
          <a:ext cx="4744939" cy="116707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68260" tIns="395732" rIns="368260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err="1"/>
            <a:t>Fahrdynamik</a:t>
          </a:r>
          <a:endParaRPr lang="en-US" sz="1400" kern="120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err="1"/>
            <a:t>Qualität</a:t>
          </a:r>
          <a:endParaRPr lang="en-US" sz="1400" kern="120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Innovation</a:t>
          </a:r>
        </a:p>
      </dsp:txBody>
      <dsp:txXfrm>
        <a:off x="0" y="303997"/>
        <a:ext cx="4744939" cy="1167075"/>
      </dsp:txXfrm>
    </dsp:sp>
    <dsp:sp modelId="{33167095-FB17-394F-9171-76DBB7052190}">
      <dsp:nvSpPr>
        <dsp:cNvPr id="0" name=""/>
        <dsp:cNvSpPr/>
      </dsp:nvSpPr>
      <dsp:spPr>
        <a:xfrm>
          <a:off x="237246" y="23557"/>
          <a:ext cx="3321457" cy="5608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543" tIns="0" rIns="125543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err="1"/>
            <a:t>Entwicklung</a:t>
          </a:r>
          <a:r>
            <a:rPr lang="en-US" sz="1400" kern="1200"/>
            <a:t> </a:t>
          </a:r>
          <a:r>
            <a:rPr lang="en-US" sz="1400" kern="1200" err="1"/>
            <a:t>leistungsstarker</a:t>
          </a:r>
          <a:r>
            <a:rPr lang="en-US" sz="1400" kern="1200"/>
            <a:t> </a:t>
          </a:r>
          <a:r>
            <a:rPr lang="en-US" sz="1400" kern="1200" err="1"/>
            <a:t>Premiumfahrzeuge</a:t>
          </a:r>
          <a:endParaRPr lang="en-US" sz="1400" kern="1200"/>
        </a:p>
      </dsp:txBody>
      <dsp:txXfrm>
        <a:off x="264626" y="50937"/>
        <a:ext cx="3266697" cy="506120"/>
      </dsp:txXfrm>
    </dsp:sp>
    <dsp:sp modelId="{11965E2B-CBE5-4F45-B0BB-379EAC21032B}">
      <dsp:nvSpPr>
        <dsp:cNvPr id="0" name=""/>
        <dsp:cNvSpPr/>
      </dsp:nvSpPr>
      <dsp:spPr>
        <a:xfrm>
          <a:off x="0" y="1854112"/>
          <a:ext cx="4744939" cy="116707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68260" tIns="395732" rIns="368260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err="1"/>
            <a:t>Exklusivität</a:t>
          </a:r>
          <a:endParaRPr lang="en-US" sz="1400" kern="120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Hohe </a:t>
          </a:r>
          <a:r>
            <a:rPr lang="en-US" sz="1400" kern="1200" err="1"/>
            <a:t>Kundenloyalität</a:t>
          </a:r>
          <a:endParaRPr lang="en-US" sz="1400" kern="120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Hohe </a:t>
          </a:r>
          <a:r>
            <a:rPr lang="en-US" sz="1400" kern="1200" err="1"/>
            <a:t>Preisbereitschaft</a:t>
          </a:r>
          <a:endParaRPr lang="en-US" sz="1400" kern="1200"/>
        </a:p>
      </dsp:txBody>
      <dsp:txXfrm>
        <a:off x="0" y="1854112"/>
        <a:ext cx="4744939" cy="1167075"/>
      </dsp:txXfrm>
    </dsp:sp>
    <dsp:sp modelId="{196EF647-398A-CA4B-AF4C-FB6AF0167BB6}">
      <dsp:nvSpPr>
        <dsp:cNvPr id="0" name=""/>
        <dsp:cNvSpPr/>
      </dsp:nvSpPr>
      <dsp:spPr>
        <a:xfrm>
          <a:off x="237246" y="1573672"/>
          <a:ext cx="3321457" cy="5608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543" tIns="0" rIns="125543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Premium-</a:t>
          </a:r>
          <a:r>
            <a:rPr lang="en-US" sz="1400" kern="1200" err="1"/>
            <a:t>Marktführung</a:t>
          </a:r>
          <a:r>
            <a:rPr lang="en-US" sz="1400" kern="1200"/>
            <a:t> </a:t>
          </a:r>
        </a:p>
      </dsp:txBody>
      <dsp:txXfrm>
        <a:off x="264626" y="1601052"/>
        <a:ext cx="3266697" cy="506120"/>
      </dsp:txXfrm>
    </dsp:sp>
    <dsp:sp modelId="{00638775-915F-9C46-A89C-6B4065C44AA4}">
      <dsp:nvSpPr>
        <dsp:cNvPr id="0" name=""/>
        <dsp:cNvSpPr/>
      </dsp:nvSpPr>
      <dsp:spPr>
        <a:xfrm>
          <a:off x="0" y="3404227"/>
          <a:ext cx="4744939" cy="116707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68260" tIns="395732" rIns="368260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err="1"/>
            <a:t>Elektromobilität</a:t>
          </a:r>
          <a:endParaRPr lang="en-US" sz="1400" kern="120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Software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err="1"/>
            <a:t>Digitalisierung</a:t>
          </a:r>
          <a:endParaRPr lang="en-US" sz="1400" kern="1200"/>
        </a:p>
      </dsp:txBody>
      <dsp:txXfrm>
        <a:off x="0" y="3404227"/>
        <a:ext cx="4744939" cy="1167075"/>
      </dsp:txXfrm>
    </dsp:sp>
    <dsp:sp modelId="{7776384E-C1B1-7A44-8475-EE49241621E7}">
      <dsp:nvSpPr>
        <dsp:cNvPr id="0" name=""/>
        <dsp:cNvSpPr/>
      </dsp:nvSpPr>
      <dsp:spPr>
        <a:xfrm>
          <a:off x="237246" y="3123787"/>
          <a:ext cx="3321457" cy="5608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543" tIns="0" rIns="125543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err="1"/>
            <a:t>Technologische</a:t>
          </a:r>
          <a:r>
            <a:rPr lang="en-US" sz="1400" kern="1200"/>
            <a:t> Transformation</a:t>
          </a:r>
        </a:p>
      </dsp:txBody>
      <dsp:txXfrm>
        <a:off x="264626" y="3151167"/>
        <a:ext cx="3266697" cy="50612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CEA706-903E-F241-AC8F-50D0F712E7C1}">
      <dsp:nvSpPr>
        <dsp:cNvPr id="0" name=""/>
        <dsp:cNvSpPr/>
      </dsp:nvSpPr>
      <dsp:spPr>
        <a:xfrm>
          <a:off x="0" y="273668"/>
          <a:ext cx="5153504" cy="11245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99969" tIns="354076" rIns="399969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err="1"/>
            <a:t>Qualitätsmanagement</a:t>
          </a:r>
          <a:endParaRPr lang="en-US" sz="1400" kern="120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Flexible </a:t>
          </a:r>
          <a:r>
            <a:rPr lang="en-US" sz="1400" kern="1200" err="1"/>
            <a:t>Fertigung</a:t>
          </a:r>
          <a:endParaRPr lang="en-US" sz="1400" kern="120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Multi-</a:t>
          </a:r>
          <a:r>
            <a:rPr lang="en-US" sz="1400" kern="1200" err="1"/>
            <a:t>Antriebsstrategie</a:t>
          </a:r>
          <a:endParaRPr lang="en-US" sz="1400" kern="1200"/>
        </a:p>
      </dsp:txBody>
      <dsp:txXfrm>
        <a:off x="0" y="273668"/>
        <a:ext cx="5153504" cy="1124550"/>
      </dsp:txXfrm>
    </dsp:sp>
    <dsp:sp modelId="{33167095-FB17-394F-9171-76DBB7052190}">
      <dsp:nvSpPr>
        <dsp:cNvPr id="0" name=""/>
        <dsp:cNvSpPr/>
      </dsp:nvSpPr>
      <dsp:spPr>
        <a:xfrm>
          <a:off x="257675" y="22748"/>
          <a:ext cx="3607452" cy="5018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6353" tIns="0" rIns="136353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Premium Produktion</a:t>
          </a:r>
        </a:p>
      </dsp:txBody>
      <dsp:txXfrm>
        <a:off x="282173" y="47246"/>
        <a:ext cx="3558456" cy="452844"/>
      </dsp:txXfrm>
    </dsp:sp>
    <dsp:sp modelId="{11965E2B-CBE5-4F45-B0BB-379EAC21032B}">
      <dsp:nvSpPr>
        <dsp:cNvPr id="0" name=""/>
        <dsp:cNvSpPr/>
      </dsp:nvSpPr>
      <dsp:spPr>
        <a:xfrm>
          <a:off x="0" y="1740938"/>
          <a:ext cx="5153504" cy="11245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99969" tIns="354076" rIns="399969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Hohe </a:t>
          </a:r>
          <a:r>
            <a:rPr lang="en-US" sz="1400" kern="1200" err="1"/>
            <a:t>Margen</a:t>
          </a:r>
          <a:endParaRPr lang="en-US" sz="1400" kern="120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Starke </a:t>
          </a:r>
          <a:r>
            <a:rPr lang="en-US" sz="1400" kern="1200" err="1"/>
            <a:t>Marktposition</a:t>
          </a:r>
          <a:endParaRPr lang="en-US" sz="1400" kern="120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err="1"/>
            <a:t>Langfristige</a:t>
          </a:r>
          <a:r>
            <a:rPr lang="en-US" sz="1400" kern="1200"/>
            <a:t> </a:t>
          </a:r>
          <a:r>
            <a:rPr lang="en-US" sz="1400" kern="1200" err="1"/>
            <a:t>Kundenbindung</a:t>
          </a:r>
          <a:endParaRPr lang="en-US" sz="1400" kern="1200"/>
        </a:p>
      </dsp:txBody>
      <dsp:txXfrm>
        <a:off x="0" y="1740938"/>
        <a:ext cx="5153504" cy="1124550"/>
      </dsp:txXfrm>
    </dsp:sp>
    <dsp:sp modelId="{196EF647-398A-CA4B-AF4C-FB6AF0167BB6}">
      <dsp:nvSpPr>
        <dsp:cNvPr id="0" name=""/>
        <dsp:cNvSpPr/>
      </dsp:nvSpPr>
      <dsp:spPr>
        <a:xfrm>
          <a:off x="257675" y="1490018"/>
          <a:ext cx="3607452" cy="5018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6353" tIns="0" rIns="136353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err="1"/>
            <a:t>Wettbewerbsvorteil</a:t>
          </a:r>
          <a:endParaRPr lang="en-US" sz="1400" kern="1200"/>
        </a:p>
      </dsp:txBody>
      <dsp:txXfrm>
        <a:off x="282173" y="1514516"/>
        <a:ext cx="3558456" cy="452844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2796D9B-E35B-47BE-B37D-17F4F0401E5B}">
      <dsp:nvSpPr>
        <dsp:cNvPr id="0" name=""/>
        <dsp:cNvSpPr/>
      </dsp:nvSpPr>
      <dsp:spPr>
        <a:xfrm>
          <a:off x="0" y="277451"/>
          <a:ext cx="10515600" cy="12127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16127" tIns="291592" rIns="816127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Die </a:t>
          </a:r>
          <a:r>
            <a:rPr lang="en-US" sz="1400" b="0" kern="1200" err="1"/>
            <a:t>Produktionswerke</a:t>
          </a:r>
          <a:r>
            <a:rPr lang="en-US" sz="1400" b="0" kern="1200"/>
            <a:t> </a:t>
          </a:r>
          <a:r>
            <a:rPr lang="en-US" sz="1400" b="0" kern="1200">
              <a:latin typeface="Aptos Display" panose="02110004020202020204"/>
            </a:rPr>
            <a:t>in</a:t>
          </a:r>
          <a:r>
            <a:rPr lang="en-US" sz="1400" b="0" kern="1200"/>
            <a:t> Stuttgart-</a:t>
          </a:r>
          <a:r>
            <a:rPr lang="en-US" sz="1400" b="0" kern="1200" err="1"/>
            <a:t>Zuffenhausen</a:t>
          </a:r>
          <a:r>
            <a:rPr lang="en-US" sz="1400" b="1" kern="1200"/>
            <a:t> </a:t>
          </a:r>
          <a:r>
            <a:rPr lang="en-US" sz="1400" b="0" kern="1200"/>
            <a:t>und Leipzig</a:t>
          </a:r>
          <a:r>
            <a:rPr lang="en-US" sz="1400" kern="1200"/>
            <a:t> </a:t>
          </a:r>
          <a:r>
            <a:rPr lang="en-US" sz="1400" kern="1200" err="1"/>
            <a:t>wandelten</a:t>
          </a:r>
          <a:r>
            <a:rPr lang="en-US" sz="1400" kern="1200"/>
            <a:t> </a:t>
          </a:r>
          <a:r>
            <a:rPr lang="en-US" sz="1400" kern="1200" err="1"/>
            <a:t>sich</a:t>
          </a:r>
          <a:r>
            <a:rPr lang="en-US" sz="1400" kern="1200"/>
            <a:t> von </a:t>
          </a:r>
          <a:r>
            <a:rPr lang="en-US" sz="1400" kern="1200" err="1"/>
            <a:t>getrennten</a:t>
          </a:r>
          <a:r>
            <a:rPr lang="en-US" sz="1400" kern="1200"/>
            <a:t> </a:t>
          </a:r>
          <a:r>
            <a:rPr lang="en-US" sz="1400" kern="1200" err="1"/>
            <a:t>Fertigungslinien</a:t>
          </a:r>
          <a:r>
            <a:rPr lang="en-US" sz="1400" kern="1200"/>
            <a:t> </a:t>
          </a:r>
          <a:r>
            <a:rPr lang="en-US" sz="1400" kern="1200" err="1"/>
            <a:t>zu</a:t>
          </a:r>
          <a:r>
            <a:rPr lang="en-US" sz="1400" kern="1200"/>
            <a:t> </a:t>
          </a:r>
          <a:r>
            <a:rPr lang="en-US" sz="1400" kern="1200" err="1"/>
            <a:t>vollflexiblen</a:t>
          </a:r>
          <a:r>
            <a:rPr lang="en-US" sz="1400" kern="1200"/>
            <a:t> Anlagen für die </a:t>
          </a:r>
          <a:r>
            <a:rPr lang="en-US" sz="1400" b="0" kern="1200"/>
            <a:t>Premium-</a:t>
          </a:r>
          <a:r>
            <a:rPr lang="en-US" sz="1400" b="0" kern="1200" err="1"/>
            <a:t>Fertigung</a:t>
          </a:r>
          <a:r>
            <a:rPr lang="en-US" sz="1400" kern="1200"/>
            <a:t> </a:t>
          </a:r>
          <a:r>
            <a:rPr lang="en-US" sz="1400" kern="1200" err="1"/>
            <a:t>aller</a:t>
          </a:r>
          <a:r>
            <a:rPr lang="en-US" sz="1400" kern="1200"/>
            <a:t> </a:t>
          </a:r>
          <a:r>
            <a:rPr lang="en-US" sz="1400" kern="1200" err="1"/>
            <a:t>Antriebsarten</a:t>
          </a:r>
          <a:r>
            <a:rPr lang="en-US" sz="1400" kern="1200"/>
            <a:t> auf </a:t>
          </a:r>
          <a:r>
            <a:rPr lang="en-US" sz="1400" kern="1200" err="1"/>
            <a:t>einem</a:t>
          </a:r>
          <a:r>
            <a:rPr lang="en-US" sz="1400" kern="1200"/>
            <a:t> Band.</a:t>
          </a:r>
        </a:p>
        <a:p>
          <a:pPr marL="114300" lvl="1" indent="-114300" algn="l" defTabSz="6223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Die </a:t>
          </a:r>
          <a:r>
            <a:rPr lang="en-US" sz="1400" b="0" kern="1200" err="1"/>
            <a:t>Entwicklungs</a:t>
          </a:r>
          <a:r>
            <a:rPr lang="en-US" sz="1400" b="0" kern="1200"/>
            <a:t>- und Testzentren</a:t>
          </a:r>
          <a:r>
            <a:rPr lang="en-US" sz="1400" kern="1200"/>
            <a:t> (v. a. </a:t>
          </a:r>
          <a:r>
            <a:rPr lang="en-US" sz="1400" kern="1200" err="1"/>
            <a:t>Weissach</a:t>
          </a:r>
          <a:r>
            <a:rPr lang="en-US" sz="1400" kern="1200"/>
            <a:t>) </a:t>
          </a:r>
          <a:r>
            <a:rPr lang="en-US" sz="1400" kern="1200" err="1"/>
            <a:t>verlagerten</a:t>
          </a:r>
          <a:r>
            <a:rPr lang="en-US" sz="1400" kern="1200"/>
            <a:t> </a:t>
          </a:r>
          <a:r>
            <a:rPr lang="en-US" sz="1400" kern="1200" err="1"/>
            <a:t>ihren</a:t>
          </a:r>
          <a:r>
            <a:rPr lang="en-US" sz="1400" kern="1200"/>
            <a:t> </a:t>
          </a:r>
          <a:r>
            <a:rPr lang="en-US" sz="1400" kern="1200" err="1"/>
            <a:t>Schwerpunkt</a:t>
          </a:r>
          <a:r>
            <a:rPr lang="en-US" sz="1400" kern="1200"/>
            <a:t> von der </a:t>
          </a:r>
          <a:r>
            <a:rPr lang="en-US" sz="1400" kern="1200" err="1"/>
            <a:t>reinen</a:t>
          </a:r>
          <a:r>
            <a:rPr lang="en-US" sz="1400" kern="1200"/>
            <a:t> Mechanik </a:t>
          </a:r>
          <a:r>
            <a:rPr lang="en-US" sz="1400" kern="1200" err="1"/>
            <a:t>hin</a:t>
          </a:r>
          <a:r>
            <a:rPr lang="en-US" sz="1400" kern="1200"/>
            <a:t> </a:t>
          </a:r>
          <a:r>
            <a:rPr lang="en-US" sz="1400" kern="1200" err="1"/>
            <a:t>zu</a:t>
          </a:r>
          <a:r>
            <a:rPr lang="en-US" sz="1400" kern="1200"/>
            <a:t> </a:t>
          </a:r>
          <a:r>
            <a:rPr lang="en-US" sz="1400" kern="1200" err="1"/>
            <a:t>Hochvolt-Prüfständen</a:t>
          </a:r>
          <a:r>
            <a:rPr lang="en-US" sz="1400" kern="1200"/>
            <a:t> und Software-</a:t>
          </a:r>
          <a:r>
            <a:rPr lang="en-US" sz="1400" kern="1200" err="1"/>
            <a:t>Simulationsumgebungen</a:t>
          </a:r>
          <a:r>
            <a:rPr lang="en-US" sz="1400" kern="1200"/>
            <a:t>.</a:t>
          </a:r>
          <a:endParaRPr lang="en-US" sz="1400" kern="1200">
            <a:latin typeface="Aptos Display" panose="02110004020202020204"/>
          </a:endParaRPr>
        </a:p>
      </dsp:txBody>
      <dsp:txXfrm>
        <a:off x="0" y="277451"/>
        <a:ext cx="10515600" cy="1212750"/>
      </dsp:txXfrm>
    </dsp:sp>
    <dsp:sp modelId="{46072EA0-3A8A-4C5E-A4BA-97CD85B6BB18}">
      <dsp:nvSpPr>
        <dsp:cNvPr id="0" name=""/>
        <dsp:cNvSpPr/>
      </dsp:nvSpPr>
      <dsp:spPr>
        <a:xfrm>
          <a:off x="525780" y="70811"/>
          <a:ext cx="7360920" cy="4132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>
              <a:latin typeface="Aptos Display" panose="02110004020202020204"/>
            </a:rPr>
            <a:t> </a:t>
          </a:r>
          <a:r>
            <a:rPr lang="en-US" sz="1400" kern="1200" err="1"/>
            <a:t>Materielle</a:t>
          </a:r>
          <a:r>
            <a:rPr lang="en-US" sz="1400" kern="1200"/>
            <a:t> &amp; </a:t>
          </a:r>
          <a:r>
            <a:rPr lang="en-US" sz="1400" kern="1200" err="1"/>
            <a:t>Finanzielle</a:t>
          </a:r>
          <a:r>
            <a:rPr lang="en-US" sz="1400" kern="1200"/>
            <a:t> </a:t>
          </a:r>
          <a:r>
            <a:rPr lang="en-US" sz="1400" kern="1200">
              <a:latin typeface="Aptos Display" panose="02110004020202020204"/>
            </a:rPr>
            <a:t>Ressourcene</a:t>
          </a:r>
          <a:endParaRPr lang="en-US" sz="1400" kern="1200"/>
        </a:p>
      </dsp:txBody>
      <dsp:txXfrm>
        <a:off x="545955" y="90986"/>
        <a:ext cx="7320570" cy="372930"/>
      </dsp:txXfrm>
    </dsp:sp>
    <dsp:sp modelId="{8AC9CA7F-823A-49BC-9171-68C00533E5BF}">
      <dsp:nvSpPr>
        <dsp:cNvPr id="0" name=""/>
        <dsp:cNvSpPr/>
      </dsp:nvSpPr>
      <dsp:spPr>
        <a:xfrm>
          <a:off x="0" y="1772442"/>
          <a:ext cx="10515600" cy="10143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16127" tIns="291592" rIns="816127" bIns="99568" numCol="1" spcCol="1270" anchor="t" anchorCtr="0">
          <a:noAutofit/>
        </a:bodyPr>
        <a:lstStyle/>
        <a:p>
          <a:pPr marL="114300" lvl="1" indent="-114300" algn="l" defTabSz="6223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b="0" kern="1200"/>
            <a:t>Das </a:t>
          </a:r>
          <a:r>
            <a:rPr lang="en-US" sz="1400" b="0" kern="1200" err="1"/>
            <a:t>technologische</a:t>
          </a:r>
          <a:r>
            <a:rPr lang="en-US" sz="1400" b="0" kern="1200"/>
            <a:t> Know-how </a:t>
          </a:r>
          <a:r>
            <a:rPr lang="en-US" sz="1400" b="0" kern="1200" err="1"/>
            <a:t>sowie</a:t>
          </a:r>
          <a:r>
            <a:rPr lang="en-US" sz="1400" b="0" kern="1200"/>
            <a:t> </a:t>
          </a:r>
          <a:r>
            <a:rPr lang="en-US" sz="1400" b="0" kern="1200" err="1"/>
            <a:t>Patente</a:t>
          </a:r>
          <a:r>
            <a:rPr lang="en-US" sz="1400" b="0" kern="1200"/>
            <a:t> und </a:t>
          </a:r>
          <a:r>
            <a:rPr lang="en-US" sz="1400" b="0" kern="1200" err="1"/>
            <a:t>geistiges</a:t>
          </a:r>
          <a:r>
            <a:rPr lang="en-US" sz="1400" b="0" kern="1200"/>
            <a:t> </a:t>
          </a:r>
          <a:r>
            <a:rPr lang="en-US" sz="1400" b="0" kern="1200" err="1"/>
            <a:t>Eigentum</a:t>
          </a:r>
          <a:r>
            <a:rPr lang="en-US" sz="1400" b="0" kern="1200"/>
            <a:t> </a:t>
          </a:r>
          <a:r>
            <a:rPr lang="en-US" sz="1400" b="0" kern="1200" err="1"/>
            <a:t>erweiterten</a:t>
          </a:r>
          <a:r>
            <a:rPr lang="en-US" sz="1400" b="0" kern="1200"/>
            <a:t> </a:t>
          </a:r>
          <a:r>
            <a:rPr lang="en-US" sz="1400" b="0" kern="1200" err="1"/>
            <a:t>sich</a:t>
          </a:r>
          <a:r>
            <a:rPr lang="en-US" sz="1400" b="0" kern="1200"/>
            <a:t> um </a:t>
          </a:r>
          <a:r>
            <a:rPr lang="en-US" sz="1400" b="0" kern="1200" err="1"/>
            <a:t>Kernbereiche</a:t>
          </a:r>
          <a:r>
            <a:rPr lang="en-US" sz="1400" b="0" kern="1200"/>
            <a:t> </a:t>
          </a:r>
          <a:r>
            <a:rPr lang="en-US" sz="1400" b="0" kern="1200" err="1"/>
            <a:t>wie</a:t>
          </a:r>
          <a:r>
            <a:rPr lang="en-US" sz="1400" b="0" kern="1200"/>
            <a:t> 800-Volt-Ladetechnik und </a:t>
          </a:r>
          <a:r>
            <a:rPr lang="en-US" sz="1400" b="0" kern="1200" err="1"/>
            <a:t>Thermomanagement</a:t>
          </a:r>
          <a:r>
            <a:rPr lang="en-US" sz="1400" kern="1200"/>
            <a:t>.</a:t>
          </a:r>
        </a:p>
        <a:p>
          <a:pPr marL="114300" lvl="1" indent="-114300" algn="l" defTabSz="6223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b="0" kern="1200"/>
            <a:t>Die Motorsport-</a:t>
          </a:r>
          <a:r>
            <a:rPr lang="en-US" sz="1400" b="0" kern="1200" err="1"/>
            <a:t>Erfahrung</a:t>
          </a:r>
          <a:r>
            <a:rPr lang="en-US" sz="1400" b="0" kern="1200"/>
            <a:t> (z. B. Le Mans-Siege </a:t>
          </a:r>
          <a:r>
            <a:rPr lang="en-US" sz="1400" b="0" kern="1200" err="1"/>
            <a:t>mit</a:t>
          </a:r>
          <a:r>
            <a:rPr lang="en-US" sz="1400" b="0" kern="1200"/>
            <a:t> dem 919 Hybrid) </a:t>
          </a:r>
          <a:r>
            <a:rPr lang="en-US" sz="1400" b="0" kern="1200" err="1"/>
            <a:t>diente</a:t>
          </a:r>
          <a:r>
            <a:rPr lang="en-US" sz="1400" b="0" kern="1200"/>
            <a:t> </a:t>
          </a:r>
          <a:r>
            <a:rPr lang="en-US" sz="1400" b="0" kern="1200" err="1"/>
            <a:t>direkt</a:t>
          </a:r>
          <a:r>
            <a:rPr lang="en-US" sz="1400" b="0" kern="1200"/>
            <a:t> </a:t>
          </a:r>
          <a:r>
            <a:rPr lang="en-US" sz="1400" b="0" kern="1200" err="1"/>
            <a:t>als</a:t>
          </a:r>
          <a:r>
            <a:rPr lang="en-US" sz="1400" b="0" kern="1200"/>
            <a:t> </a:t>
          </a:r>
          <a:r>
            <a:rPr lang="en-US" sz="1400" b="0" kern="1200" err="1"/>
            <a:t>Technologielabor</a:t>
          </a:r>
          <a:r>
            <a:rPr lang="en-US" sz="1400" b="0" kern="1200"/>
            <a:t> für die Serie.</a:t>
          </a:r>
        </a:p>
      </dsp:txBody>
      <dsp:txXfrm>
        <a:off x="0" y="1772442"/>
        <a:ext cx="10515600" cy="1014300"/>
      </dsp:txXfrm>
    </dsp:sp>
    <dsp:sp modelId="{F87C57E0-2122-4979-A760-2DF98E4AFF6C}">
      <dsp:nvSpPr>
        <dsp:cNvPr id="0" name=""/>
        <dsp:cNvSpPr/>
      </dsp:nvSpPr>
      <dsp:spPr>
        <a:xfrm>
          <a:off x="525780" y="1565801"/>
          <a:ext cx="7360920" cy="4132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>
              <a:latin typeface="Aptos Display" panose="02110004020202020204"/>
            </a:rPr>
            <a:t> </a:t>
          </a:r>
          <a:r>
            <a:rPr lang="en-US" sz="1400" kern="1200" err="1"/>
            <a:t>Immaterielle</a:t>
          </a:r>
          <a:r>
            <a:rPr lang="en-US" sz="1400" kern="1200"/>
            <a:t> </a:t>
          </a:r>
          <a:r>
            <a:rPr lang="en-US" sz="1400" kern="1200" err="1"/>
            <a:t>Ressourcen</a:t>
          </a:r>
          <a:r>
            <a:rPr lang="en-US" sz="1400" kern="1200"/>
            <a:t> &amp; Design</a:t>
          </a:r>
        </a:p>
      </dsp:txBody>
      <dsp:txXfrm>
        <a:off x="545955" y="1585976"/>
        <a:ext cx="7320570" cy="372930"/>
      </dsp:txXfrm>
    </dsp:sp>
    <dsp:sp modelId="{6265ED3E-4C88-468B-AB70-EC5A109E7C94}">
      <dsp:nvSpPr>
        <dsp:cNvPr id="0" name=""/>
        <dsp:cNvSpPr/>
      </dsp:nvSpPr>
      <dsp:spPr>
        <a:xfrm>
          <a:off x="0" y="3068982"/>
          <a:ext cx="10515600" cy="12127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16127" tIns="291592" rIns="816127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b="0" kern="1200">
              <a:latin typeface="Calibri"/>
              <a:ea typeface="Calibri"/>
              <a:cs typeface="Calibri"/>
            </a:rPr>
            <a:t>Das </a:t>
          </a:r>
          <a:r>
            <a:rPr lang="en-US" sz="1400" b="0" kern="1200" err="1">
              <a:latin typeface="Calibri"/>
              <a:ea typeface="Calibri"/>
              <a:cs typeface="Calibri"/>
            </a:rPr>
            <a:t>Profil</a:t>
          </a:r>
          <a:r>
            <a:rPr lang="en-US" sz="1400" b="0" kern="1200">
              <a:latin typeface="Calibri"/>
              <a:ea typeface="Calibri"/>
              <a:cs typeface="Calibri"/>
            </a:rPr>
            <a:t> der </a:t>
          </a:r>
          <a:r>
            <a:rPr lang="en-US" sz="1400" b="0" kern="1200" err="1">
              <a:latin typeface="Calibri"/>
              <a:ea typeface="Calibri"/>
              <a:cs typeface="Calibri"/>
            </a:rPr>
            <a:t>Ingenieure</a:t>
          </a:r>
          <a:r>
            <a:rPr lang="en-US" sz="1400" b="0" kern="1200">
              <a:latin typeface="Calibri"/>
              <a:ea typeface="Calibri"/>
              <a:cs typeface="Calibri"/>
            </a:rPr>
            <a:t> und </a:t>
          </a:r>
          <a:r>
            <a:rPr lang="en-US" sz="1400" b="0" kern="1200" err="1">
              <a:latin typeface="Calibri"/>
              <a:ea typeface="Calibri"/>
              <a:cs typeface="Calibri"/>
            </a:rPr>
            <a:t>Entwickler</a:t>
          </a:r>
          <a:r>
            <a:rPr lang="en-US" sz="1400" b="0" kern="1200">
              <a:latin typeface="Calibri"/>
              <a:ea typeface="Calibri"/>
              <a:cs typeface="Calibri"/>
            </a:rPr>
            <a:t> </a:t>
          </a:r>
          <a:r>
            <a:rPr lang="en-US" sz="1400" b="0" kern="1200" err="1">
              <a:latin typeface="Calibri"/>
              <a:ea typeface="Calibri"/>
              <a:cs typeface="Calibri"/>
            </a:rPr>
            <a:t>wandelte</a:t>
          </a:r>
          <a:r>
            <a:rPr lang="en-US" sz="1400" b="0" kern="1200">
              <a:latin typeface="Calibri"/>
              <a:ea typeface="Calibri"/>
              <a:cs typeface="Calibri"/>
            </a:rPr>
            <a:t> </a:t>
          </a:r>
          <a:r>
            <a:rPr lang="en-US" sz="1400" b="0" kern="1200" err="1">
              <a:latin typeface="Calibri"/>
              <a:ea typeface="Calibri"/>
              <a:cs typeface="Calibri"/>
            </a:rPr>
            <a:t>sich</a:t>
          </a:r>
          <a:r>
            <a:rPr lang="en-US" sz="1400" b="0" kern="1200">
              <a:latin typeface="Calibri"/>
              <a:ea typeface="Calibri"/>
              <a:cs typeface="Calibri"/>
            </a:rPr>
            <a:t> </a:t>
          </a:r>
          <a:r>
            <a:rPr lang="en-US" sz="1400" b="0" kern="1200" err="1">
              <a:latin typeface="Calibri"/>
              <a:ea typeface="Calibri"/>
              <a:cs typeface="Calibri"/>
            </a:rPr>
            <a:t>drastisch</a:t>
          </a:r>
          <a:r>
            <a:rPr lang="en-US" sz="1400" b="0" kern="1200">
              <a:latin typeface="Calibri"/>
              <a:ea typeface="Calibri"/>
              <a:cs typeface="Calibri"/>
            </a:rPr>
            <a:t>: Neben </a:t>
          </a:r>
          <a:r>
            <a:rPr lang="en-US" sz="1400" b="0" kern="1200" err="1">
              <a:latin typeface="Calibri"/>
              <a:ea typeface="Calibri"/>
              <a:cs typeface="Calibri"/>
            </a:rPr>
            <a:t>klassischen</a:t>
          </a:r>
          <a:r>
            <a:rPr lang="en-US" sz="1400" b="0" kern="1200">
              <a:latin typeface="Calibri"/>
              <a:ea typeface="Calibri"/>
              <a:cs typeface="Calibri"/>
            </a:rPr>
            <a:t> </a:t>
          </a:r>
          <a:r>
            <a:rPr lang="en-US" sz="1400" b="0" kern="1200" err="1">
              <a:latin typeface="Calibri"/>
              <a:ea typeface="Calibri"/>
              <a:cs typeface="Calibri"/>
            </a:rPr>
            <a:t>Maschinenbauern</a:t>
          </a:r>
          <a:r>
            <a:rPr lang="en-US" sz="1400" b="0" kern="1200">
              <a:latin typeface="Calibri"/>
              <a:ea typeface="Calibri"/>
              <a:cs typeface="Calibri"/>
            </a:rPr>
            <a:t> </a:t>
          </a:r>
          <a:r>
            <a:rPr lang="en-US" sz="1400" b="0" kern="1200" err="1">
              <a:latin typeface="Calibri"/>
              <a:ea typeface="Calibri"/>
              <a:cs typeface="Calibri"/>
            </a:rPr>
            <a:t>wurden</a:t>
          </a:r>
          <a:r>
            <a:rPr lang="en-US" sz="1400" b="0" kern="1200">
              <a:latin typeface="Calibri"/>
              <a:ea typeface="Calibri"/>
              <a:cs typeface="Calibri"/>
            </a:rPr>
            <a:t> </a:t>
          </a:r>
          <a:r>
            <a:rPr lang="en-US" sz="1400" b="0" kern="1200" err="1">
              <a:latin typeface="Calibri"/>
              <a:ea typeface="Calibri"/>
              <a:cs typeface="Calibri"/>
            </a:rPr>
            <a:t>gezielt</a:t>
          </a:r>
          <a:r>
            <a:rPr lang="en-US" sz="1400" b="0" kern="1200">
              <a:latin typeface="Calibri"/>
              <a:ea typeface="Calibri"/>
              <a:cs typeface="Calibri"/>
            </a:rPr>
            <a:t> Software-</a:t>
          </a:r>
          <a:r>
            <a:rPr lang="en-US" sz="1400" b="0" kern="1200" err="1">
              <a:latin typeface="Calibri"/>
              <a:ea typeface="Calibri"/>
              <a:cs typeface="Calibri"/>
            </a:rPr>
            <a:t>Spezialisten</a:t>
          </a:r>
          <a:r>
            <a:rPr lang="en-US" sz="1400" b="0" kern="1200">
              <a:latin typeface="Calibri"/>
              <a:ea typeface="Calibri"/>
              <a:cs typeface="Calibri"/>
            </a:rPr>
            <a:t> </a:t>
          </a:r>
          <a:r>
            <a:rPr lang="en-US" sz="1400" b="0" kern="1200" err="1">
              <a:latin typeface="Calibri"/>
              <a:ea typeface="Calibri"/>
              <a:cs typeface="Calibri"/>
            </a:rPr>
            <a:t>aufgebaut</a:t>
          </a:r>
          <a:r>
            <a:rPr lang="en-US" sz="1400" b="0" kern="1200">
              <a:latin typeface="Calibri"/>
              <a:ea typeface="Calibri"/>
              <a:cs typeface="Calibri"/>
            </a:rPr>
            <a:t>.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b="0" kern="1200">
              <a:latin typeface="Calibri"/>
              <a:ea typeface="Calibri"/>
              <a:cs typeface="Calibri"/>
            </a:rPr>
            <a:t>Die Forschung und </a:t>
          </a:r>
          <a:r>
            <a:rPr lang="en-US" sz="1400" b="0" kern="1200" err="1">
              <a:latin typeface="Calibri"/>
              <a:ea typeface="Calibri"/>
              <a:cs typeface="Calibri"/>
            </a:rPr>
            <a:t>Entwicklung</a:t>
          </a:r>
          <a:r>
            <a:rPr lang="en-US" sz="1400" b="0" kern="1200">
              <a:latin typeface="Calibri"/>
              <a:ea typeface="Calibri"/>
              <a:cs typeface="Calibri"/>
            </a:rPr>
            <a:t> </a:t>
          </a:r>
          <a:r>
            <a:rPr lang="en-US" sz="1400" b="0" kern="1200" err="1">
              <a:latin typeface="Calibri"/>
              <a:ea typeface="Calibri"/>
              <a:cs typeface="Calibri"/>
            </a:rPr>
            <a:t>verschob</a:t>
          </a:r>
          <a:r>
            <a:rPr lang="en-US" sz="1400" b="0" kern="1200">
              <a:latin typeface="Calibri"/>
              <a:ea typeface="Calibri"/>
              <a:cs typeface="Calibri"/>
            </a:rPr>
            <a:t> den </a:t>
          </a:r>
          <a:r>
            <a:rPr lang="en-US" sz="1400" b="0" kern="1200" err="1">
              <a:latin typeface="Calibri"/>
              <a:ea typeface="Calibri"/>
              <a:cs typeface="Calibri"/>
            </a:rPr>
            <a:t>Fokus</a:t>
          </a:r>
          <a:r>
            <a:rPr lang="en-US" sz="1400" b="0" kern="1200">
              <a:latin typeface="Calibri"/>
              <a:ea typeface="Calibri"/>
              <a:cs typeface="Calibri"/>
            </a:rPr>
            <a:t> </a:t>
          </a:r>
          <a:r>
            <a:rPr lang="en-US" sz="1400" b="0" kern="1200" err="1">
              <a:latin typeface="Calibri"/>
              <a:ea typeface="Calibri"/>
              <a:cs typeface="Calibri"/>
            </a:rPr>
            <a:t>bei</a:t>
          </a:r>
          <a:r>
            <a:rPr lang="en-US" sz="1400" b="0" kern="1200">
              <a:latin typeface="Calibri"/>
              <a:ea typeface="Calibri"/>
              <a:cs typeface="Calibri"/>
            </a:rPr>
            <a:t> der </a:t>
          </a:r>
          <a:r>
            <a:rPr lang="en-US" sz="1400" b="0" kern="1200" err="1">
              <a:latin typeface="Calibri"/>
              <a:ea typeface="Calibri"/>
              <a:cs typeface="Calibri"/>
            </a:rPr>
            <a:t>Entwicklung</a:t>
          </a:r>
          <a:r>
            <a:rPr lang="en-US" sz="1400" b="0" kern="1200">
              <a:latin typeface="Calibri"/>
              <a:ea typeface="Calibri"/>
              <a:cs typeface="Calibri"/>
            </a:rPr>
            <a:t> </a:t>
          </a:r>
          <a:r>
            <a:rPr lang="en-US" sz="1400" b="0" kern="1200" err="1">
              <a:latin typeface="Calibri"/>
              <a:ea typeface="Calibri"/>
              <a:cs typeface="Calibri"/>
            </a:rPr>
            <a:t>neuer</a:t>
          </a:r>
          <a:r>
            <a:rPr lang="en-US" sz="1400" b="0" kern="1200">
              <a:latin typeface="Calibri"/>
              <a:ea typeface="Calibri"/>
              <a:cs typeface="Calibri"/>
            </a:rPr>
            <a:t> </a:t>
          </a:r>
          <a:r>
            <a:rPr lang="en-US" sz="1400" b="0" kern="1200" err="1">
              <a:latin typeface="Calibri"/>
              <a:ea typeface="Calibri"/>
              <a:cs typeface="Calibri"/>
            </a:rPr>
            <a:t>Fahrzeugtechnologien</a:t>
          </a:r>
          <a:r>
            <a:rPr lang="en-US" sz="1400" b="0" kern="1200">
              <a:latin typeface="Calibri"/>
              <a:ea typeface="Calibri"/>
              <a:cs typeface="Calibri"/>
            </a:rPr>
            <a:t> </a:t>
          </a:r>
          <a:r>
            <a:rPr lang="en-US" sz="1400" b="0" kern="1200" err="1">
              <a:latin typeface="Calibri"/>
              <a:ea typeface="Calibri"/>
              <a:cs typeface="Calibri"/>
            </a:rPr>
            <a:t>massiv</a:t>
          </a:r>
          <a:r>
            <a:rPr lang="en-US" sz="1400" b="0" kern="1200">
              <a:latin typeface="Calibri"/>
              <a:ea typeface="Calibri"/>
              <a:cs typeface="Calibri"/>
            </a:rPr>
            <a:t> in </a:t>
          </a:r>
          <a:r>
            <a:rPr lang="en-US" sz="1400" b="0" kern="1200" err="1">
              <a:latin typeface="Calibri"/>
              <a:ea typeface="Calibri"/>
              <a:cs typeface="Calibri"/>
            </a:rPr>
            <a:t>Richtung</a:t>
          </a:r>
          <a:r>
            <a:rPr lang="en-US" sz="1400" b="0" kern="1200">
              <a:latin typeface="Calibri"/>
              <a:ea typeface="Calibri"/>
              <a:cs typeface="Calibri"/>
            </a:rPr>
            <a:t> </a:t>
          </a:r>
          <a:r>
            <a:rPr lang="en-US" sz="1400" b="0" kern="1200" err="1">
              <a:latin typeface="Calibri"/>
              <a:ea typeface="Calibri"/>
              <a:cs typeface="Calibri"/>
            </a:rPr>
            <a:t>Elektromobilität</a:t>
          </a:r>
          <a:r>
            <a:rPr lang="en-US" sz="1400" b="0" kern="1200">
              <a:latin typeface="Calibri"/>
              <a:ea typeface="Calibri"/>
              <a:cs typeface="Calibri"/>
            </a:rPr>
            <a:t> und </a:t>
          </a:r>
          <a:r>
            <a:rPr lang="en-US" sz="1400" b="0" kern="1200" err="1">
              <a:latin typeface="Calibri"/>
              <a:ea typeface="Calibri"/>
              <a:cs typeface="Calibri"/>
            </a:rPr>
            <a:t>Batterietechnik</a:t>
          </a:r>
          <a:r>
            <a:rPr lang="en-US" sz="1400" b="0" kern="1200">
              <a:latin typeface="Calibri"/>
              <a:ea typeface="Calibri"/>
              <a:cs typeface="Calibri"/>
            </a:rPr>
            <a:t>.</a:t>
          </a:r>
        </a:p>
      </dsp:txBody>
      <dsp:txXfrm>
        <a:off x="0" y="3068982"/>
        <a:ext cx="10515600" cy="1212750"/>
      </dsp:txXfrm>
    </dsp:sp>
    <dsp:sp modelId="{9B0A622B-2DB6-414E-95EC-1BD0A9B6330D}">
      <dsp:nvSpPr>
        <dsp:cNvPr id="0" name=""/>
        <dsp:cNvSpPr/>
      </dsp:nvSpPr>
      <dsp:spPr>
        <a:xfrm>
          <a:off x="525780" y="2862342"/>
          <a:ext cx="7360920" cy="4132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kern="1200" err="1">
              <a:latin typeface="Calibri"/>
              <a:ea typeface="Calibri"/>
              <a:cs typeface="Calibri"/>
            </a:rPr>
            <a:t>Personelle</a:t>
          </a:r>
          <a:r>
            <a:rPr lang="en-US" sz="1400" b="0" kern="1200">
              <a:latin typeface="Calibri"/>
              <a:ea typeface="Calibri"/>
              <a:cs typeface="Calibri"/>
            </a:rPr>
            <a:t> </a:t>
          </a:r>
          <a:r>
            <a:rPr lang="en-US" sz="1400" b="0" kern="1200" err="1">
              <a:latin typeface="Calibri"/>
              <a:ea typeface="Calibri"/>
              <a:cs typeface="Calibri"/>
            </a:rPr>
            <a:t>Ressourcen</a:t>
          </a:r>
          <a:r>
            <a:rPr lang="en-US" sz="1400" b="0" kern="1200">
              <a:latin typeface="Calibri"/>
              <a:ea typeface="Calibri"/>
              <a:cs typeface="Calibri"/>
            </a:rPr>
            <a:t> &amp; F&amp;E</a:t>
          </a:r>
        </a:p>
      </dsp:txBody>
      <dsp:txXfrm>
        <a:off x="545955" y="2882517"/>
        <a:ext cx="7320570" cy="372930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2796D9B-E35B-47BE-B37D-17F4F0401E5B}">
      <dsp:nvSpPr>
        <dsp:cNvPr id="0" name=""/>
        <dsp:cNvSpPr/>
      </dsp:nvSpPr>
      <dsp:spPr>
        <a:xfrm>
          <a:off x="0" y="286076"/>
          <a:ext cx="11356427" cy="7371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1385" tIns="270764" rIns="881385" bIns="92456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/>
            <a:t>Die </a:t>
          </a:r>
          <a:r>
            <a:rPr lang="en-US" sz="1300" b="0" kern="1200"/>
            <a:t>Kombination aus unverwechselbarer </a:t>
          </a:r>
          <a:r>
            <a:rPr lang="en-US" sz="1300" b="1" kern="1200"/>
            <a:t>Fahrdynamik</a:t>
          </a:r>
          <a:r>
            <a:rPr lang="en-US" sz="1300" b="0" kern="1200"/>
            <a:t>, </a:t>
          </a:r>
          <a:r>
            <a:rPr lang="en-US" sz="1300" kern="1200"/>
            <a:t>kompromissloser </a:t>
          </a:r>
          <a:r>
            <a:rPr lang="en-US" sz="1300" b="1" kern="1200"/>
            <a:t>Qualität</a:t>
          </a:r>
          <a:r>
            <a:rPr lang="en-US" sz="1300" kern="1200"/>
            <a:t> und kontinuierlicher </a:t>
          </a:r>
          <a:r>
            <a:rPr lang="en-US" sz="1300" b="1" kern="1200"/>
            <a:t>Innovation</a:t>
          </a:r>
          <a:r>
            <a:rPr lang="en-US" sz="1300" kern="1200"/>
            <a:t> wurde </a:t>
          </a:r>
          <a:r>
            <a:rPr lang="en-US" sz="1300" b="0" kern="1200"/>
            <a:t>in </a:t>
          </a:r>
          <a:r>
            <a:rPr lang="en-US" sz="1300" kern="1200"/>
            <a:t>den letzten 15 Jahren erfolgreich vom Verbrenner auf </a:t>
          </a:r>
          <a:r>
            <a:rPr lang="en-US" sz="1300" b="0" kern="1200"/>
            <a:t>den Elektroantrieb übertragen</a:t>
          </a:r>
          <a:r>
            <a:rPr lang="en-US" sz="1300" kern="1200"/>
            <a:t>.</a:t>
          </a:r>
        </a:p>
      </dsp:txBody>
      <dsp:txXfrm>
        <a:off x="0" y="286076"/>
        <a:ext cx="11356427" cy="737100"/>
      </dsp:txXfrm>
    </dsp:sp>
    <dsp:sp modelId="{46072EA0-3A8A-4C5E-A4BA-97CD85B6BB18}">
      <dsp:nvSpPr>
        <dsp:cNvPr id="0" name=""/>
        <dsp:cNvSpPr/>
      </dsp:nvSpPr>
      <dsp:spPr>
        <a:xfrm>
          <a:off x="567821" y="94196"/>
          <a:ext cx="7949498" cy="383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0472" tIns="0" rIns="300472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1" kern="1200"/>
            <a:t>Entwicklung leistungsstarker Premiumfahrzeuge</a:t>
          </a:r>
        </a:p>
      </dsp:txBody>
      <dsp:txXfrm>
        <a:off x="586555" y="112930"/>
        <a:ext cx="7912030" cy="346292"/>
      </dsp:txXfrm>
    </dsp:sp>
    <dsp:sp modelId="{8AC9CA7F-823A-49BC-9171-68C00533E5BF}">
      <dsp:nvSpPr>
        <dsp:cNvPr id="0" name=""/>
        <dsp:cNvSpPr/>
      </dsp:nvSpPr>
      <dsp:spPr>
        <a:xfrm>
          <a:off x="0" y="1285256"/>
          <a:ext cx="11356427" cy="9418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1385" tIns="270764" rIns="881385" bIns="92456" numCol="1" spcCol="1270" anchor="t" anchorCtr="0">
          <a:noAutofit/>
        </a:bodyPr>
        <a:lstStyle/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0" i="0" kern="1200"/>
            <a:t>Durch die konsequente Wahrung der </a:t>
          </a:r>
          <a:r>
            <a:rPr lang="en-US" sz="1300" b="1" kern="1200"/>
            <a:t>Exklusivität</a:t>
          </a:r>
          <a:r>
            <a:rPr lang="en-US" sz="1300" b="0" kern="1200"/>
            <a:t> besitzt Porsche eine außergewöhnlich </a:t>
          </a:r>
          <a:r>
            <a:rPr lang="en-US" sz="1300" b="1" kern="1200"/>
            <a:t>hohe Kundenloyalität</a:t>
          </a:r>
          <a:r>
            <a:rPr lang="en-US" sz="1300" kern="1200"/>
            <a:t>.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0" i="0" kern="1200"/>
            <a:t>Dies resultiert in einer extrem </a:t>
          </a:r>
          <a:r>
            <a:rPr lang="en-US" sz="1300" b="1" i="0" kern="1200"/>
            <a:t>hohen Preisbereitschaft</a:t>
          </a:r>
          <a:r>
            <a:rPr lang="en-US" sz="1300" b="0" i="0" kern="1200"/>
            <a:t> der </a:t>
          </a:r>
          <a:r>
            <a:rPr lang="en-US" sz="1300" b="0" kern="1200"/>
            <a:t>Käufer, was Porsche im volatilen Marktumfeld der Jahre 2024–2026 vor tiefen Krisen schützte.</a:t>
          </a:r>
          <a:endParaRPr lang="en-US" sz="1300" kern="1200"/>
        </a:p>
      </dsp:txBody>
      <dsp:txXfrm>
        <a:off x="0" y="1285256"/>
        <a:ext cx="11356427" cy="941850"/>
      </dsp:txXfrm>
    </dsp:sp>
    <dsp:sp modelId="{F87C57E0-2122-4979-A760-2DF98E4AFF6C}">
      <dsp:nvSpPr>
        <dsp:cNvPr id="0" name=""/>
        <dsp:cNvSpPr/>
      </dsp:nvSpPr>
      <dsp:spPr>
        <a:xfrm>
          <a:off x="567821" y="1093376"/>
          <a:ext cx="7949498" cy="383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0472" tIns="0" rIns="300472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1" kern="1200"/>
            <a:t>Premium-Marktführung als Schutzschild</a:t>
          </a:r>
        </a:p>
      </dsp:txBody>
      <dsp:txXfrm>
        <a:off x="586555" y="1112110"/>
        <a:ext cx="7912030" cy="346292"/>
      </dsp:txXfrm>
    </dsp:sp>
    <dsp:sp modelId="{6265ED3E-4C88-468B-AB70-EC5A109E7C94}">
      <dsp:nvSpPr>
        <dsp:cNvPr id="0" name=""/>
        <dsp:cNvSpPr/>
      </dsp:nvSpPr>
      <dsp:spPr>
        <a:xfrm>
          <a:off x="0" y="2489186"/>
          <a:ext cx="11356427" cy="9418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1385" tIns="270764" rIns="881385" bIns="92456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0" kern="1200"/>
            <a:t>Das übergeordnete </a:t>
          </a:r>
          <a:r>
            <a:rPr lang="en-US" sz="1300" b="1" kern="1200"/>
            <a:t>Qualitätsmanagement</a:t>
          </a:r>
          <a:r>
            <a:rPr lang="en-US" sz="1300" b="0" kern="1200"/>
            <a:t> steuert heute eine hochgradig </a:t>
          </a:r>
          <a:r>
            <a:rPr lang="en-US" sz="1300" b="1" kern="1200"/>
            <a:t>flexible Fertigung</a:t>
          </a:r>
          <a:r>
            <a:rPr lang="en-US" sz="1300" b="0" kern="1200"/>
            <a:t>.</a:t>
          </a:r>
          <a:endParaRPr lang="en-US" sz="1300" kern="120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0" kern="1200"/>
            <a:t>Die implementierte </a:t>
          </a:r>
          <a:r>
            <a:rPr lang="en-US" sz="1300" b="1" kern="1200"/>
            <a:t>Multi-Antriebsstrategie</a:t>
          </a:r>
          <a:r>
            <a:rPr lang="en-US" sz="1300" b="0" kern="1200"/>
            <a:t> ermöglicht es Porsche im Jahr 2026, je nach weltweiter Marktlage flexibel zwischen Verbrennern, Plug-in-Hybriden und BEVs auf derselben Linie zu wechseln.</a:t>
          </a:r>
          <a:endParaRPr lang="en-US" sz="1300" kern="1200"/>
        </a:p>
      </dsp:txBody>
      <dsp:txXfrm>
        <a:off x="0" y="2489186"/>
        <a:ext cx="11356427" cy="941850"/>
      </dsp:txXfrm>
    </dsp:sp>
    <dsp:sp modelId="{9B0A622B-2DB6-414E-95EC-1BD0A9B6330D}">
      <dsp:nvSpPr>
        <dsp:cNvPr id="0" name=""/>
        <dsp:cNvSpPr/>
      </dsp:nvSpPr>
      <dsp:spPr>
        <a:xfrm>
          <a:off x="567821" y="2297307"/>
          <a:ext cx="7949498" cy="383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0472" tIns="0" rIns="300472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1" kern="1200"/>
            <a:t>Premium Produktion &amp; Flexibilität</a:t>
          </a:r>
          <a:endParaRPr lang="en-US" sz="1300" kern="1200" err="1"/>
        </a:p>
      </dsp:txBody>
      <dsp:txXfrm>
        <a:off x="586555" y="2316041"/>
        <a:ext cx="7912030" cy="346292"/>
      </dsp:txXfrm>
    </dsp:sp>
    <dsp:sp modelId="{C9810F7A-6363-4A5E-8727-B415DA3D0D5B}">
      <dsp:nvSpPr>
        <dsp:cNvPr id="0" name=""/>
        <dsp:cNvSpPr/>
      </dsp:nvSpPr>
      <dsp:spPr>
        <a:xfrm>
          <a:off x="0" y="3693117"/>
          <a:ext cx="11356427" cy="9418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1385" tIns="270764" rIns="881385" bIns="92456" numCol="1" spcCol="1270" anchor="t" anchorCtr="0">
          <a:noAutofit/>
        </a:bodyPr>
        <a:lstStyle/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b="0" kern="1200"/>
            <a:t>Diese strategische Flexibilität sichert Porsche im Branchenvergleich dauerhaft </a:t>
          </a:r>
          <a:r>
            <a:rPr lang="de-DE" sz="1300" b="1" kern="1200"/>
            <a:t>hohe Margen</a:t>
          </a:r>
          <a:r>
            <a:rPr lang="de-DE" sz="1300" b="0" kern="1200"/>
            <a:t> und eine </a:t>
          </a:r>
          <a:r>
            <a:rPr lang="de-DE" sz="1300" b="1" kern="1200"/>
            <a:t>starke Marktposition</a:t>
          </a:r>
          <a:r>
            <a:rPr lang="de-DE" sz="1300" b="0" kern="1200"/>
            <a:t>.</a:t>
          </a:r>
          <a:endParaRPr lang="de-DE" sz="1300" b="1" kern="1200">
            <a:latin typeface="Aptos Display" panose="02110004020202020204"/>
          </a:endParaRP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b="0" kern="1200"/>
            <a:t>Die Verbindung aus emotionaler Markenhistorie und technologischer Wandlungsfähigkeit garantiert die </a:t>
          </a:r>
          <a:r>
            <a:rPr lang="de-DE" sz="1300" b="1" kern="1200"/>
            <a:t>langfristige Kundenbindung</a:t>
          </a:r>
          <a:r>
            <a:rPr lang="de-DE" sz="1300" b="0" kern="1200"/>
            <a:t> für die kommenden Jahrzehnt</a:t>
          </a:r>
          <a:endParaRPr lang="de-DE" sz="1300" kern="1200"/>
        </a:p>
      </dsp:txBody>
      <dsp:txXfrm>
        <a:off x="0" y="3693117"/>
        <a:ext cx="11356427" cy="941850"/>
      </dsp:txXfrm>
    </dsp:sp>
    <dsp:sp modelId="{E258A001-E71C-4A79-BB0F-5CF8C4C7DDEE}">
      <dsp:nvSpPr>
        <dsp:cNvPr id="0" name=""/>
        <dsp:cNvSpPr/>
      </dsp:nvSpPr>
      <dsp:spPr>
        <a:xfrm>
          <a:off x="567821" y="3501237"/>
          <a:ext cx="7949498" cy="383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0472" tIns="0" rIns="300472" bIns="0" numCol="1" spcCol="1270" anchor="ctr" anchorCtr="0">
          <a:noAutofit/>
        </a:bodyPr>
        <a:lstStyle/>
        <a:p>
          <a:pPr marL="0" lvl="0" indent="0" algn="l" defTabSz="5778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300" b="1" kern="1200"/>
            <a:t>Nachhaltiger Wettbewerbsvorteil</a:t>
          </a:r>
          <a:endParaRPr lang="de-DE" sz="1300" kern="1200"/>
        </a:p>
      </dsp:txBody>
      <dsp:txXfrm>
        <a:off x="586555" y="3519971"/>
        <a:ext cx="7912030" cy="34629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C0262F-28AC-2341-B497-044C5E8CB782}" type="datetimeFigureOut">
              <a:rPr lang="de-DE" smtClean="0"/>
              <a:t>08.06.26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9947BD-AC0A-9B48-9B0D-917726E2A86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830025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9947BD-AC0A-9B48-9B0D-917726E2A866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510628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9947BD-AC0A-9B48-9B0D-917726E2A866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336689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Preissetzungsmacht</a:t>
            </a:r>
            <a:r>
              <a:rPr lang="en-US" dirty="0"/>
              <a:t> </a:t>
            </a:r>
            <a:r>
              <a:rPr lang="en-US" dirty="0" err="1"/>
              <a:t>ist</a:t>
            </a:r>
            <a:r>
              <a:rPr lang="en-US" dirty="0"/>
              <a:t> </a:t>
            </a:r>
            <a:r>
              <a:rPr lang="en-US" dirty="0" err="1"/>
              <a:t>ergebnis</a:t>
            </a:r>
            <a:r>
              <a:rPr lang="en-US" dirty="0"/>
              <a:t> des </a:t>
            </a:r>
            <a:r>
              <a:rPr lang="en-US" dirty="0" err="1"/>
              <a:t>wettbewerbsvorteil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9947BD-AC0A-9B48-9B0D-917726E2A866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55833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2012 </a:t>
            </a:r>
            <a:r>
              <a:rPr lang="en-US" dirty="0" err="1"/>
              <a:t>Höhepunkt</a:t>
            </a:r>
            <a:r>
              <a:rPr lang="en-US" dirty="0"/>
              <a:t> der </a:t>
            </a:r>
            <a:r>
              <a:rPr lang="en-US" dirty="0" err="1"/>
              <a:t>Saugermotoren</a:t>
            </a:r>
            <a:endParaRPr lang="en-US" dirty="0"/>
          </a:p>
          <a:p>
            <a:r>
              <a:rPr lang="en-US" dirty="0"/>
              <a:t>2021 </a:t>
            </a:r>
            <a:r>
              <a:rPr lang="en-US" dirty="0" err="1"/>
              <a:t>eFuels</a:t>
            </a:r>
            <a:r>
              <a:rPr lang="en-US" dirty="0"/>
              <a:t> </a:t>
            </a:r>
            <a:r>
              <a:rPr lang="en-US" dirty="0" err="1"/>
              <a:t>Pilotanlage</a:t>
            </a:r>
            <a:endParaRPr lang="en-US" dirty="0"/>
          </a:p>
          <a:p>
            <a:endParaRPr lang="en-US" dirty="0"/>
          </a:p>
          <a:p>
            <a:r>
              <a:rPr lang="en-US" dirty="0"/>
              <a:t>Strategie: Zukünftig </a:t>
            </a:r>
            <a:r>
              <a:rPr lang="en-US" dirty="0" err="1"/>
              <a:t>auch</a:t>
            </a:r>
            <a:r>
              <a:rPr lang="en-US" dirty="0"/>
              <a:t> </a:t>
            </a:r>
            <a:r>
              <a:rPr lang="en-US" dirty="0" err="1"/>
              <a:t>elektrischen</a:t>
            </a:r>
            <a:r>
              <a:rPr lang="en-US" dirty="0"/>
              <a:t> 718 und Cayenne</a:t>
            </a:r>
          </a:p>
          <a:p>
            <a:r>
              <a:rPr lang="en-US" dirty="0"/>
              <a:t>	Bis 2030 will Porsche 80% </a:t>
            </a:r>
            <a:r>
              <a:rPr lang="en-US" dirty="0" err="1"/>
              <a:t>elektrische</a:t>
            </a:r>
            <a:r>
              <a:rPr lang="en-US" dirty="0"/>
              <a:t> Autos </a:t>
            </a:r>
            <a:r>
              <a:rPr lang="en-US" dirty="0" err="1"/>
              <a:t>bauen</a:t>
            </a:r>
            <a:endParaRPr lang="en-US" dirty="0"/>
          </a:p>
          <a:p>
            <a:endParaRPr lang="en-US" dirty="0"/>
          </a:p>
          <a:p>
            <a:r>
              <a:rPr lang="en-US" dirty="0"/>
              <a:t>| 2015: (links </a:t>
            </a:r>
            <a:r>
              <a:rPr lang="en-US" dirty="0" err="1"/>
              <a:t>davon</a:t>
            </a:r>
            <a:r>
              <a:rPr lang="en-US" dirty="0"/>
              <a:t>) Elektro </a:t>
            </a:r>
            <a:r>
              <a:rPr lang="en-US" dirty="0" err="1"/>
              <a:t>Fühphase</a:t>
            </a:r>
            <a:endParaRPr lang="en-US" dirty="0"/>
          </a:p>
          <a:p>
            <a:r>
              <a:rPr lang="en-US" dirty="0"/>
              <a:t>2019 | 2030: (</a:t>
            </a:r>
            <a:r>
              <a:rPr lang="en-US" dirty="0" err="1"/>
              <a:t>rechts</a:t>
            </a:r>
            <a:r>
              <a:rPr lang="en-US" dirty="0"/>
              <a:t> </a:t>
            </a:r>
            <a:r>
              <a:rPr lang="en-US" dirty="0" err="1"/>
              <a:t>davon</a:t>
            </a:r>
            <a:r>
              <a:rPr lang="en-US" dirty="0"/>
              <a:t>) Elektro </a:t>
            </a:r>
            <a:r>
              <a:rPr lang="en-US" dirty="0" err="1"/>
              <a:t>Wachstumsphase</a:t>
            </a:r>
            <a:endParaRPr lang="en-US" dirty="0"/>
          </a:p>
          <a:p>
            <a:r>
              <a:rPr lang="en-US" dirty="0"/>
              <a:t>2030 |: (</a:t>
            </a:r>
            <a:r>
              <a:rPr lang="en-US" dirty="0" err="1"/>
              <a:t>rechts</a:t>
            </a:r>
            <a:r>
              <a:rPr lang="en-US" dirty="0"/>
              <a:t> </a:t>
            </a:r>
            <a:r>
              <a:rPr lang="en-US" dirty="0" err="1"/>
              <a:t>davon</a:t>
            </a:r>
            <a:r>
              <a:rPr lang="en-US" dirty="0"/>
              <a:t>) </a:t>
            </a:r>
            <a:r>
              <a:rPr lang="en-US" dirty="0" err="1"/>
              <a:t>Eletkro</a:t>
            </a:r>
            <a:r>
              <a:rPr lang="en-US" dirty="0"/>
              <a:t> Reifephase  80% Elektro &gt;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spezifische</a:t>
            </a:r>
            <a:r>
              <a:rPr lang="en-US" dirty="0"/>
              <a:t> </a:t>
            </a:r>
            <a:r>
              <a:rPr lang="en-US" dirty="0" err="1"/>
              <a:t>indikatoren</a:t>
            </a:r>
            <a:r>
              <a:rPr lang="en-US" dirty="0"/>
              <a:t> </a:t>
            </a:r>
            <a:r>
              <a:rPr lang="en-US" dirty="0" err="1"/>
              <a:t>fuer</a:t>
            </a:r>
            <a:r>
              <a:rPr lang="en-US" dirty="0"/>
              <a:t> die </a:t>
            </a:r>
            <a:r>
              <a:rPr lang="en-US" dirty="0" err="1"/>
              <a:t>einordnung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9947BD-AC0A-9B48-9B0D-917726E2A866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486702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Seit 2010 </a:t>
            </a:r>
            <a:r>
              <a:rPr lang="en-US" dirty="0" err="1"/>
              <a:t>befinden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die </a:t>
            </a:r>
            <a:r>
              <a:rPr lang="en-US" dirty="0" err="1"/>
              <a:t>Vebrennungsmotoren</a:t>
            </a:r>
            <a:r>
              <a:rPr lang="en-US" dirty="0"/>
              <a:t> in der </a:t>
            </a:r>
            <a:r>
              <a:rPr lang="en-US" dirty="0" err="1"/>
              <a:t>Reifephase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Technologie </a:t>
            </a:r>
            <a:r>
              <a:rPr lang="en-US" dirty="0" err="1"/>
              <a:t>ist</a:t>
            </a:r>
            <a:r>
              <a:rPr lang="en-US" dirty="0"/>
              <a:t> </a:t>
            </a:r>
            <a:r>
              <a:rPr lang="en-US" dirty="0" err="1"/>
              <a:t>heute</a:t>
            </a:r>
            <a:r>
              <a:rPr lang="en-US" dirty="0"/>
              <a:t> </a:t>
            </a:r>
            <a:r>
              <a:rPr lang="en-US" dirty="0" err="1"/>
              <a:t>nahezu</a:t>
            </a:r>
            <a:r>
              <a:rPr lang="en-US" dirty="0"/>
              <a:t> </a:t>
            </a:r>
            <a:r>
              <a:rPr lang="en-US" dirty="0" err="1"/>
              <a:t>vollständig</a:t>
            </a:r>
            <a:r>
              <a:rPr lang="en-US" dirty="0"/>
              <a:t> </a:t>
            </a:r>
            <a:r>
              <a:rPr lang="en-US" dirty="0" err="1"/>
              <a:t>ausgereift</a:t>
            </a:r>
            <a:r>
              <a:rPr lang="en-US" dirty="0"/>
              <a:t>.</a:t>
            </a:r>
          </a:p>
          <a:p>
            <a:r>
              <a:rPr lang="en-US" dirty="0" err="1"/>
              <a:t>Dadurch</a:t>
            </a:r>
            <a:r>
              <a:rPr lang="en-US" dirty="0"/>
              <a:t> </a:t>
            </a:r>
            <a:r>
              <a:rPr lang="en-US" dirty="0" err="1"/>
              <a:t>sind</a:t>
            </a:r>
            <a:r>
              <a:rPr lang="en-US" dirty="0"/>
              <a:t> </a:t>
            </a:r>
            <a:r>
              <a:rPr lang="en-US" dirty="0" err="1"/>
              <a:t>große</a:t>
            </a:r>
            <a:r>
              <a:rPr lang="en-US" dirty="0"/>
              <a:t> </a:t>
            </a:r>
            <a:r>
              <a:rPr lang="en-US" dirty="0" err="1"/>
              <a:t>Innovationsprünge</a:t>
            </a:r>
            <a:r>
              <a:rPr lang="en-US" dirty="0"/>
              <a:t>  </a:t>
            </a:r>
            <a:r>
              <a:rPr lang="en-US" dirty="0" err="1"/>
              <a:t>kaum</a:t>
            </a:r>
            <a:r>
              <a:rPr lang="en-US" dirty="0"/>
              <a:t> </a:t>
            </a:r>
            <a:r>
              <a:rPr lang="en-US" dirty="0" err="1"/>
              <a:t>möglich</a:t>
            </a:r>
            <a:endParaRPr lang="en-US" dirty="0"/>
          </a:p>
          <a:p>
            <a:r>
              <a:rPr lang="en-US" dirty="0"/>
              <a:t>Wenn man </a:t>
            </a:r>
            <a:r>
              <a:rPr lang="en-US" dirty="0" err="1"/>
              <a:t>noch</a:t>
            </a:r>
            <a:r>
              <a:rPr lang="en-US" dirty="0"/>
              <a:t> </a:t>
            </a:r>
            <a:r>
              <a:rPr lang="en-US" dirty="0" err="1"/>
              <a:t>mehr</a:t>
            </a:r>
            <a:r>
              <a:rPr lang="en-US" dirty="0"/>
              <a:t> </a:t>
            </a:r>
            <a:r>
              <a:rPr lang="en-US" dirty="0" err="1"/>
              <a:t>Leistung</a:t>
            </a:r>
            <a:r>
              <a:rPr lang="en-US" dirty="0"/>
              <a:t> </a:t>
            </a:r>
            <a:r>
              <a:rPr lang="en-US" dirty="0" err="1"/>
              <a:t>oder</a:t>
            </a:r>
            <a:r>
              <a:rPr lang="en-US" dirty="0"/>
              <a:t> </a:t>
            </a:r>
            <a:r>
              <a:rPr lang="en-US" dirty="0" err="1"/>
              <a:t>Effiznenz</a:t>
            </a:r>
            <a:r>
              <a:rPr lang="en-US" dirty="0"/>
              <a:t> </a:t>
            </a:r>
            <a:r>
              <a:rPr lang="en-US" dirty="0" err="1"/>
              <a:t>haben</a:t>
            </a:r>
            <a:r>
              <a:rPr lang="en-US" dirty="0"/>
              <a:t> will, </a:t>
            </a:r>
            <a:r>
              <a:rPr lang="en-US" dirty="0" err="1"/>
              <a:t>Steigen</a:t>
            </a:r>
            <a:r>
              <a:rPr lang="en-US" dirty="0"/>
              <a:t> R&amp;D </a:t>
            </a:r>
            <a:r>
              <a:rPr lang="en-US" dirty="0" err="1"/>
              <a:t>überproprotional</a:t>
            </a:r>
            <a:r>
              <a:rPr lang="en-US" dirty="0"/>
              <a:t> an</a:t>
            </a:r>
          </a:p>
          <a:p>
            <a:r>
              <a:rPr lang="en-US" dirty="0"/>
              <a:t>Somit </a:t>
            </a:r>
            <a:r>
              <a:rPr lang="en-US" dirty="0" err="1"/>
              <a:t>investiert</a:t>
            </a:r>
            <a:r>
              <a:rPr lang="en-US" dirty="0"/>
              <a:t> man </a:t>
            </a:r>
            <a:r>
              <a:rPr lang="en-US" dirty="0" err="1"/>
              <a:t>viel</a:t>
            </a:r>
            <a:r>
              <a:rPr lang="en-US" dirty="0"/>
              <a:t> Geld für Kleine </a:t>
            </a:r>
            <a:r>
              <a:rPr lang="en-US" dirty="0" err="1"/>
              <a:t>verbesserungen</a:t>
            </a:r>
            <a:r>
              <a:rPr lang="en-US" dirty="0"/>
              <a:t> was </a:t>
            </a:r>
            <a:r>
              <a:rPr lang="en-US" dirty="0" err="1"/>
              <a:t>sich</a:t>
            </a:r>
            <a:r>
              <a:rPr lang="en-US" dirty="0"/>
              <a:t> nicht </a:t>
            </a:r>
            <a:r>
              <a:rPr lang="en-US" dirty="0" err="1"/>
              <a:t>besonders</a:t>
            </a:r>
            <a:r>
              <a:rPr lang="en-US" dirty="0"/>
              <a:t> </a:t>
            </a:r>
            <a:r>
              <a:rPr lang="en-US" dirty="0" err="1"/>
              <a:t>lohnt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Porsche </a:t>
            </a:r>
            <a:r>
              <a:rPr lang="en-US" dirty="0" err="1"/>
              <a:t>setzt</a:t>
            </a:r>
            <a:r>
              <a:rPr lang="en-US" dirty="0"/>
              <a:t> </a:t>
            </a:r>
            <a:r>
              <a:rPr lang="en-US" dirty="0" err="1"/>
              <a:t>deshalb</a:t>
            </a:r>
            <a:r>
              <a:rPr lang="en-US" dirty="0"/>
              <a:t> </a:t>
            </a:r>
            <a:r>
              <a:rPr lang="en-US" dirty="0" err="1"/>
              <a:t>weiterhin</a:t>
            </a:r>
            <a:r>
              <a:rPr lang="en-US" dirty="0"/>
              <a:t> auf </a:t>
            </a:r>
            <a:r>
              <a:rPr lang="en-US" dirty="0" err="1"/>
              <a:t>bestehende</a:t>
            </a:r>
            <a:r>
              <a:rPr lang="en-US" dirty="0"/>
              <a:t> Modelle </a:t>
            </a:r>
            <a:r>
              <a:rPr lang="en-US" dirty="0" err="1"/>
              <a:t>wie</a:t>
            </a:r>
            <a:r>
              <a:rPr lang="en-US" dirty="0"/>
              <a:t> 911 </a:t>
            </a:r>
            <a:r>
              <a:rPr lang="en-US" dirty="0" err="1"/>
              <a:t>oder</a:t>
            </a:r>
            <a:r>
              <a:rPr lang="en-US" dirty="0"/>
              <a:t> den Panamera </a:t>
            </a:r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Verbrennungsmotor</a:t>
            </a:r>
            <a:r>
              <a:rPr lang="en-US" dirty="0"/>
              <a:t> </a:t>
            </a:r>
          </a:p>
          <a:p>
            <a:r>
              <a:rPr lang="en-US" dirty="0"/>
              <a:t>Grund </a:t>
            </a:r>
            <a:r>
              <a:rPr lang="en-US" dirty="0" err="1"/>
              <a:t>ist</a:t>
            </a:r>
            <a:r>
              <a:rPr lang="en-US" dirty="0"/>
              <a:t> </a:t>
            </a:r>
            <a:r>
              <a:rPr lang="en-US" dirty="0" err="1"/>
              <a:t>klar</a:t>
            </a:r>
            <a:r>
              <a:rPr lang="en-US" dirty="0"/>
              <a:t>, </a:t>
            </a:r>
            <a:r>
              <a:rPr lang="en-US" dirty="0" err="1"/>
              <a:t>hohe</a:t>
            </a:r>
            <a:r>
              <a:rPr lang="en-US" dirty="0"/>
              <a:t> </a:t>
            </a:r>
            <a:r>
              <a:rPr lang="en-US" dirty="0" err="1"/>
              <a:t>Margen</a:t>
            </a:r>
            <a:endParaRPr lang="en-US" dirty="0"/>
          </a:p>
          <a:p>
            <a:r>
              <a:rPr lang="en-US" dirty="0" err="1"/>
              <a:t>Zusätzlich</a:t>
            </a:r>
            <a:r>
              <a:rPr lang="en-US" dirty="0"/>
              <a:t> </a:t>
            </a:r>
            <a:r>
              <a:rPr lang="en-US" dirty="0" err="1"/>
              <a:t>wird</a:t>
            </a:r>
            <a:r>
              <a:rPr lang="en-US" dirty="0"/>
              <a:t> das Design stark </a:t>
            </a:r>
            <a:r>
              <a:rPr lang="en-US" dirty="0" err="1"/>
              <a:t>emotionalisiert</a:t>
            </a:r>
            <a:r>
              <a:rPr lang="en-US" dirty="0"/>
              <a:t> und </a:t>
            </a:r>
            <a:r>
              <a:rPr lang="en-US" dirty="0" err="1"/>
              <a:t>ikonisch</a:t>
            </a:r>
            <a:r>
              <a:rPr lang="en-US" dirty="0"/>
              <a:t> </a:t>
            </a:r>
            <a:r>
              <a:rPr lang="en-US" dirty="0" err="1"/>
              <a:t>aufgeladen</a:t>
            </a:r>
            <a:endParaRPr lang="en-US" dirty="0"/>
          </a:p>
          <a:p>
            <a:r>
              <a:rPr lang="en-US" dirty="0" err="1"/>
              <a:t>Limitierte</a:t>
            </a:r>
            <a:r>
              <a:rPr lang="en-US" dirty="0"/>
              <a:t> </a:t>
            </a:r>
            <a:r>
              <a:rPr lang="en-US" dirty="0" err="1"/>
              <a:t>Sondermodelle</a:t>
            </a:r>
            <a:r>
              <a:rPr lang="en-US" dirty="0"/>
              <a:t> Sorgen </a:t>
            </a:r>
            <a:r>
              <a:rPr lang="en-US" dirty="0" err="1"/>
              <a:t>dafür</a:t>
            </a:r>
            <a:r>
              <a:rPr lang="en-US" dirty="0"/>
              <a:t>, </a:t>
            </a:r>
            <a:r>
              <a:rPr lang="en-US" dirty="0" err="1"/>
              <a:t>dass</a:t>
            </a:r>
            <a:r>
              <a:rPr lang="en-US" dirty="0"/>
              <a:t> die </a:t>
            </a:r>
            <a:r>
              <a:rPr lang="en-US" dirty="0" err="1"/>
              <a:t>Preise</a:t>
            </a:r>
            <a:r>
              <a:rPr lang="en-US" dirty="0"/>
              <a:t> </a:t>
            </a:r>
            <a:r>
              <a:rPr lang="en-US" dirty="0" err="1"/>
              <a:t>weiter</a:t>
            </a:r>
            <a:r>
              <a:rPr lang="en-US" dirty="0"/>
              <a:t> </a:t>
            </a:r>
            <a:r>
              <a:rPr lang="en-US" dirty="0" err="1"/>
              <a:t>Steigen</a:t>
            </a:r>
            <a:endParaRPr lang="en-US" dirty="0"/>
          </a:p>
          <a:p>
            <a:endParaRPr lang="en-US" dirty="0"/>
          </a:p>
          <a:p>
            <a:r>
              <a:rPr lang="en-US" dirty="0"/>
              <a:t>Um die </a:t>
            </a:r>
            <a:r>
              <a:rPr lang="en-US" dirty="0" err="1"/>
              <a:t>Lebensdauer</a:t>
            </a:r>
            <a:r>
              <a:rPr lang="en-US" dirty="0"/>
              <a:t> </a:t>
            </a:r>
            <a:r>
              <a:rPr lang="en-US" dirty="0" err="1"/>
              <a:t>dieser</a:t>
            </a:r>
            <a:r>
              <a:rPr lang="en-US" dirty="0"/>
              <a:t> Technologie </a:t>
            </a:r>
            <a:r>
              <a:rPr lang="en-US" dirty="0" err="1"/>
              <a:t>zu</a:t>
            </a:r>
            <a:r>
              <a:rPr lang="en-US" dirty="0"/>
              <a:t> </a:t>
            </a:r>
            <a:r>
              <a:rPr lang="en-US" dirty="0" err="1"/>
              <a:t>verlängern</a:t>
            </a:r>
            <a:r>
              <a:rPr lang="en-US" dirty="0"/>
              <a:t>, </a:t>
            </a:r>
            <a:r>
              <a:rPr lang="en-US" dirty="0" err="1"/>
              <a:t>investiert</a:t>
            </a:r>
            <a:r>
              <a:rPr lang="en-US" dirty="0"/>
              <a:t> Porsche is </a:t>
            </a:r>
            <a:r>
              <a:rPr lang="en-US" dirty="0" err="1"/>
              <a:t>sogenannte</a:t>
            </a:r>
            <a:r>
              <a:rPr lang="en-US" dirty="0"/>
              <a:t> E-Fuels, </a:t>
            </a:r>
          </a:p>
          <a:p>
            <a:r>
              <a:rPr lang="en-US" dirty="0"/>
              <a:t>Ein </a:t>
            </a:r>
            <a:r>
              <a:rPr lang="en-US" dirty="0" err="1"/>
              <a:t>bespiel</a:t>
            </a:r>
            <a:r>
              <a:rPr lang="en-US" dirty="0"/>
              <a:t> für E-Fuels </a:t>
            </a:r>
            <a:r>
              <a:rPr lang="en-US" dirty="0" err="1"/>
              <a:t>ist</a:t>
            </a:r>
            <a:r>
              <a:rPr lang="en-US" dirty="0"/>
              <a:t> das Projekt in Chile, in dem Wasser </a:t>
            </a:r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Windkraft</a:t>
            </a:r>
            <a:r>
              <a:rPr lang="en-US" dirty="0"/>
              <a:t> in </a:t>
            </a:r>
            <a:r>
              <a:rPr lang="en-US" dirty="0" err="1"/>
              <a:t>Wasserstoff</a:t>
            </a:r>
            <a:r>
              <a:rPr lang="en-US" dirty="0"/>
              <a:t> </a:t>
            </a:r>
            <a:r>
              <a:rPr lang="en-US" dirty="0" err="1"/>
              <a:t>zerlegt</a:t>
            </a:r>
            <a:r>
              <a:rPr lang="en-US" dirty="0"/>
              <a:t> </a:t>
            </a:r>
            <a:r>
              <a:rPr lang="en-US" dirty="0" err="1"/>
              <a:t>wird</a:t>
            </a:r>
            <a:r>
              <a:rPr lang="en-US" dirty="0"/>
              <a:t>. Dieses </a:t>
            </a:r>
            <a:r>
              <a:rPr lang="en-US" dirty="0" err="1"/>
              <a:t>Wasserstoff</a:t>
            </a:r>
            <a:r>
              <a:rPr lang="en-US" dirty="0"/>
              <a:t> </a:t>
            </a:r>
            <a:r>
              <a:rPr lang="en-US" dirty="0" err="1"/>
              <a:t>wird</a:t>
            </a:r>
            <a:r>
              <a:rPr lang="en-US" dirty="0"/>
              <a:t> </a:t>
            </a:r>
            <a:r>
              <a:rPr lang="en-US" dirty="0" err="1"/>
              <a:t>dann</a:t>
            </a:r>
            <a:r>
              <a:rPr lang="en-US" dirty="0"/>
              <a:t> </a:t>
            </a:r>
            <a:r>
              <a:rPr lang="en-US" dirty="0" err="1"/>
              <a:t>zu</a:t>
            </a:r>
            <a:r>
              <a:rPr lang="en-US" dirty="0"/>
              <a:t> </a:t>
            </a:r>
            <a:r>
              <a:rPr lang="en-US" dirty="0" err="1"/>
              <a:t>Menthanol</a:t>
            </a:r>
            <a:r>
              <a:rPr lang="en-US" dirty="0"/>
              <a:t> welches </a:t>
            </a:r>
            <a:r>
              <a:rPr lang="en-US" dirty="0" err="1"/>
              <a:t>zu</a:t>
            </a:r>
            <a:r>
              <a:rPr lang="en-US" dirty="0"/>
              <a:t> </a:t>
            </a:r>
            <a:r>
              <a:rPr lang="en-US" dirty="0" err="1"/>
              <a:t>Synthetischen</a:t>
            </a:r>
            <a:r>
              <a:rPr lang="en-US" dirty="0"/>
              <a:t> </a:t>
            </a:r>
            <a:r>
              <a:rPr lang="en-US" dirty="0" err="1"/>
              <a:t>Kraftstoff</a:t>
            </a:r>
            <a:r>
              <a:rPr lang="en-US" dirty="0"/>
              <a:t> </a:t>
            </a:r>
            <a:r>
              <a:rPr lang="en-US" dirty="0" err="1"/>
              <a:t>umgewandelt</a:t>
            </a:r>
            <a:r>
              <a:rPr lang="en-US" dirty="0"/>
              <a:t> </a:t>
            </a:r>
            <a:r>
              <a:rPr lang="en-US" dirty="0" err="1"/>
              <a:t>wird</a:t>
            </a:r>
            <a:r>
              <a:rPr lang="en-US" dirty="0"/>
              <a:t>. </a:t>
            </a:r>
          </a:p>
          <a:p>
            <a:r>
              <a:rPr lang="en-US" dirty="0"/>
              <a:t>Damit </a:t>
            </a:r>
            <a:r>
              <a:rPr lang="en-US" dirty="0" err="1"/>
              <a:t>versucht</a:t>
            </a:r>
            <a:r>
              <a:rPr lang="en-US" dirty="0"/>
              <a:t> das </a:t>
            </a:r>
            <a:r>
              <a:rPr lang="en-US" dirty="0" err="1"/>
              <a:t>Unternehmen</a:t>
            </a:r>
            <a:r>
              <a:rPr lang="en-US" dirty="0"/>
              <a:t>, die </a:t>
            </a:r>
            <a:r>
              <a:rPr lang="en-US" dirty="0" err="1"/>
              <a:t>Nutzung</a:t>
            </a:r>
            <a:r>
              <a:rPr lang="en-US" dirty="0"/>
              <a:t> von </a:t>
            </a:r>
            <a:r>
              <a:rPr lang="en-US" dirty="0" err="1"/>
              <a:t>berennungsmotoren</a:t>
            </a:r>
            <a:r>
              <a:rPr lang="en-US" dirty="0"/>
              <a:t> </a:t>
            </a:r>
            <a:r>
              <a:rPr lang="en-US" dirty="0" err="1"/>
              <a:t>künstlich</a:t>
            </a:r>
            <a:r>
              <a:rPr lang="en-US" dirty="0"/>
              <a:t> </a:t>
            </a:r>
            <a:r>
              <a:rPr lang="en-US" dirty="0" err="1"/>
              <a:t>zu</a:t>
            </a:r>
            <a:r>
              <a:rPr lang="en-US" dirty="0"/>
              <a:t> </a:t>
            </a:r>
            <a:r>
              <a:rPr lang="en-US" dirty="0" err="1"/>
              <a:t>verlängern</a:t>
            </a:r>
            <a:r>
              <a:rPr lang="en-US" dirty="0"/>
              <a:t>, </a:t>
            </a:r>
            <a:r>
              <a:rPr lang="en-US" dirty="0" err="1"/>
              <a:t>vorallem</a:t>
            </a:r>
            <a:r>
              <a:rPr lang="en-US" dirty="0"/>
              <a:t> für die </a:t>
            </a:r>
            <a:r>
              <a:rPr lang="en-US" dirty="0" err="1"/>
              <a:t>Liebhaberfahrzeuge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 err="1"/>
              <a:t>Zusammengefasst</a:t>
            </a:r>
            <a:r>
              <a:rPr lang="en-US" dirty="0"/>
              <a:t> </a:t>
            </a:r>
            <a:r>
              <a:rPr lang="en-US" dirty="0" err="1"/>
              <a:t>nutzt</a:t>
            </a:r>
            <a:r>
              <a:rPr lang="en-US" dirty="0"/>
              <a:t> Porsche die </a:t>
            </a:r>
            <a:r>
              <a:rPr lang="en-US" dirty="0" err="1"/>
              <a:t>Reifephase</a:t>
            </a:r>
            <a:r>
              <a:rPr lang="en-US" dirty="0"/>
              <a:t> </a:t>
            </a:r>
            <a:r>
              <a:rPr lang="en-US" dirty="0" err="1"/>
              <a:t>gezielt</a:t>
            </a:r>
            <a:r>
              <a:rPr lang="en-US" dirty="0"/>
              <a:t> </a:t>
            </a:r>
            <a:r>
              <a:rPr lang="en-US" dirty="0" err="1"/>
              <a:t>aus</a:t>
            </a:r>
            <a:r>
              <a:rPr lang="en-US" dirty="0"/>
              <a:t> um </a:t>
            </a:r>
            <a:r>
              <a:rPr lang="en-US" dirty="0" err="1"/>
              <a:t>maximale</a:t>
            </a:r>
            <a:r>
              <a:rPr lang="en-US" dirty="0"/>
              <a:t> </a:t>
            </a:r>
            <a:r>
              <a:rPr lang="en-US" dirty="0" err="1"/>
              <a:t>Gewinne</a:t>
            </a:r>
            <a:r>
              <a:rPr lang="en-US" dirty="0"/>
              <a:t> </a:t>
            </a:r>
            <a:r>
              <a:rPr lang="en-US" dirty="0" err="1"/>
              <a:t>zu</a:t>
            </a:r>
            <a:r>
              <a:rPr lang="en-US" dirty="0"/>
              <a:t> </a:t>
            </a:r>
            <a:r>
              <a:rPr lang="en-US" dirty="0" err="1"/>
              <a:t>erzielen</a:t>
            </a:r>
            <a:r>
              <a:rPr lang="en-US" dirty="0"/>
              <a:t>, </a:t>
            </a:r>
            <a:r>
              <a:rPr lang="en-US" dirty="0" err="1"/>
              <a:t>während</a:t>
            </a:r>
            <a:r>
              <a:rPr lang="en-US" dirty="0"/>
              <a:t> </a:t>
            </a:r>
            <a:r>
              <a:rPr lang="en-US" dirty="0" err="1"/>
              <a:t>paralellel</a:t>
            </a:r>
            <a:r>
              <a:rPr lang="en-US" dirty="0"/>
              <a:t> an </a:t>
            </a:r>
            <a:r>
              <a:rPr lang="en-US" dirty="0" err="1"/>
              <a:t>Zukunfstechnologien</a:t>
            </a:r>
            <a:r>
              <a:rPr lang="en-US" dirty="0"/>
              <a:t> </a:t>
            </a:r>
            <a:r>
              <a:rPr lang="en-US" dirty="0" err="1"/>
              <a:t>gearbeitet</a:t>
            </a:r>
            <a:r>
              <a:rPr lang="en-US" dirty="0"/>
              <a:t> </a:t>
            </a:r>
            <a:r>
              <a:rPr lang="en-US" dirty="0" err="1"/>
              <a:t>wird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9947BD-AC0A-9B48-9B0D-917726E2A866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936048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</a:t>
            </a:r>
            <a:r>
              <a:rPr lang="en-US" dirty="0"/>
              <a:t> </a:t>
            </a:r>
            <a:r>
              <a:rPr lang="en-US" dirty="0" err="1"/>
              <a:t>gegensatz</a:t>
            </a:r>
            <a:r>
              <a:rPr lang="en-US" dirty="0"/>
              <a:t> </a:t>
            </a:r>
            <a:r>
              <a:rPr lang="en-US" dirty="0" err="1"/>
              <a:t>zu</a:t>
            </a:r>
            <a:r>
              <a:rPr lang="en-US" dirty="0"/>
              <a:t> </a:t>
            </a:r>
            <a:r>
              <a:rPr lang="en-US"/>
              <a:t>Verbrennungsmotoren</a:t>
            </a:r>
            <a:r>
              <a:rPr lang="en-US" dirty="0"/>
              <a:t> </a:t>
            </a:r>
            <a:r>
              <a:rPr lang="en-US" dirty="0" err="1"/>
              <a:t>befindet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die </a:t>
            </a:r>
            <a:r>
              <a:rPr lang="en-US" dirty="0" err="1"/>
              <a:t>Elektromobilität</a:t>
            </a:r>
            <a:r>
              <a:rPr lang="en-US" dirty="0"/>
              <a:t> </a:t>
            </a:r>
            <a:r>
              <a:rPr lang="en-US" dirty="0" err="1"/>
              <a:t>aktuell</a:t>
            </a:r>
            <a:r>
              <a:rPr lang="en-US" dirty="0"/>
              <a:t> in der </a:t>
            </a:r>
            <a:r>
              <a:rPr lang="en-US" dirty="0" err="1"/>
              <a:t>Wachstumsphase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Hier </a:t>
            </a:r>
            <a:r>
              <a:rPr lang="en-US" dirty="0" err="1"/>
              <a:t>sehen</a:t>
            </a:r>
            <a:r>
              <a:rPr lang="en-US" dirty="0"/>
              <a:t> </a:t>
            </a:r>
            <a:r>
              <a:rPr lang="en-US" dirty="0" err="1"/>
              <a:t>wir</a:t>
            </a:r>
            <a:r>
              <a:rPr lang="en-US" dirty="0"/>
              <a:t> die </a:t>
            </a:r>
            <a:r>
              <a:rPr lang="en-US" dirty="0" err="1"/>
              <a:t>aktuell</a:t>
            </a:r>
            <a:r>
              <a:rPr lang="en-US" dirty="0"/>
              <a:t> </a:t>
            </a:r>
            <a:r>
              <a:rPr lang="en-US" dirty="0" err="1"/>
              <a:t>sehr</a:t>
            </a:r>
            <a:r>
              <a:rPr lang="en-US" dirty="0"/>
              <a:t> Schnelle </a:t>
            </a:r>
            <a:r>
              <a:rPr lang="en-US" dirty="0" err="1"/>
              <a:t>technologische</a:t>
            </a:r>
            <a:r>
              <a:rPr lang="en-US" dirty="0"/>
              <a:t> </a:t>
            </a:r>
            <a:r>
              <a:rPr lang="en-US" dirty="0" err="1"/>
              <a:t>fortschritte</a:t>
            </a:r>
            <a:r>
              <a:rPr lang="en-US" dirty="0"/>
              <a:t>.</a:t>
            </a:r>
          </a:p>
          <a:p>
            <a:r>
              <a:rPr lang="en-US" dirty="0"/>
              <a:t>Mit </a:t>
            </a:r>
            <a:r>
              <a:rPr lang="en-US" dirty="0" err="1"/>
              <a:t>jeder</a:t>
            </a:r>
            <a:r>
              <a:rPr lang="en-US" dirty="0"/>
              <a:t> </a:t>
            </a:r>
            <a:r>
              <a:rPr lang="en-US" dirty="0" err="1"/>
              <a:t>neuen</a:t>
            </a:r>
            <a:r>
              <a:rPr lang="en-US" dirty="0"/>
              <a:t> </a:t>
            </a:r>
            <a:r>
              <a:rPr lang="en-US" dirty="0" err="1"/>
              <a:t>Batteriegeneration</a:t>
            </a:r>
            <a:r>
              <a:rPr lang="en-US" dirty="0"/>
              <a:t> </a:t>
            </a:r>
            <a:r>
              <a:rPr lang="en-US" dirty="0" err="1"/>
              <a:t>verbessern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die </a:t>
            </a:r>
            <a:r>
              <a:rPr lang="en-US" dirty="0" err="1"/>
              <a:t>Reichweite</a:t>
            </a:r>
            <a:r>
              <a:rPr lang="en-US" dirty="0"/>
              <a:t> und </a:t>
            </a:r>
            <a:r>
              <a:rPr lang="en-US" dirty="0" err="1"/>
              <a:t>gleichzeitig</a:t>
            </a:r>
            <a:r>
              <a:rPr lang="en-US" dirty="0"/>
              <a:t> </a:t>
            </a:r>
            <a:r>
              <a:rPr lang="en-US" dirty="0" err="1"/>
              <a:t>verkürzen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die </a:t>
            </a:r>
            <a:r>
              <a:rPr lang="en-US" dirty="0" err="1"/>
              <a:t>Ladezeiten</a:t>
            </a:r>
            <a:r>
              <a:rPr lang="en-US" dirty="0"/>
              <a:t>,</a:t>
            </a:r>
          </a:p>
          <a:p>
            <a:r>
              <a:rPr lang="en-US" dirty="0"/>
              <a:t>Das </a:t>
            </a:r>
            <a:r>
              <a:rPr lang="en-US" dirty="0" err="1"/>
              <a:t>zeigt</a:t>
            </a:r>
            <a:r>
              <a:rPr lang="en-US" dirty="0"/>
              <a:t>, </a:t>
            </a:r>
            <a:r>
              <a:rPr lang="en-US" dirty="0" err="1"/>
              <a:t>dass</a:t>
            </a:r>
            <a:r>
              <a:rPr lang="en-US" dirty="0"/>
              <a:t> </a:t>
            </a:r>
            <a:r>
              <a:rPr lang="en-US" dirty="0" err="1"/>
              <a:t>dort</a:t>
            </a:r>
            <a:r>
              <a:rPr lang="en-US" dirty="0"/>
              <a:t> </a:t>
            </a:r>
            <a:r>
              <a:rPr lang="en-US" dirty="0" err="1"/>
              <a:t>noch</a:t>
            </a:r>
            <a:r>
              <a:rPr lang="en-US" dirty="0"/>
              <a:t> </a:t>
            </a:r>
            <a:r>
              <a:rPr lang="en-US" dirty="0" err="1"/>
              <a:t>nichts</a:t>
            </a:r>
            <a:r>
              <a:rPr lang="en-US" dirty="0"/>
              <a:t> </a:t>
            </a:r>
            <a:r>
              <a:rPr lang="en-US" dirty="0" err="1"/>
              <a:t>ausgereift</a:t>
            </a:r>
            <a:r>
              <a:rPr lang="en-US" dirty="0"/>
              <a:t> </a:t>
            </a:r>
            <a:r>
              <a:rPr lang="en-US" dirty="0" err="1"/>
              <a:t>ist</a:t>
            </a:r>
            <a:r>
              <a:rPr lang="en-US" dirty="0"/>
              <a:t> und es </a:t>
            </a:r>
            <a:r>
              <a:rPr lang="en-US" dirty="0" err="1"/>
              <a:t>sich</a:t>
            </a:r>
            <a:r>
              <a:rPr lang="en-US" dirty="0"/>
              <a:t> </a:t>
            </a:r>
            <a:r>
              <a:rPr lang="en-US" dirty="0" err="1"/>
              <a:t>dynamisch</a:t>
            </a:r>
            <a:r>
              <a:rPr lang="en-US" dirty="0"/>
              <a:t> </a:t>
            </a:r>
            <a:r>
              <a:rPr lang="en-US" dirty="0" err="1"/>
              <a:t>weiterentwickelt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Porsche </a:t>
            </a:r>
            <a:r>
              <a:rPr lang="en-US" dirty="0" err="1"/>
              <a:t>ist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dem Taycan </a:t>
            </a:r>
            <a:r>
              <a:rPr lang="en-US" dirty="0" err="1"/>
              <a:t>früh</a:t>
            </a:r>
            <a:r>
              <a:rPr lang="en-US" dirty="0"/>
              <a:t> in den Markt </a:t>
            </a:r>
            <a:r>
              <a:rPr lang="en-US" dirty="0" err="1"/>
              <a:t>eingestiegen</a:t>
            </a:r>
            <a:endParaRPr lang="en-US" dirty="0"/>
          </a:p>
          <a:p>
            <a:r>
              <a:rPr lang="en-US" dirty="0"/>
              <a:t>Der Taycan </a:t>
            </a:r>
            <a:r>
              <a:rPr lang="en-US" dirty="0" err="1"/>
              <a:t>diente</a:t>
            </a:r>
            <a:r>
              <a:rPr lang="en-US" dirty="0"/>
              <a:t> </a:t>
            </a:r>
            <a:r>
              <a:rPr lang="en-US" dirty="0" err="1"/>
              <a:t>dabei</a:t>
            </a:r>
            <a:r>
              <a:rPr lang="en-US" dirty="0"/>
              <a:t> </a:t>
            </a:r>
            <a:r>
              <a:rPr lang="en-US" dirty="0" err="1"/>
              <a:t>als</a:t>
            </a:r>
            <a:r>
              <a:rPr lang="en-US" dirty="0"/>
              <a:t> </a:t>
            </a:r>
            <a:r>
              <a:rPr lang="en-US" dirty="0" err="1"/>
              <a:t>eine</a:t>
            </a:r>
            <a:r>
              <a:rPr lang="en-US" dirty="0"/>
              <a:t> art “Proof of </a:t>
            </a:r>
            <a:r>
              <a:rPr lang="en-US" dirty="0" err="1"/>
              <a:t>Conecpt</a:t>
            </a:r>
            <a:r>
              <a:rPr lang="en-US" dirty="0"/>
              <a:t>”, </a:t>
            </a:r>
            <a:r>
              <a:rPr lang="en-US" dirty="0" err="1"/>
              <a:t>sozusagen</a:t>
            </a:r>
            <a:r>
              <a:rPr lang="en-US" dirty="0"/>
              <a:t> </a:t>
            </a:r>
            <a:r>
              <a:rPr lang="en-US" dirty="0" err="1"/>
              <a:t>als</a:t>
            </a:r>
            <a:r>
              <a:rPr lang="en-US" dirty="0"/>
              <a:t> </a:t>
            </a:r>
            <a:r>
              <a:rPr lang="en-US" dirty="0" err="1"/>
              <a:t>erster</a:t>
            </a:r>
            <a:r>
              <a:rPr lang="en-US" dirty="0"/>
              <a:t> </a:t>
            </a:r>
            <a:r>
              <a:rPr lang="en-US" dirty="0" err="1"/>
              <a:t>beweis</a:t>
            </a:r>
            <a:r>
              <a:rPr lang="en-US" dirty="0"/>
              <a:t>, </a:t>
            </a:r>
            <a:r>
              <a:rPr lang="en-US" dirty="0" err="1"/>
              <a:t>dass</a:t>
            </a:r>
            <a:r>
              <a:rPr lang="en-US" dirty="0"/>
              <a:t> </a:t>
            </a:r>
            <a:r>
              <a:rPr lang="en-US" dirty="0" err="1"/>
              <a:t>Elektromobilität</a:t>
            </a:r>
            <a:r>
              <a:rPr lang="en-US" dirty="0"/>
              <a:t> </a:t>
            </a:r>
            <a:r>
              <a:rPr lang="en-US" dirty="0" err="1"/>
              <a:t>im</a:t>
            </a:r>
            <a:r>
              <a:rPr lang="en-US" dirty="0"/>
              <a:t> </a:t>
            </a:r>
            <a:r>
              <a:rPr lang="en-US" dirty="0" err="1"/>
              <a:t>Premiumsegment</a:t>
            </a:r>
            <a:r>
              <a:rPr lang="en-US" dirty="0"/>
              <a:t> </a:t>
            </a:r>
            <a:r>
              <a:rPr lang="en-US" dirty="0" err="1"/>
              <a:t>funktioniert</a:t>
            </a:r>
            <a:endParaRPr lang="en-US" dirty="0"/>
          </a:p>
          <a:p>
            <a:r>
              <a:rPr lang="en-US" dirty="0"/>
              <a:t>Mit dem </a:t>
            </a:r>
            <a:r>
              <a:rPr lang="en-US" dirty="0" err="1"/>
              <a:t>macan</a:t>
            </a:r>
            <a:r>
              <a:rPr lang="en-US" dirty="0"/>
              <a:t> EV </a:t>
            </a:r>
            <a:r>
              <a:rPr lang="en-US" dirty="0" err="1"/>
              <a:t>geht</a:t>
            </a:r>
            <a:r>
              <a:rPr lang="en-US" dirty="0"/>
              <a:t> </a:t>
            </a:r>
            <a:r>
              <a:rPr lang="en-US" dirty="0" err="1"/>
              <a:t>Prosche</a:t>
            </a:r>
            <a:r>
              <a:rPr lang="en-US" dirty="0"/>
              <a:t> </a:t>
            </a:r>
            <a:r>
              <a:rPr lang="en-US" dirty="0" err="1"/>
              <a:t>jetzt</a:t>
            </a:r>
            <a:r>
              <a:rPr lang="en-US" dirty="0"/>
              <a:t> in den </a:t>
            </a:r>
            <a:r>
              <a:rPr lang="en-US" dirty="0" err="1"/>
              <a:t>nächsten</a:t>
            </a:r>
            <a:r>
              <a:rPr lang="en-US" dirty="0"/>
              <a:t> Schritt und </a:t>
            </a:r>
            <a:r>
              <a:rPr lang="en-US" dirty="0" err="1"/>
              <a:t>skaliert</a:t>
            </a:r>
            <a:r>
              <a:rPr lang="en-US" dirty="0"/>
              <a:t> </a:t>
            </a:r>
            <a:r>
              <a:rPr lang="en-US" dirty="0" err="1"/>
              <a:t>diese</a:t>
            </a:r>
            <a:r>
              <a:rPr lang="en-US" dirty="0"/>
              <a:t> </a:t>
            </a:r>
            <a:r>
              <a:rPr lang="en-US" dirty="0" err="1"/>
              <a:t>technologie</a:t>
            </a:r>
            <a:r>
              <a:rPr lang="en-US" dirty="0"/>
              <a:t> in den </a:t>
            </a:r>
            <a:r>
              <a:rPr lang="en-US" dirty="0" err="1"/>
              <a:t>Massenmarkt</a:t>
            </a:r>
            <a:endParaRPr lang="en-US" dirty="0"/>
          </a:p>
          <a:p>
            <a:endParaRPr lang="en-US" dirty="0"/>
          </a:p>
          <a:p>
            <a:r>
              <a:rPr lang="en-US" dirty="0"/>
              <a:t>Der </a:t>
            </a:r>
            <a:r>
              <a:rPr lang="en-US" dirty="0" err="1"/>
              <a:t>übergang</a:t>
            </a:r>
            <a:r>
              <a:rPr lang="en-US" dirty="0"/>
              <a:t> </a:t>
            </a:r>
            <a:r>
              <a:rPr lang="en-US" dirty="0" err="1"/>
              <a:t>ist</a:t>
            </a:r>
            <a:r>
              <a:rPr lang="en-US" dirty="0"/>
              <a:t> </a:t>
            </a:r>
            <a:r>
              <a:rPr lang="en-US" dirty="0" err="1"/>
              <a:t>dabei</a:t>
            </a:r>
            <a:r>
              <a:rPr lang="en-US" dirty="0"/>
              <a:t> in die </a:t>
            </a:r>
            <a:r>
              <a:rPr lang="en-US" dirty="0" err="1"/>
              <a:t>neue</a:t>
            </a:r>
            <a:r>
              <a:rPr lang="en-US" dirty="0"/>
              <a:t> Technologie </a:t>
            </a:r>
            <a:r>
              <a:rPr lang="en-US" dirty="0" err="1"/>
              <a:t>allerdings</a:t>
            </a:r>
            <a:r>
              <a:rPr lang="en-US" dirty="0"/>
              <a:t> nicht </a:t>
            </a:r>
            <a:r>
              <a:rPr lang="en-US" dirty="0" err="1"/>
              <a:t>einfach</a:t>
            </a:r>
            <a:endParaRPr lang="en-US" dirty="0"/>
          </a:p>
          <a:p>
            <a:r>
              <a:rPr lang="en-US" dirty="0"/>
              <a:t>Grade am Anfang </a:t>
            </a:r>
            <a:r>
              <a:rPr lang="en-US" dirty="0" err="1"/>
              <a:t>sind</a:t>
            </a:r>
            <a:r>
              <a:rPr lang="en-US" dirty="0"/>
              <a:t> die </a:t>
            </a:r>
            <a:r>
              <a:rPr lang="en-US" dirty="0" err="1"/>
              <a:t>Margen</a:t>
            </a:r>
            <a:r>
              <a:rPr lang="en-US" dirty="0"/>
              <a:t> </a:t>
            </a:r>
            <a:r>
              <a:rPr lang="en-US" dirty="0" err="1"/>
              <a:t>deutlich</a:t>
            </a:r>
            <a:r>
              <a:rPr lang="en-US" dirty="0"/>
              <a:t> Geringer </a:t>
            </a:r>
            <a:r>
              <a:rPr lang="en-US" dirty="0" err="1"/>
              <a:t>als</a:t>
            </a:r>
            <a:r>
              <a:rPr lang="en-US" dirty="0"/>
              <a:t> </a:t>
            </a:r>
            <a:r>
              <a:rPr lang="en-US" dirty="0" err="1"/>
              <a:t>bei</a:t>
            </a:r>
            <a:r>
              <a:rPr lang="en-US" dirty="0"/>
              <a:t> den </a:t>
            </a:r>
            <a:r>
              <a:rPr lang="en-US" dirty="0" err="1"/>
              <a:t>Verbrennern</a:t>
            </a:r>
            <a:endParaRPr lang="en-US" dirty="0"/>
          </a:p>
          <a:p>
            <a:r>
              <a:rPr lang="en-US" dirty="0" err="1"/>
              <a:t>Zusätzlich</a:t>
            </a:r>
            <a:r>
              <a:rPr lang="en-US" dirty="0"/>
              <a:t> </a:t>
            </a:r>
            <a:r>
              <a:rPr lang="en-US" dirty="0" err="1"/>
              <a:t>erfordert</a:t>
            </a:r>
            <a:r>
              <a:rPr lang="en-US" dirty="0"/>
              <a:t> </a:t>
            </a:r>
            <a:r>
              <a:rPr lang="en-US" dirty="0" err="1"/>
              <a:t>Elektromobilität</a:t>
            </a:r>
            <a:r>
              <a:rPr lang="en-US" dirty="0"/>
              <a:t> </a:t>
            </a:r>
            <a:r>
              <a:rPr lang="en-US" dirty="0" err="1"/>
              <a:t>einen</a:t>
            </a:r>
            <a:r>
              <a:rPr lang="en-US" dirty="0"/>
              <a:t> </a:t>
            </a:r>
            <a:r>
              <a:rPr lang="en-US" dirty="0" err="1"/>
              <a:t>kompletten</a:t>
            </a:r>
            <a:r>
              <a:rPr lang="en-US" dirty="0"/>
              <a:t> </a:t>
            </a:r>
            <a:r>
              <a:rPr lang="en-US" dirty="0" err="1"/>
              <a:t>Umbau</a:t>
            </a:r>
            <a:r>
              <a:rPr lang="en-US" dirty="0"/>
              <a:t> der </a:t>
            </a:r>
            <a:r>
              <a:rPr lang="en-US" dirty="0" err="1"/>
              <a:t>Produktionsprozesse</a:t>
            </a:r>
            <a:r>
              <a:rPr lang="en-US" dirty="0"/>
              <a:t> und </a:t>
            </a:r>
            <a:r>
              <a:rPr lang="en-US" dirty="0" err="1"/>
              <a:t>Lieferketten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Zusammengefasst</a:t>
            </a:r>
            <a:r>
              <a:rPr lang="en-US" dirty="0"/>
              <a:t> </a:t>
            </a:r>
            <a:r>
              <a:rPr lang="en-US" dirty="0" err="1"/>
              <a:t>bietet</a:t>
            </a:r>
            <a:r>
              <a:rPr lang="en-US" dirty="0"/>
              <a:t> </a:t>
            </a:r>
            <a:r>
              <a:rPr lang="en-US" dirty="0" err="1"/>
              <a:t>Elektromobilität</a:t>
            </a:r>
            <a:r>
              <a:rPr lang="en-US" dirty="0"/>
              <a:t> </a:t>
            </a:r>
            <a:r>
              <a:rPr lang="en-US" dirty="0" err="1"/>
              <a:t>großes</a:t>
            </a:r>
            <a:r>
              <a:rPr lang="en-US" dirty="0"/>
              <a:t> </a:t>
            </a:r>
            <a:r>
              <a:rPr lang="en-US" dirty="0" err="1"/>
              <a:t>Wachstumspotenzial</a:t>
            </a:r>
            <a:r>
              <a:rPr lang="en-US" dirty="0"/>
              <a:t>,</a:t>
            </a:r>
          </a:p>
          <a:p>
            <a:r>
              <a:rPr lang="en-US" dirty="0" err="1"/>
              <a:t>Stellt</a:t>
            </a:r>
            <a:r>
              <a:rPr lang="en-US" dirty="0"/>
              <a:t> Porsche </a:t>
            </a:r>
            <a:r>
              <a:rPr lang="en-US" dirty="0" err="1"/>
              <a:t>aber</a:t>
            </a:r>
            <a:r>
              <a:rPr lang="en-US" dirty="0"/>
              <a:t> </a:t>
            </a:r>
            <a:r>
              <a:rPr lang="en-US" dirty="0" err="1"/>
              <a:t>gleichzeitig</a:t>
            </a:r>
            <a:r>
              <a:rPr lang="en-US" dirty="0"/>
              <a:t> </a:t>
            </a:r>
            <a:r>
              <a:rPr lang="en-US" dirty="0" err="1"/>
              <a:t>vor</a:t>
            </a:r>
            <a:r>
              <a:rPr lang="en-US" dirty="0"/>
              <a:t> </a:t>
            </a:r>
            <a:r>
              <a:rPr lang="en-US" dirty="0" err="1"/>
              <a:t>große</a:t>
            </a:r>
            <a:r>
              <a:rPr lang="en-US" dirty="0"/>
              <a:t> </a:t>
            </a:r>
            <a:r>
              <a:rPr lang="en-US" dirty="0" err="1"/>
              <a:t>Wirtschaftliche</a:t>
            </a:r>
            <a:r>
              <a:rPr lang="en-US" dirty="0"/>
              <a:t> und </a:t>
            </a:r>
            <a:r>
              <a:rPr lang="en-US" dirty="0" err="1"/>
              <a:t>strukturelle</a:t>
            </a:r>
            <a:r>
              <a:rPr lang="en-US" dirty="0"/>
              <a:t> </a:t>
            </a:r>
            <a:r>
              <a:rPr lang="en-US" dirty="0" err="1"/>
              <a:t>Herausforderungen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9947BD-AC0A-9B48-9B0D-917726E2A866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585972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FF749A-6A18-7256-0E04-E7DA87C94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A8BA20-8A6F-1146-BB74-D361DBE8C0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43F686-0B85-746F-94DF-1EA00CEA93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/>
              <a:t>Wettbewerb innerhalb der Branche</a:t>
            </a:r>
          </a:p>
          <a:p>
            <a:r>
              <a:rPr lang="en-US" b="1"/>
              <a:t>Verbrenner: </a:t>
            </a:r>
            <a:r>
              <a:rPr lang="en-US" b="0"/>
              <a:t>Hier kämpft Porsche Gegen etablierte Marken wie Ferrari, Aston Martin, BMW M, AMG Der Kampf wird über Rundenzeiten, emotionalen Sound und Marken Prestige ausgetragen</a:t>
            </a:r>
          </a:p>
          <a:p>
            <a:endParaRPr lang="en-US" b="1"/>
          </a:p>
          <a:p>
            <a:r>
              <a:rPr lang="en-US" b="1"/>
              <a:t>Elektro: </a:t>
            </a:r>
            <a:r>
              <a:rPr lang="en-US" b="0"/>
              <a:t>Hier trifft Porsche auf aggressive neue Konkurrenten wie Tesla (Plaid-Modelle), Lucid Motors oder extrem starke chinesische Premium-Marken wie Yangwang (BYD) oder Zeekr</a:t>
            </a:r>
          </a:p>
          <a:p>
            <a:endParaRPr lang="en-US" b="0"/>
          </a:p>
          <a:p>
            <a:r>
              <a:rPr lang="en-US" b="1"/>
              <a:t>Fazit: </a:t>
            </a:r>
            <a:r>
              <a:rPr lang="en-US" b="0"/>
              <a:t>Wettbewerb hoch, weil technologischer Wandel gigantische Investoren erfordert und jeder Hersteller versucht, sich als Technologieführer zu positionieren</a:t>
            </a:r>
            <a:endParaRPr lang="en-US" b="1"/>
          </a:p>
          <a:p>
            <a:endParaRPr lang="en-US" b="0"/>
          </a:p>
          <a:p>
            <a:r>
              <a:rPr lang="en-US" b="1"/>
              <a:t>Bedrohung durch Ersatzprodukte (sehr gering)</a:t>
            </a:r>
          </a:p>
          <a:p>
            <a:r>
              <a:rPr lang="en-US"/>
              <a:t>Ein Ersatzprodukt (Substitut) erfüllt denselben Zweck durch eine andere Technologie.</a:t>
            </a:r>
          </a:p>
          <a:p>
            <a:endParaRPr lang="en-US"/>
          </a:p>
          <a:p>
            <a:r>
              <a:rPr lang="en-US" b="1"/>
              <a:t>Status vs. Mobilität:</a:t>
            </a:r>
            <a:r>
              <a:rPr lang="en-US"/>
              <a:t> Ginge es nur um den Transport von A nach B, wären Bahn, Uber oder künftige Robotaxis echte Bedrohungen.</a:t>
            </a:r>
          </a:p>
          <a:p>
            <a:endParaRPr lang="en-US"/>
          </a:p>
          <a:p>
            <a:r>
              <a:rPr lang="en-US" b="1"/>
              <a:t>Emotionale Bindung:</a:t>
            </a:r>
            <a:r>
              <a:rPr lang="en-US"/>
              <a:t> Ein Porsche wird als Belohnung, Statussymbol und Fahrspaß-Maschine gekauft. Es gibt außerhalb der exklusiven Sportwagenwelt praktisch keine Substitutionsprodukte, die dieses spezifische Bündel an Emotionen und sozialer Signalwirkung ersetzen können.</a:t>
            </a:r>
          </a:p>
          <a:p>
            <a:endParaRPr lang="en-US" b="1"/>
          </a:p>
          <a:p>
            <a:endParaRPr lang="en-US" b="0"/>
          </a:p>
          <a:p>
            <a:r>
              <a:rPr lang="en-US" b="1"/>
              <a:t>Gefahr von Markteintritten</a:t>
            </a:r>
          </a:p>
          <a:p>
            <a:r>
              <a:rPr lang="en-US" b="1"/>
              <a:t>Niedrigere Barrieren durch BEV (Battery Electric Vehicle): </a:t>
            </a:r>
            <a:r>
              <a:rPr lang="en-US" b="0"/>
              <a:t>Elektromotor wesentlich einfacher zu bauen, als ein Hochleistungsverbrenner</a:t>
            </a:r>
          </a:p>
          <a:p>
            <a:endParaRPr lang="en-US" b="0"/>
          </a:p>
          <a:p>
            <a:r>
              <a:rPr lang="en-US" b="1"/>
              <a:t>Porsches Schutzschild:</a:t>
            </a:r>
            <a:r>
              <a:rPr lang="en-US"/>
              <a:t> Was Porsche jedoch massiv schützt, ist die </a:t>
            </a:r>
            <a:r>
              <a:rPr lang="en-US" i="1"/>
              <a:t>Markenheritage</a:t>
            </a:r>
            <a:r>
              <a:rPr lang="en-US"/>
              <a:t> (Motorsport-Historie) und das Markenimage. Einen schnellen Elektromotor kann heute fast jeder bauen; das Handling, die Verarbeitungsqualität und das Prestige eines Porsches lassen sich jedoch nicht über Nacht kopieren</a:t>
            </a:r>
          </a:p>
          <a:p>
            <a:endParaRPr lang="en-US"/>
          </a:p>
          <a:p>
            <a:r>
              <a:rPr lang="en-US" b="1"/>
              <a:t>Fazit: </a:t>
            </a:r>
            <a:r>
              <a:rPr lang="en-US" b="0"/>
              <a:t>Berohung ist gestiegen, wird druch Porsches Markenidentität abgefedert</a:t>
            </a:r>
          </a:p>
          <a:p>
            <a:endParaRPr lang="en-US" b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099066-E69B-7B95-ACA2-7C67BE6CC2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9947BD-AC0A-9B48-9B0D-917726E2A866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988263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C108D4-A9A9-0732-DC26-955324A096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A402A-1D62-EE6F-8314-32EF2C9E74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8DAE02-1AAB-2AC2-29D2-6A48106959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/>
              <a:t>Macht von Abnehmern|Kunden</a:t>
            </a:r>
            <a:endParaRPr lang="en-US"/>
          </a:p>
          <a:p>
            <a:r>
              <a:rPr lang="en-US"/>
              <a:t>Kunden haben bei Massenmarkt-Autos viel Macht, weil sie leicht die günstigste Alternative wählen können. Bei Porsche greifen andere Mechanismen:</a:t>
            </a:r>
          </a:p>
          <a:p>
            <a:endParaRPr lang="en-US" b="0"/>
          </a:p>
          <a:p>
            <a:r>
              <a:rPr lang="en-US" b="1"/>
              <a:t>Luxusstrategie: </a:t>
            </a:r>
            <a:r>
              <a:rPr lang="en-US" b="0"/>
              <a:t>Porsche-Kunden sind wenig preissensibel. Preiserhöhungen bei Ikonen wie dem 911er führen meist nicht zum Nachfrageeinbruch, sondern stärken die Exklusivität</a:t>
            </a:r>
          </a:p>
          <a:p>
            <a:endParaRPr lang="en-US" b="0"/>
          </a:p>
          <a:p>
            <a:r>
              <a:rPr lang="en-US" b="1"/>
              <a:t>Individualisierung: </a:t>
            </a:r>
            <a:r>
              <a:rPr lang="en-US" b="0"/>
              <a:t>Wer sich in Porsche Exclusive Manufaktur sein hochgradig individuelles Traumauto konfiguriert, wechselt nicht wegen eines kleinen Preisvorteils zur Konkurrenz.</a:t>
            </a:r>
          </a:p>
          <a:p>
            <a:endParaRPr lang="en-US" b="0"/>
          </a:p>
          <a:p>
            <a:r>
              <a:rPr lang="en-US" b="1"/>
              <a:t>Macht von Lieferanten (Mittel bis Hoch – Tendenz steigend)</a:t>
            </a:r>
          </a:p>
          <a:p>
            <a:r>
              <a:rPr lang="en-US"/>
              <a:t>Hier findet durch die technologische S-Kurve eine massive Machtverschiebung statt:</a:t>
            </a:r>
          </a:p>
          <a:p>
            <a:endParaRPr lang="en-US"/>
          </a:p>
          <a:p>
            <a:r>
              <a:rPr lang="en-US" b="1"/>
              <a:t>Klassische Teile:</a:t>
            </a:r>
            <a:r>
              <a:rPr lang="en-US"/>
              <a:t> Bei Blechen, Sitzen oder Standardkomponenten hat Porsche als Teil des VW-Konzerns eine enorme Verhandlungsmacht und kann Preise diktiert.</a:t>
            </a:r>
          </a:p>
          <a:p>
            <a:endParaRPr lang="en-US"/>
          </a:p>
          <a:p>
            <a:r>
              <a:rPr lang="en-US" b="1"/>
              <a:t>Software &amp; Batterien:</a:t>
            </a:r>
            <a:r>
              <a:rPr lang="en-US"/>
              <a:t> Bei Batteriezellen, Halbleitern und High-End-Chips (z. B. Nvidia, TSMC) sieht das anders aus. Diese Tech-Giganten sind wenige an der Zahl und extrem gefragt. Je mehr das Auto zum "Software-Defined Vehicle" wird, desto stärker wächst die Abhängigkeit und damit die Preismacht dieser wenigen Hightech-Lieferanten.</a:t>
            </a:r>
          </a:p>
          <a:p>
            <a:endParaRPr lang="en-US" b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B67168-D908-C092-A756-E21E0CDBE5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9947BD-AC0A-9B48-9B0D-917726E2A866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22612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err="1"/>
              <a:t>Unterstützungsaktivitäten</a:t>
            </a:r>
            <a:endParaRPr lang="en-US" b="1"/>
          </a:p>
          <a:p>
            <a:r>
              <a:rPr lang="en-US" b="1" err="1"/>
              <a:t>Unternehmens-Infrastruktur</a:t>
            </a:r>
            <a:endParaRPr lang="en-US" b="1"/>
          </a:p>
          <a:p>
            <a:r>
              <a:rPr lang="en-US" err="1"/>
              <a:t>Im</a:t>
            </a:r>
            <a:r>
              <a:rPr lang="en-US"/>
              <a:t> </a:t>
            </a:r>
            <a:r>
              <a:rPr lang="en-US" err="1"/>
              <a:t>oberen</a:t>
            </a:r>
            <a:r>
              <a:rPr lang="en-US"/>
              <a:t> </a:t>
            </a:r>
            <a:r>
              <a:rPr lang="en-US" err="1"/>
              <a:t>Bereich</a:t>
            </a:r>
            <a:r>
              <a:rPr lang="en-US"/>
              <a:t> </a:t>
            </a:r>
            <a:r>
              <a:rPr lang="en-US" err="1"/>
              <a:t>sehen</a:t>
            </a:r>
            <a:r>
              <a:rPr lang="en-US"/>
              <a:t> </a:t>
            </a:r>
            <a:r>
              <a:rPr lang="en-US" err="1"/>
              <a:t>wir</a:t>
            </a:r>
            <a:r>
              <a:rPr lang="en-US"/>
              <a:t> </a:t>
            </a:r>
            <a:r>
              <a:rPr lang="en-US" err="1"/>
              <a:t>zunächst</a:t>
            </a:r>
            <a:r>
              <a:rPr lang="en-US"/>
              <a:t> die </a:t>
            </a:r>
            <a:r>
              <a:rPr lang="en-US" err="1"/>
              <a:t>Unternehmensinfrastruktur</a:t>
            </a:r>
            <a:r>
              <a:rPr lang="en-US"/>
              <a:t>.</a:t>
            </a:r>
          </a:p>
          <a:p>
            <a:r>
              <a:rPr lang="en-US"/>
              <a:t>Dazu </a:t>
            </a:r>
            <a:r>
              <a:rPr lang="en-US" err="1"/>
              <a:t>gehören</a:t>
            </a:r>
            <a:r>
              <a:rPr lang="en-US"/>
              <a:t> Management, </a:t>
            </a:r>
            <a:r>
              <a:rPr lang="en-US" err="1"/>
              <a:t>Strategie</a:t>
            </a:r>
            <a:r>
              <a:rPr lang="en-US"/>
              <a:t>, </a:t>
            </a:r>
            <a:r>
              <a:rPr lang="en-US" err="1"/>
              <a:t>Finanzen</a:t>
            </a:r>
            <a:r>
              <a:rPr lang="en-US"/>
              <a:t> und </a:t>
            </a:r>
            <a:r>
              <a:rPr lang="en-US" err="1"/>
              <a:t>Qualitätsmanagement</a:t>
            </a:r>
            <a:r>
              <a:rPr lang="en-US"/>
              <a:t>.</a:t>
            </a:r>
          </a:p>
          <a:p>
            <a:r>
              <a:rPr lang="en-US" err="1"/>
              <a:t>Gerade</a:t>
            </a:r>
            <a:r>
              <a:rPr lang="en-US"/>
              <a:t> </a:t>
            </a:r>
            <a:r>
              <a:rPr lang="en-US" err="1"/>
              <a:t>bei</a:t>
            </a:r>
            <a:r>
              <a:rPr lang="en-US"/>
              <a:t> Porsche </a:t>
            </a:r>
            <a:r>
              <a:rPr lang="en-US" err="1"/>
              <a:t>ist</a:t>
            </a:r>
            <a:r>
              <a:rPr lang="en-US"/>
              <a:t> die </a:t>
            </a:r>
            <a:r>
              <a:rPr lang="en-US" err="1"/>
              <a:t>strategische</a:t>
            </a:r>
            <a:r>
              <a:rPr lang="en-US"/>
              <a:t> </a:t>
            </a:r>
            <a:r>
              <a:rPr lang="en-US" err="1"/>
              <a:t>Steuerung</a:t>
            </a:r>
            <a:r>
              <a:rPr lang="en-US"/>
              <a:t> </a:t>
            </a:r>
            <a:r>
              <a:rPr lang="en-US" err="1"/>
              <a:t>sehr</a:t>
            </a:r>
            <a:r>
              <a:rPr lang="en-US"/>
              <a:t> </a:t>
            </a:r>
            <a:r>
              <a:rPr lang="en-US" err="1"/>
              <a:t>wichtig</a:t>
            </a:r>
            <a:r>
              <a:rPr lang="en-US"/>
              <a:t>, da das </a:t>
            </a:r>
            <a:r>
              <a:rPr lang="en-US" err="1"/>
              <a:t>Unternehmen</a:t>
            </a:r>
            <a:r>
              <a:rPr lang="en-US"/>
              <a:t> stark auf </a:t>
            </a:r>
            <a:r>
              <a:rPr lang="en-US" err="1"/>
              <a:t>Premiumqualität</a:t>
            </a:r>
            <a:r>
              <a:rPr lang="en-US"/>
              <a:t> und </a:t>
            </a:r>
            <a:r>
              <a:rPr lang="en-US" err="1"/>
              <a:t>hohe</a:t>
            </a:r>
            <a:r>
              <a:rPr lang="en-US"/>
              <a:t> </a:t>
            </a:r>
            <a:r>
              <a:rPr lang="en-US" err="1"/>
              <a:t>Margen</a:t>
            </a:r>
            <a:r>
              <a:rPr lang="en-US"/>
              <a:t> </a:t>
            </a:r>
            <a:r>
              <a:rPr lang="en-US" err="1"/>
              <a:t>fokussiert</a:t>
            </a:r>
            <a:r>
              <a:rPr lang="en-US"/>
              <a:t> </a:t>
            </a:r>
            <a:r>
              <a:rPr lang="en-US" err="1"/>
              <a:t>ist</a:t>
            </a:r>
            <a:r>
              <a:rPr lang="en-US"/>
              <a:t>.</a:t>
            </a:r>
          </a:p>
          <a:p>
            <a:br>
              <a:rPr lang="en-US"/>
            </a:br>
            <a:endParaRPr lang="en-US"/>
          </a:p>
          <a:p>
            <a:r>
              <a:rPr lang="en-US" b="1"/>
              <a:t>Human Resource Management</a:t>
            </a:r>
          </a:p>
          <a:p>
            <a:r>
              <a:rPr lang="en-US"/>
              <a:t>Ein </a:t>
            </a:r>
            <a:r>
              <a:rPr lang="en-US" err="1"/>
              <a:t>weiterer</a:t>
            </a:r>
            <a:r>
              <a:rPr lang="en-US"/>
              <a:t> </a:t>
            </a:r>
            <a:r>
              <a:rPr lang="en-US" err="1"/>
              <a:t>wichtiger</a:t>
            </a:r>
            <a:r>
              <a:rPr lang="en-US"/>
              <a:t> </a:t>
            </a:r>
            <a:r>
              <a:rPr lang="en-US" err="1"/>
              <a:t>Punkt</a:t>
            </a:r>
            <a:r>
              <a:rPr lang="en-US"/>
              <a:t> </a:t>
            </a:r>
            <a:r>
              <a:rPr lang="en-US" err="1"/>
              <a:t>ist</a:t>
            </a:r>
            <a:r>
              <a:rPr lang="en-US"/>
              <a:t> das </a:t>
            </a:r>
            <a:r>
              <a:rPr lang="en-US" err="1"/>
              <a:t>Personalmanagement</a:t>
            </a:r>
            <a:r>
              <a:rPr lang="en-US"/>
              <a:t>.</a:t>
            </a:r>
          </a:p>
          <a:p>
            <a:r>
              <a:rPr lang="en-US"/>
              <a:t>Porsche </a:t>
            </a:r>
            <a:r>
              <a:rPr lang="en-US" err="1"/>
              <a:t>benötigt</a:t>
            </a:r>
            <a:r>
              <a:rPr lang="en-US"/>
              <a:t> </a:t>
            </a:r>
            <a:r>
              <a:rPr lang="en-US" err="1"/>
              <a:t>hochqualifizierte</a:t>
            </a:r>
            <a:r>
              <a:rPr lang="en-US"/>
              <a:t> </a:t>
            </a:r>
            <a:r>
              <a:rPr lang="en-US" err="1"/>
              <a:t>Fachkräfte</a:t>
            </a:r>
            <a:r>
              <a:rPr lang="en-US"/>
              <a:t>, </a:t>
            </a:r>
            <a:r>
              <a:rPr lang="en-US" err="1"/>
              <a:t>Ingenieure</a:t>
            </a:r>
            <a:r>
              <a:rPr lang="en-US"/>
              <a:t> und </a:t>
            </a:r>
            <a:r>
              <a:rPr lang="en-US" err="1"/>
              <a:t>Softwareentwickler</a:t>
            </a:r>
            <a:r>
              <a:rPr lang="en-US"/>
              <a:t>.</a:t>
            </a:r>
          </a:p>
          <a:p>
            <a:r>
              <a:rPr lang="en-US" err="1"/>
              <a:t>Dadurch</a:t>
            </a:r>
            <a:r>
              <a:rPr lang="en-US"/>
              <a:t> </a:t>
            </a:r>
            <a:r>
              <a:rPr lang="en-US" err="1"/>
              <a:t>kann</a:t>
            </a:r>
            <a:r>
              <a:rPr lang="en-US"/>
              <a:t> das </a:t>
            </a:r>
            <a:r>
              <a:rPr lang="en-US" err="1"/>
              <a:t>Unternehmen</a:t>
            </a:r>
            <a:r>
              <a:rPr lang="en-US"/>
              <a:t> innovative </a:t>
            </a:r>
            <a:r>
              <a:rPr lang="en-US" err="1"/>
              <a:t>Technologien</a:t>
            </a:r>
            <a:r>
              <a:rPr lang="en-US"/>
              <a:t> und </a:t>
            </a:r>
            <a:r>
              <a:rPr lang="en-US" err="1"/>
              <a:t>hohe</a:t>
            </a:r>
            <a:r>
              <a:rPr lang="en-US"/>
              <a:t> </a:t>
            </a:r>
            <a:r>
              <a:rPr lang="en-US" err="1"/>
              <a:t>Qualitätsstandards</a:t>
            </a:r>
            <a:r>
              <a:rPr lang="en-US"/>
              <a:t> </a:t>
            </a:r>
            <a:r>
              <a:rPr lang="en-US" err="1"/>
              <a:t>sicherstellen</a:t>
            </a:r>
            <a:r>
              <a:rPr lang="en-US"/>
              <a:t>.</a:t>
            </a:r>
          </a:p>
          <a:p>
            <a:br>
              <a:rPr lang="en-US"/>
            </a:br>
            <a:endParaRPr lang="en-US"/>
          </a:p>
          <a:p>
            <a:r>
              <a:rPr lang="en-US" b="1"/>
              <a:t>Technologie-</a:t>
            </a:r>
            <a:r>
              <a:rPr lang="en-US" b="1" err="1"/>
              <a:t>Entwicklung</a:t>
            </a:r>
            <a:endParaRPr lang="en-US" b="1"/>
          </a:p>
          <a:p>
            <a:r>
              <a:rPr lang="en-US" err="1"/>
              <a:t>Besonders</a:t>
            </a:r>
            <a:r>
              <a:rPr lang="en-US"/>
              <a:t> </a:t>
            </a:r>
            <a:r>
              <a:rPr lang="en-US" err="1"/>
              <a:t>wichtig</a:t>
            </a:r>
            <a:r>
              <a:rPr lang="en-US"/>
              <a:t> für Porsche </a:t>
            </a:r>
            <a:r>
              <a:rPr lang="en-US" err="1"/>
              <a:t>ist</a:t>
            </a:r>
            <a:r>
              <a:rPr lang="en-US"/>
              <a:t> die </a:t>
            </a:r>
            <a:r>
              <a:rPr lang="en-US" err="1"/>
              <a:t>Technologieentwicklung</a:t>
            </a:r>
            <a:r>
              <a:rPr lang="en-US"/>
              <a:t>.</a:t>
            </a:r>
          </a:p>
          <a:p>
            <a:r>
              <a:rPr lang="en-US"/>
              <a:t>Hier </a:t>
            </a:r>
            <a:r>
              <a:rPr lang="en-US" err="1"/>
              <a:t>investiert</a:t>
            </a:r>
            <a:r>
              <a:rPr lang="en-US"/>
              <a:t> das </a:t>
            </a:r>
            <a:r>
              <a:rPr lang="en-US" err="1"/>
              <a:t>Unternehmen</a:t>
            </a:r>
            <a:r>
              <a:rPr lang="en-US"/>
              <a:t> stark in </a:t>
            </a:r>
            <a:r>
              <a:rPr lang="en-US" err="1"/>
              <a:t>Elektromobilität</a:t>
            </a:r>
            <a:r>
              <a:rPr lang="en-US"/>
              <a:t>, </a:t>
            </a:r>
            <a:r>
              <a:rPr lang="en-US" err="1"/>
              <a:t>Batterietechnik</a:t>
            </a:r>
            <a:r>
              <a:rPr lang="en-US"/>
              <a:t>, Software und </a:t>
            </a:r>
            <a:r>
              <a:rPr lang="en-US" err="1"/>
              <a:t>digitale</a:t>
            </a:r>
            <a:r>
              <a:rPr lang="en-US"/>
              <a:t> Systeme.</a:t>
            </a:r>
          </a:p>
          <a:p>
            <a:r>
              <a:rPr lang="en-US" err="1"/>
              <a:t>Diese</a:t>
            </a:r>
            <a:r>
              <a:rPr lang="en-US"/>
              <a:t> </a:t>
            </a:r>
            <a:r>
              <a:rPr lang="en-US" err="1"/>
              <a:t>Innovationen</a:t>
            </a:r>
            <a:r>
              <a:rPr lang="en-US"/>
              <a:t> </a:t>
            </a:r>
            <a:r>
              <a:rPr lang="en-US" err="1"/>
              <a:t>sind</a:t>
            </a:r>
            <a:r>
              <a:rPr lang="en-US"/>
              <a:t> </a:t>
            </a:r>
            <a:r>
              <a:rPr lang="en-US" err="1"/>
              <a:t>entscheidend</a:t>
            </a:r>
            <a:r>
              <a:rPr lang="en-US"/>
              <a:t>, um </a:t>
            </a:r>
            <a:r>
              <a:rPr lang="en-US" err="1"/>
              <a:t>langfristig</a:t>
            </a:r>
            <a:r>
              <a:rPr lang="en-US"/>
              <a:t> </a:t>
            </a:r>
            <a:r>
              <a:rPr lang="en-US" err="1"/>
              <a:t>wettbewerbsfähig</a:t>
            </a:r>
            <a:r>
              <a:rPr lang="en-US"/>
              <a:t> </a:t>
            </a:r>
            <a:r>
              <a:rPr lang="en-US" err="1"/>
              <a:t>zu</a:t>
            </a:r>
            <a:r>
              <a:rPr lang="en-US"/>
              <a:t> </a:t>
            </a:r>
            <a:r>
              <a:rPr lang="en-US" err="1"/>
              <a:t>bleiben</a:t>
            </a:r>
            <a:r>
              <a:rPr lang="en-US"/>
              <a:t>.</a:t>
            </a:r>
          </a:p>
          <a:p>
            <a:br>
              <a:rPr lang="en-US"/>
            </a:br>
            <a:endParaRPr lang="en-US"/>
          </a:p>
          <a:p>
            <a:r>
              <a:rPr lang="en-US" b="1" err="1"/>
              <a:t>Beschaffung</a:t>
            </a:r>
            <a:endParaRPr lang="en-US" b="1"/>
          </a:p>
          <a:p>
            <a:r>
              <a:rPr lang="en-US"/>
              <a:t>Die </a:t>
            </a:r>
            <a:r>
              <a:rPr lang="en-US" err="1"/>
              <a:t>Beschaffung</a:t>
            </a:r>
            <a:r>
              <a:rPr lang="en-US"/>
              <a:t> </a:t>
            </a:r>
            <a:r>
              <a:rPr lang="en-US" err="1"/>
              <a:t>sorgt</a:t>
            </a:r>
            <a:r>
              <a:rPr lang="en-US"/>
              <a:t> </a:t>
            </a:r>
            <a:r>
              <a:rPr lang="en-US" err="1"/>
              <a:t>dafür</a:t>
            </a:r>
            <a:r>
              <a:rPr lang="en-US"/>
              <a:t>, </a:t>
            </a:r>
            <a:r>
              <a:rPr lang="en-US" err="1"/>
              <a:t>dass</a:t>
            </a:r>
            <a:r>
              <a:rPr lang="en-US"/>
              <a:t> </a:t>
            </a:r>
            <a:r>
              <a:rPr lang="en-US" err="1"/>
              <a:t>wichtige</a:t>
            </a:r>
            <a:r>
              <a:rPr lang="en-US"/>
              <a:t> </a:t>
            </a:r>
            <a:r>
              <a:rPr lang="en-US" err="1"/>
              <a:t>Komponenten</a:t>
            </a:r>
            <a:r>
              <a:rPr lang="en-US"/>
              <a:t> </a:t>
            </a:r>
            <a:r>
              <a:rPr lang="en-US" err="1"/>
              <a:t>wie</a:t>
            </a:r>
            <a:r>
              <a:rPr lang="en-US"/>
              <a:t> </a:t>
            </a:r>
            <a:r>
              <a:rPr lang="en-US" err="1"/>
              <a:t>Batterien</a:t>
            </a:r>
            <a:r>
              <a:rPr lang="en-US"/>
              <a:t>, </a:t>
            </a:r>
            <a:r>
              <a:rPr lang="en-US" err="1"/>
              <a:t>Halbleiter</a:t>
            </a:r>
            <a:r>
              <a:rPr lang="en-US"/>
              <a:t> und </a:t>
            </a:r>
            <a:r>
              <a:rPr lang="en-US" err="1"/>
              <a:t>Rohstoffe</a:t>
            </a:r>
            <a:r>
              <a:rPr lang="en-US"/>
              <a:t> </a:t>
            </a:r>
            <a:r>
              <a:rPr lang="en-US" err="1"/>
              <a:t>verfügbar</a:t>
            </a:r>
            <a:r>
              <a:rPr lang="en-US"/>
              <a:t> </a:t>
            </a:r>
            <a:r>
              <a:rPr lang="en-US" err="1"/>
              <a:t>sind</a:t>
            </a:r>
            <a:r>
              <a:rPr lang="en-US"/>
              <a:t>.</a:t>
            </a:r>
          </a:p>
          <a:p>
            <a:r>
              <a:rPr lang="en-US"/>
              <a:t>Vor </a:t>
            </a:r>
            <a:r>
              <a:rPr lang="en-US" err="1"/>
              <a:t>allem</a:t>
            </a:r>
            <a:r>
              <a:rPr lang="en-US"/>
              <a:t> </a:t>
            </a:r>
            <a:r>
              <a:rPr lang="en-US" err="1"/>
              <a:t>bei</a:t>
            </a:r>
            <a:r>
              <a:rPr lang="en-US"/>
              <a:t> </a:t>
            </a:r>
            <a:r>
              <a:rPr lang="en-US" err="1"/>
              <a:t>Elektrofahrzeugen</a:t>
            </a:r>
            <a:r>
              <a:rPr lang="en-US"/>
              <a:t> </a:t>
            </a:r>
            <a:r>
              <a:rPr lang="en-US" err="1"/>
              <a:t>ist</a:t>
            </a:r>
            <a:r>
              <a:rPr lang="en-US"/>
              <a:t> die </a:t>
            </a:r>
            <a:r>
              <a:rPr lang="en-US" err="1"/>
              <a:t>Versorgung</a:t>
            </a:r>
            <a:r>
              <a:rPr lang="en-US"/>
              <a:t> </a:t>
            </a:r>
            <a:r>
              <a:rPr lang="en-US" err="1"/>
              <a:t>mit</a:t>
            </a:r>
            <a:r>
              <a:rPr lang="en-US"/>
              <a:t> </a:t>
            </a:r>
            <a:r>
              <a:rPr lang="en-US" err="1"/>
              <a:t>Batterien</a:t>
            </a:r>
            <a:r>
              <a:rPr lang="en-US"/>
              <a:t> und Chips </a:t>
            </a:r>
            <a:r>
              <a:rPr lang="en-US" err="1"/>
              <a:t>mittlerweile</a:t>
            </a:r>
            <a:r>
              <a:rPr lang="en-US"/>
              <a:t> </a:t>
            </a:r>
            <a:r>
              <a:rPr lang="en-US" err="1"/>
              <a:t>ein</a:t>
            </a:r>
            <a:r>
              <a:rPr lang="en-US"/>
              <a:t> </a:t>
            </a:r>
            <a:r>
              <a:rPr lang="en-US" err="1"/>
              <a:t>zentraler</a:t>
            </a:r>
            <a:r>
              <a:rPr lang="en-US"/>
              <a:t> </a:t>
            </a:r>
            <a:r>
              <a:rPr lang="en-US" err="1"/>
              <a:t>Wettbewerbsfaktor</a:t>
            </a:r>
            <a:r>
              <a:rPr lang="en-US"/>
              <a:t>.</a:t>
            </a:r>
          </a:p>
          <a:p>
            <a:br>
              <a:rPr lang="en-US"/>
            </a:br>
            <a:endParaRPr lang="en-US"/>
          </a:p>
          <a:p>
            <a:r>
              <a:rPr lang="en-US" b="1" err="1"/>
              <a:t>Primäraktivitäten</a:t>
            </a:r>
            <a:endParaRPr lang="en-US" b="1"/>
          </a:p>
          <a:p>
            <a:r>
              <a:rPr lang="en-US" b="1"/>
              <a:t>Interne Logistik</a:t>
            </a:r>
          </a:p>
          <a:p>
            <a:r>
              <a:rPr lang="en-US"/>
              <a:t>Die </a:t>
            </a:r>
            <a:r>
              <a:rPr lang="en-US" err="1"/>
              <a:t>Wertschöpfung</a:t>
            </a:r>
            <a:r>
              <a:rPr lang="en-US"/>
              <a:t> </a:t>
            </a:r>
            <a:r>
              <a:rPr lang="en-US" err="1"/>
              <a:t>beginnt</a:t>
            </a:r>
            <a:r>
              <a:rPr lang="en-US"/>
              <a:t> </a:t>
            </a:r>
            <a:r>
              <a:rPr lang="en-US" err="1"/>
              <a:t>mit</a:t>
            </a:r>
            <a:r>
              <a:rPr lang="en-US"/>
              <a:t> der </a:t>
            </a:r>
            <a:r>
              <a:rPr lang="en-US" err="1"/>
              <a:t>internen</a:t>
            </a:r>
            <a:r>
              <a:rPr lang="en-US"/>
              <a:t> Logistik.</a:t>
            </a:r>
          </a:p>
          <a:p>
            <a:r>
              <a:rPr lang="en-US"/>
              <a:t>Hier </a:t>
            </a:r>
            <a:r>
              <a:rPr lang="en-US" err="1"/>
              <a:t>werden</a:t>
            </a:r>
            <a:r>
              <a:rPr lang="en-US"/>
              <a:t> </a:t>
            </a:r>
            <a:r>
              <a:rPr lang="en-US" err="1"/>
              <a:t>Materialien</a:t>
            </a:r>
            <a:r>
              <a:rPr lang="en-US"/>
              <a:t>, </a:t>
            </a:r>
            <a:r>
              <a:rPr lang="en-US" err="1"/>
              <a:t>Bauteile</a:t>
            </a:r>
            <a:r>
              <a:rPr lang="en-US"/>
              <a:t> und </a:t>
            </a:r>
            <a:r>
              <a:rPr lang="en-US" err="1"/>
              <a:t>Lieferanten</a:t>
            </a:r>
            <a:r>
              <a:rPr lang="en-US"/>
              <a:t> </a:t>
            </a:r>
            <a:r>
              <a:rPr lang="en-US" err="1"/>
              <a:t>organisiert</a:t>
            </a:r>
            <a:r>
              <a:rPr lang="en-US"/>
              <a:t>.</a:t>
            </a:r>
          </a:p>
          <a:p>
            <a:br>
              <a:rPr lang="en-US"/>
            </a:br>
            <a:endParaRPr lang="en-US"/>
          </a:p>
          <a:p>
            <a:r>
              <a:rPr lang="en-US" b="1"/>
              <a:t>Produktion</a:t>
            </a:r>
          </a:p>
          <a:p>
            <a:r>
              <a:rPr lang="en-US"/>
              <a:t>Danach </a:t>
            </a:r>
            <a:r>
              <a:rPr lang="en-US" err="1"/>
              <a:t>folgt</a:t>
            </a:r>
            <a:r>
              <a:rPr lang="en-US"/>
              <a:t> die Produktion </a:t>
            </a:r>
            <a:r>
              <a:rPr lang="en-US" err="1"/>
              <a:t>mit</a:t>
            </a:r>
            <a:r>
              <a:rPr lang="en-US"/>
              <a:t> </a:t>
            </a:r>
            <a:r>
              <a:rPr lang="en-US" err="1"/>
              <a:t>Fahrzeugfertigung</a:t>
            </a:r>
            <a:r>
              <a:rPr lang="en-US"/>
              <a:t>, </a:t>
            </a:r>
            <a:r>
              <a:rPr lang="en-US" err="1"/>
              <a:t>Lackierung</a:t>
            </a:r>
            <a:r>
              <a:rPr lang="en-US"/>
              <a:t> und </a:t>
            </a:r>
            <a:r>
              <a:rPr lang="en-US" err="1"/>
              <a:t>Qualitätskontrolle</a:t>
            </a:r>
            <a:r>
              <a:rPr lang="en-US"/>
              <a:t>.</a:t>
            </a:r>
          </a:p>
          <a:p>
            <a:r>
              <a:rPr lang="en-US"/>
              <a:t>Porsche </a:t>
            </a:r>
            <a:r>
              <a:rPr lang="en-US" err="1"/>
              <a:t>setzt</a:t>
            </a:r>
            <a:r>
              <a:rPr lang="en-US"/>
              <a:t> </a:t>
            </a:r>
            <a:r>
              <a:rPr lang="en-US" err="1"/>
              <a:t>dabei</a:t>
            </a:r>
            <a:r>
              <a:rPr lang="en-US"/>
              <a:t> </a:t>
            </a:r>
            <a:r>
              <a:rPr lang="en-US" err="1"/>
              <a:t>besonders</a:t>
            </a:r>
            <a:r>
              <a:rPr lang="en-US"/>
              <a:t> auf </a:t>
            </a:r>
            <a:r>
              <a:rPr lang="en-US" err="1"/>
              <a:t>hohe</a:t>
            </a:r>
            <a:r>
              <a:rPr lang="en-US"/>
              <a:t> </a:t>
            </a:r>
            <a:r>
              <a:rPr lang="en-US" err="1"/>
              <a:t>Qualität</a:t>
            </a:r>
            <a:r>
              <a:rPr lang="en-US"/>
              <a:t> und </a:t>
            </a:r>
            <a:r>
              <a:rPr lang="en-US" err="1"/>
              <a:t>Präzision</a:t>
            </a:r>
            <a:r>
              <a:rPr lang="en-US"/>
              <a:t>.</a:t>
            </a:r>
          </a:p>
          <a:p>
            <a:br>
              <a:rPr lang="en-US"/>
            </a:br>
            <a:endParaRPr lang="en-US"/>
          </a:p>
          <a:p>
            <a:r>
              <a:rPr lang="en-US" b="1"/>
              <a:t>Externe Logistik</a:t>
            </a:r>
          </a:p>
          <a:p>
            <a:r>
              <a:rPr lang="en-US"/>
              <a:t>Die externe Logistik </a:t>
            </a:r>
            <a:r>
              <a:rPr lang="en-US" err="1"/>
              <a:t>übernimmt</a:t>
            </a:r>
            <a:r>
              <a:rPr lang="en-US"/>
              <a:t> </a:t>
            </a:r>
            <a:r>
              <a:rPr lang="en-US" err="1"/>
              <a:t>anschließend</a:t>
            </a:r>
            <a:r>
              <a:rPr lang="en-US"/>
              <a:t> den </a:t>
            </a:r>
            <a:r>
              <a:rPr lang="en-US" err="1"/>
              <a:t>weltweiten</a:t>
            </a:r>
            <a:r>
              <a:rPr lang="en-US"/>
              <a:t> Transport und die Auslieferung der </a:t>
            </a:r>
            <a:r>
              <a:rPr lang="en-US" err="1"/>
              <a:t>Fahrzeuge</a:t>
            </a:r>
            <a:r>
              <a:rPr lang="en-US"/>
              <a:t>.</a:t>
            </a:r>
          </a:p>
          <a:p>
            <a:br>
              <a:rPr lang="en-US"/>
            </a:br>
            <a:endParaRPr lang="en-US"/>
          </a:p>
          <a:p>
            <a:r>
              <a:rPr lang="en-US" b="1"/>
              <a:t>Marketing &amp; </a:t>
            </a:r>
            <a:r>
              <a:rPr lang="en-US" b="1" err="1"/>
              <a:t>Verkauf</a:t>
            </a:r>
            <a:endParaRPr lang="en-US" b="1"/>
          </a:p>
          <a:p>
            <a:r>
              <a:rPr lang="en-US" err="1"/>
              <a:t>Im</a:t>
            </a:r>
            <a:r>
              <a:rPr lang="en-US"/>
              <a:t> Marketing </a:t>
            </a:r>
            <a:r>
              <a:rPr lang="en-US" err="1"/>
              <a:t>konzentriert</a:t>
            </a:r>
            <a:r>
              <a:rPr lang="en-US"/>
              <a:t> </a:t>
            </a:r>
            <a:r>
              <a:rPr lang="en-US" err="1"/>
              <a:t>sich</a:t>
            </a:r>
            <a:r>
              <a:rPr lang="en-US"/>
              <a:t> Porsche stark auf </a:t>
            </a:r>
            <a:r>
              <a:rPr lang="en-US" err="1"/>
              <a:t>Exklusivität</a:t>
            </a:r>
            <a:r>
              <a:rPr lang="en-US"/>
              <a:t>, </a:t>
            </a:r>
            <a:r>
              <a:rPr lang="en-US" err="1"/>
              <a:t>Emotionen</a:t>
            </a:r>
            <a:r>
              <a:rPr lang="en-US"/>
              <a:t> und </a:t>
            </a:r>
            <a:r>
              <a:rPr lang="en-US" err="1"/>
              <a:t>Markenimage</a:t>
            </a:r>
            <a:r>
              <a:rPr lang="en-US"/>
              <a:t>.</a:t>
            </a:r>
          </a:p>
          <a:p>
            <a:r>
              <a:rPr lang="en-US" err="1"/>
              <a:t>Dadurch</a:t>
            </a:r>
            <a:r>
              <a:rPr lang="en-US"/>
              <a:t> </a:t>
            </a:r>
            <a:r>
              <a:rPr lang="en-US" err="1"/>
              <a:t>kann</a:t>
            </a:r>
            <a:r>
              <a:rPr lang="en-US"/>
              <a:t> das </a:t>
            </a:r>
            <a:r>
              <a:rPr lang="en-US" err="1"/>
              <a:t>Unternehmen</a:t>
            </a:r>
            <a:r>
              <a:rPr lang="en-US"/>
              <a:t> </a:t>
            </a:r>
            <a:r>
              <a:rPr lang="en-US" err="1"/>
              <a:t>hohe</a:t>
            </a:r>
            <a:r>
              <a:rPr lang="en-US"/>
              <a:t> </a:t>
            </a:r>
            <a:r>
              <a:rPr lang="en-US" err="1"/>
              <a:t>Preise</a:t>
            </a:r>
            <a:r>
              <a:rPr lang="en-US"/>
              <a:t> und </a:t>
            </a:r>
            <a:r>
              <a:rPr lang="en-US" err="1"/>
              <a:t>starke</a:t>
            </a:r>
            <a:r>
              <a:rPr lang="en-US"/>
              <a:t> </a:t>
            </a:r>
            <a:r>
              <a:rPr lang="en-US" err="1"/>
              <a:t>Kundenbindungen</a:t>
            </a:r>
            <a:r>
              <a:rPr lang="en-US"/>
              <a:t> </a:t>
            </a:r>
            <a:r>
              <a:rPr lang="en-US" err="1"/>
              <a:t>erzielen</a:t>
            </a:r>
            <a:r>
              <a:rPr lang="en-US"/>
              <a:t>.</a:t>
            </a:r>
          </a:p>
          <a:p>
            <a:br>
              <a:rPr lang="en-US"/>
            </a:br>
            <a:endParaRPr lang="en-US"/>
          </a:p>
          <a:p>
            <a:r>
              <a:rPr lang="en-US" b="1"/>
              <a:t>Service</a:t>
            </a:r>
          </a:p>
          <a:p>
            <a:r>
              <a:rPr lang="en-US"/>
              <a:t>Der </a:t>
            </a:r>
            <a:r>
              <a:rPr lang="en-US" err="1"/>
              <a:t>Servicebereich</a:t>
            </a:r>
            <a:r>
              <a:rPr lang="en-US"/>
              <a:t> </a:t>
            </a:r>
            <a:r>
              <a:rPr lang="en-US" err="1"/>
              <a:t>umfasst</a:t>
            </a:r>
            <a:r>
              <a:rPr lang="en-US"/>
              <a:t> </a:t>
            </a:r>
            <a:r>
              <a:rPr lang="en-US" err="1"/>
              <a:t>Wartung</a:t>
            </a:r>
            <a:r>
              <a:rPr lang="en-US"/>
              <a:t>, </a:t>
            </a:r>
            <a:r>
              <a:rPr lang="en-US" err="1"/>
              <a:t>Ersatzteile</a:t>
            </a:r>
            <a:r>
              <a:rPr lang="en-US"/>
              <a:t>, </a:t>
            </a:r>
            <a:r>
              <a:rPr lang="en-US" err="1"/>
              <a:t>Finanzierung</a:t>
            </a:r>
            <a:r>
              <a:rPr lang="en-US"/>
              <a:t> und </a:t>
            </a:r>
            <a:r>
              <a:rPr lang="en-US" err="1"/>
              <a:t>digitale</a:t>
            </a:r>
            <a:r>
              <a:rPr lang="en-US"/>
              <a:t> </a:t>
            </a:r>
            <a:r>
              <a:rPr lang="en-US" err="1"/>
              <a:t>Dienste</a:t>
            </a:r>
            <a:r>
              <a:rPr lang="en-US"/>
              <a:t> </a:t>
            </a:r>
            <a:r>
              <a:rPr lang="en-US" err="1"/>
              <a:t>wie</a:t>
            </a:r>
            <a:r>
              <a:rPr lang="en-US"/>
              <a:t> Porsche Connect.</a:t>
            </a:r>
          </a:p>
          <a:p>
            <a:r>
              <a:rPr lang="en-US"/>
              <a:t>Auch </a:t>
            </a:r>
            <a:r>
              <a:rPr lang="en-US" err="1"/>
              <a:t>nach</a:t>
            </a:r>
            <a:r>
              <a:rPr lang="en-US"/>
              <a:t> dem </a:t>
            </a:r>
            <a:r>
              <a:rPr lang="en-US" err="1"/>
              <a:t>Fahrzeugverkauf</a:t>
            </a:r>
            <a:r>
              <a:rPr lang="en-US"/>
              <a:t> </a:t>
            </a:r>
            <a:r>
              <a:rPr lang="en-US" err="1"/>
              <a:t>erzielt</a:t>
            </a:r>
            <a:r>
              <a:rPr lang="en-US"/>
              <a:t> Porsche </a:t>
            </a:r>
            <a:r>
              <a:rPr lang="en-US" err="1"/>
              <a:t>dadurch</a:t>
            </a:r>
            <a:r>
              <a:rPr lang="en-US"/>
              <a:t> </a:t>
            </a:r>
            <a:r>
              <a:rPr lang="en-US" err="1"/>
              <a:t>langfristige</a:t>
            </a:r>
            <a:r>
              <a:rPr lang="en-US"/>
              <a:t> </a:t>
            </a:r>
            <a:r>
              <a:rPr lang="en-US" err="1"/>
              <a:t>Umsätze</a:t>
            </a:r>
            <a:r>
              <a:rPr lang="en-US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9947BD-AC0A-9B48-9B0D-917726E2A866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65531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9947BD-AC0A-9B48-9B0D-917726E2A866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785303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9947BD-AC0A-9B48-9B0D-917726E2A866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708036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.svg"/><Relationship Id="rId4" Type="http://schemas.openxmlformats.org/officeDocument/2006/relationships/image" Target="../media/image7.emf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6835BB-5024-A1C7-ABE9-0341D5F0FC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3911" y="3681413"/>
            <a:ext cx="5552089" cy="1008062"/>
          </a:xfrm>
        </p:spPr>
        <p:txBody>
          <a:bodyPr anchor="b">
            <a:noAutofit/>
          </a:bodyPr>
          <a:lstStyle>
            <a:lvl1pPr marL="0" indent="0" algn="l">
              <a:tabLst>
                <a:tab pos="1196975" algn="l"/>
              </a:tabLst>
              <a:defRPr sz="4400"/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A4B903B-E824-DC2A-D5EE-832438D3D7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3911" y="4689475"/>
            <a:ext cx="5552089" cy="1368425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rgbClr val="FF0000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D49AFDA-1445-F383-D815-4307B7561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908975-BF0A-7B44-92E1-7652B37C0A9E}" type="datetime1">
              <a:rPr lang="de-DE" smtClean="0"/>
              <a:t>08.06.26</a:t>
            </a:fld>
            <a:endParaRPr lang="de-DE"/>
          </a:p>
        </p:txBody>
      </p:sp>
      <p:pic>
        <p:nvPicPr>
          <p:cNvPr id="8" name="Grafik 7" descr="Ein Bild, das Screenshot, Grafiken, Farbigkeit, Design enthält.&#10;&#10;KI-generierte Inhalte können fehlerhaft sein.">
            <a:extLst>
              <a:ext uri="{FF2B5EF4-FFF2-40B4-BE49-F238E27FC236}">
                <a16:creationId xmlns:a16="http://schemas.microsoft.com/office/drawing/2014/main" id="{8416B358-A337-2326-C132-A831054AC8C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33683" r="9036"/>
          <a:stretch>
            <a:fillRect/>
          </a:stretch>
        </p:blipFill>
        <p:spPr>
          <a:xfrm>
            <a:off x="4588149" y="0"/>
            <a:ext cx="7603852" cy="653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26877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ildplatzhalter 9">
            <a:extLst>
              <a:ext uri="{FF2B5EF4-FFF2-40B4-BE49-F238E27FC236}">
                <a16:creationId xmlns:a16="http://schemas.microsoft.com/office/drawing/2014/main" id="{4BB9CDF1-B297-003F-51F3-9B2108EDE01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94438" y="0"/>
            <a:ext cx="5897562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4" name="Bildplatzhalter 9">
            <a:extLst>
              <a:ext uri="{FF2B5EF4-FFF2-40B4-BE49-F238E27FC236}">
                <a16:creationId xmlns:a16="http://schemas.microsoft.com/office/drawing/2014/main" id="{6AEE34B1-50E2-4B47-C5CE-1BCDB66B0CB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4438" y="0"/>
            <a:ext cx="5897562" cy="6858000"/>
          </a:xfrm>
          <a:blipFill>
            <a:blip r:embed="rId2"/>
            <a:srcRect/>
            <a:stretch>
              <a:fillRect l="-18202" t="-37000" r="-20897" b="-3966"/>
            </a:stretch>
          </a:blipFill>
        </p:spPr>
        <p:txBody>
          <a:bodyPr anchor="ctr" anchorCtr="0"/>
          <a:lstStyle>
            <a:lvl1pPr marL="0" indent="0" algn="ctr"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5" name="Titel 1">
            <a:extLst>
              <a:ext uri="{FF2B5EF4-FFF2-40B4-BE49-F238E27FC236}">
                <a16:creationId xmlns:a16="http://schemas.microsoft.com/office/drawing/2014/main" id="{3B5EF654-B420-054C-7747-7097602FAF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3911" y="3681413"/>
            <a:ext cx="5552089" cy="1008062"/>
          </a:xfrm>
        </p:spPr>
        <p:txBody>
          <a:bodyPr anchor="b">
            <a:noAutofit/>
          </a:bodyPr>
          <a:lstStyle>
            <a:lvl1pPr algn="l">
              <a:defRPr sz="4400"/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6" name="Untertitel 2">
            <a:extLst>
              <a:ext uri="{FF2B5EF4-FFF2-40B4-BE49-F238E27FC236}">
                <a16:creationId xmlns:a16="http://schemas.microsoft.com/office/drawing/2014/main" id="{5B781F5A-9C0B-2307-5AB3-FDE2111EE3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3911" y="4689475"/>
            <a:ext cx="5552089" cy="1368425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rgbClr val="FF0000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17" name="Datumsplatzhalter 3">
            <a:extLst>
              <a:ext uri="{FF2B5EF4-FFF2-40B4-BE49-F238E27FC236}">
                <a16:creationId xmlns:a16="http://schemas.microsoft.com/office/drawing/2014/main" id="{C6D50DC1-23BE-8003-930B-142EDFF7F8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43911" y="6356350"/>
            <a:ext cx="840272" cy="365125"/>
          </a:xfrm>
        </p:spPr>
        <p:txBody>
          <a:bodyPr/>
          <a:lstStyle/>
          <a:p>
            <a:fld id="{E6908975-BF0A-7B44-92E1-7652B37C0A9E}" type="datetime1">
              <a:rPr lang="de-DE" smtClean="0"/>
              <a:t>08.06.26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154632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elfoli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6835BB-5024-A1C7-ABE9-0341D5F0FC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3911" y="3681414"/>
            <a:ext cx="7622627" cy="1008062"/>
          </a:xfrm>
        </p:spPr>
        <p:txBody>
          <a:bodyPr anchor="b">
            <a:noAutofit/>
          </a:bodyPr>
          <a:lstStyle>
            <a:lvl1pPr algn="l">
              <a:defRPr sz="4400"/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A4B903B-E824-DC2A-D5EE-832438D3D7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3911" y="4689475"/>
            <a:ext cx="7622627" cy="1368425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rgbClr val="FF0000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FB41D2F4-E2E9-663D-6BE3-B10F57AAFA9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26615" y="399149"/>
            <a:ext cx="1147882" cy="450954"/>
          </a:xfrm>
          <a:prstGeom prst="rect">
            <a:avLst/>
          </a:prstGeom>
        </p:spPr>
      </p:pic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9DDC081-102F-BDE1-6BB3-B036B127D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10CFF0C-8F05-5B4F-958E-2D3A512F7134}" type="datetime1">
              <a:rPr lang="de-DE" smtClean="0"/>
              <a:t>08.06.26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B8C5D519-039E-19B9-8822-25159C1EE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Mustervorlage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D2ED714-94F1-BB28-0FE4-72A19E3C7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06C6BFE-10C3-7B49-A3EE-08AD7A863B95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708686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elfoli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6835BB-5024-A1C7-ABE9-0341D5F0FC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3911" y="3681413"/>
            <a:ext cx="7622627" cy="1008062"/>
          </a:xfrm>
        </p:spPr>
        <p:txBody>
          <a:bodyPr anchor="b">
            <a:noAutofit/>
          </a:bodyPr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A4B903B-E824-DC2A-D5EE-832438D3D7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3911" y="4689475"/>
            <a:ext cx="7622627" cy="1368425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AFC81DED-1C61-A990-4421-BF93530D0B1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26615" y="399149"/>
            <a:ext cx="1147882" cy="450954"/>
          </a:xfrm>
          <a:prstGeom prst="rect">
            <a:avLst/>
          </a:prstGeom>
        </p:spPr>
      </p:pic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A133322-570A-5589-86B2-A7491CEABF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960C1A-4C90-2E4A-9FBA-73421506A88D}" type="datetime1">
              <a:rPr lang="de-DE" smtClean="0"/>
              <a:t>08.06.26</a:t>
            </a:fld>
            <a:endParaRPr lang="de-DE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38E312DC-69B4-455B-CCC0-EB07715CB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Mustervorlage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E1E32844-810C-5533-00CD-55FE0F271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C6BFE-10C3-7B49-A3EE-08AD7A863B95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83629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6835BB-5024-A1C7-ABE9-0341D5F0FC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3911" y="3681414"/>
            <a:ext cx="5552089" cy="1008062"/>
          </a:xfrm>
        </p:spPr>
        <p:txBody>
          <a:bodyPr anchor="b">
            <a:noAutofit/>
          </a:bodyPr>
          <a:lstStyle>
            <a:lvl1pPr algn="l">
              <a:defRPr sz="4400"/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A4B903B-E824-DC2A-D5EE-832438D3D7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3911" y="4689477"/>
            <a:ext cx="5552089" cy="1368424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rgbClr val="FF0000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10" name="Bildplatzhalter 9">
            <a:extLst>
              <a:ext uri="{FF2B5EF4-FFF2-40B4-BE49-F238E27FC236}">
                <a16:creationId xmlns:a16="http://schemas.microsoft.com/office/drawing/2014/main" id="{9A604256-841C-4D2B-3243-CEEBD1168A3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43650" y="850102"/>
            <a:ext cx="5395913" cy="5207797"/>
          </a:xfrm>
          <a:prstGeom prst="roundRect">
            <a:avLst>
              <a:gd name="adj" fmla="val 2169"/>
            </a:avLst>
          </a:prstGeom>
          <a:blipFill dpi="0" rotWithShape="1">
            <a:blip r:embed="rId2"/>
            <a:srcRect/>
            <a:stretch>
              <a:fillRect t="-28000" b="-28000"/>
            </a:stretch>
          </a:blipFill>
        </p:spPr>
        <p:txBody>
          <a:bodyPr anchor="ctr" anchorCtr="0"/>
          <a:lstStyle>
            <a:lvl1pPr marL="0" indent="0" algn="ctr"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CD1F493-3119-07FB-1D11-7D97704B7A2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E56552F4-6F3B-C44D-96F7-080D1640F3B7}" type="datetime1">
              <a:rPr lang="de-DE" smtClean="0"/>
              <a:t>08.06.26</a:t>
            </a:fld>
            <a:endParaRPr lang="de-DE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21BFB02B-6F25-DA0D-B965-E6FA03B517C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Mustervorlage</a:t>
            </a:r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A88C1931-7273-AF4A-4986-4C61AE7EF2D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06C6BFE-10C3-7B49-A3EE-08AD7A863B95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0DB4244-4AA7-4A30-568D-86E7A7B37C2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26615" y="399149"/>
            <a:ext cx="1147882" cy="450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98800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A30F62-F4F4-9A4B-FFF1-F7E158576E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7697" y="1484314"/>
            <a:ext cx="7256605" cy="2197100"/>
          </a:xfrm>
        </p:spPr>
        <p:txBody>
          <a:bodyPr anchor="b">
            <a:normAutofit/>
          </a:bodyPr>
          <a:lstStyle>
            <a:lvl1pPr algn="ctr">
              <a:defRPr lang="de-DE" sz="3200" smtClean="0">
                <a:effectLst/>
              </a:defRPr>
            </a:lvl1pPr>
          </a:lstStyle>
          <a:p>
            <a:endParaRPr lang="de-DE" dirty="0">
              <a:solidFill>
                <a:srgbClr val="281537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C74D24C-D863-144A-34E1-4B91A08AC9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467697" y="3681414"/>
            <a:ext cx="7256605" cy="1008061"/>
          </a:xfrm>
        </p:spPr>
        <p:txBody>
          <a:bodyPr>
            <a:normAutofit/>
          </a:bodyPr>
          <a:lstStyle>
            <a:lvl1pPr marL="0" indent="0" algn="ctr">
              <a:buNone/>
              <a:defRPr sz="16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6874D23-37EF-2E90-E1CB-DBA8AEAB5B5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26615" y="399149"/>
            <a:ext cx="1147882" cy="450954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FD721BC-88F0-FAC7-6C03-BA460883D3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0C23B-F603-0B4F-8B62-A0A61135CA55}" type="datetime1">
              <a:rPr lang="de-DE" smtClean="0"/>
              <a:t>08.06.26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3355C3F-8289-E7E0-81EC-1473B5124A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Mustervorlage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BADC4492-B4A0-A18B-342D-870A7835A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C6BFE-10C3-7B49-A3EE-08AD7A863B9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909826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CCFDD4-DF7C-FA52-ADF0-FAE138EF7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529977E-34F7-D280-09DC-5E5D0D55F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3911" y="1484314"/>
            <a:ext cx="11104178" cy="4573586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54FC1702-27D6-4CED-913B-B2FB36238C0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26615" y="399149"/>
            <a:ext cx="1147882" cy="450954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1031C7D-7194-F853-8B38-7CA3FBFEAC7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320A95A9-9D15-B549-B5F5-E03914B12E3F}" type="datetime1">
              <a:rPr lang="de-DE" smtClean="0"/>
              <a:t>08.06.26</a:t>
            </a:fld>
            <a:endParaRPr lang="de-DE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08A65E2A-6071-7785-1799-AF9F21EA54B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Mustervorlage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6FEDE1AA-1A8C-D552-94F8-9A1FAC82418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06C6BFE-10C3-7B49-A3EE-08AD7A863B95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649357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3C5052-DE91-A250-59D5-8BBB82E56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0C1BD87-7F2E-B790-884E-E542896EEC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3909" y="1484313"/>
            <a:ext cx="5242037" cy="4573587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6FAFD16-88B3-20A6-AF3B-4AEB243EC5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6052" y="1484313"/>
            <a:ext cx="5242037" cy="4573587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8672A6BA-22DE-4931-F349-02DD4F7C302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26615" y="399149"/>
            <a:ext cx="1147882" cy="450954"/>
          </a:xfrm>
          <a:prstGeom prst="rect">
            <a:avLst/>
          </a:prstGeom>
        </p:spPr>
      </p:pic>
      <p:sp>
        <p:nvSpPr>
          <p:cNvPr id="11" name="Datumsplatzhalter 10">
            <a:extLst>
              <a:ext uri="{FF2B5EF4-FFF2-40B4-BE49-F238E27FC236}">
                <a16:creationId xmlns:a16="http://schemas.microsoft.com/office/drawing/2014/main" id="{39493376-CDDE-90F2-464C-71BBBAEA942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4CD6FDA-B7F6-5047-985E-6A0FD4BA3661}" type="datetime1">
              <a:rPr lang="de-DE" smtClean="0"/>
              <a:t>08.06.26</a:t>
            </a:fld>
            <a:endParaRPr lang="de-DE"/>
          </a:p>
        </p:txBody>
      </p:sp>
      <p:sp>
        <p:nvSpPr>
          <p:cNvPr id="12" name="Fußzeilenplatzhalter 11">
            <a:extLst>
              <a:ext uri="{FF2B5EF4-FFF2-40B4-BE49-F238E27FC236}">
                <a16:creationId xmlns:a16="http://schemas.microsoft.com/office/drawing/2014/main" id="{A3F1EA03-6679-4810-0864-83DEEEE3FE2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Mustervorlage</a:t>
            </a:r>
            <a:endParaRPr lang="de-DE" dirty="0"/>
          </a:p>
        </p:txBody>
      </p:sp>
      <p:sp>
        <p:nvSpPr>
          <p:cNvPr id="13" name="Foliennummernplatzhalter 12">
            <a:extLst>
              <a:ext uri="{FF2B5EF4-FFF2-40B4-BE49-F238E27FC236}">
                <a16:creationId xmlns:a16="http://schemas.microsoft.com/office/drawing/2014/main" id="{4C76C0EA-23C6-B2DB-AAAE-174A3FD65F8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06C6BFE-10C3-7B49-A3EE-08AD7A863B95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952371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3C5052-DE91-A250-59D5-8BBB82E565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11" y="692150"/>
            <a:ext cx="5242039" cy="576264"/>
          </a:xfrm>
        </p:spPr>
        <p:txBody>
          <a:bodyPr/>
          <a:lstStyle/>
          <a:p>
            <a:r>
              <a:rPr lang="de-DE" dirty="0"/>
              <a:t>Mastertitelformat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0C1BD87-7F2E-B790-884E-E542896EEC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3910" y="1484313"/>
            <a:ext cx="5242040" cy="457358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A970ECD-A41E-AD56-2419-461B1047176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E347064-846C-BF4C-B56D-8A607B294559}" type="datetime1">
              <a:rPr lang="de-DE" smtClean="0"/>
              <a:t>08.06.26</a:t>
            </a:fld>
            <a:endParaRPr lang="de-DE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8F11290D-2078-84D6-496D-313EF1242C0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Mustervorlage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D4211101-125D-96FE-8103-367BD75D38A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06C6BFE-10C3-7B49-A3EE-08AD7A863B95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FB8757C-D8A0-2CDA-F4E0-4960E00AFAF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26615" y="399149"/>
            <a:ext cx="1147882" cy="450954"/>
          </a:xfrm>
          <a:prstGeom prst="rect">
            <a:avLst/>
          </a:prstGeom>
        </p:spPr>
      </p:pic>
      <p:sp>
        <p:nvSpPr>
          <p:cNvPr id="8" name="Bildplatzhalter 9">
            <a:extLst>
              <a:ext uri="{FF2B5EF4-FFF2-40B4-BE49-F238E27FC236}">
                <a16:creationId xmlns:a16="http://schemas.microsoft.com/office/drawing/2014/main" id="{D1B2CA4E-4EB2-B740-93BE-744C543F1F3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43650" y="850102"/>
            <a:ext cx="5395913" cy="5207797"/>
          </a:xfrm>
          <a:prstGeom prst="roundRect">
            <a:avLst>
              <a:gd name="adj" fmla="val 2169"/>
            </a:avLst>
          </a:prstGeom>
          <a:blipFill>
            <a:blip r:embed="rId3"/>
            <a:srcRect/>
            <a:stretch>
              <a:fillRect t="-27659" b="-27659"/>
            </a:stretch>
          </a:blipFill>
        </p:spPr>
        <p:txBody>
          <a:bodyPr anchor="ctr" anchorCtr="0"/>
          <a:lstStyle>
            <a:lvl1pPr marL="0" indent="0" algn="ctr">
              <a:buFontTx/>
              <a:buNone/>
              <a:defRPr/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99624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elfoli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>
            <a:extLst>
              <a:ext uri="{FF2B5EF4-FFF2-40B4-BE49-F238E27FC236}">
                <a16:creationId xmlns:a16="http://schemas.microsoft.com/office/drawing/2014/main" id="{8851010C-A6A3-33DF-E906-3768FEF56C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  <a:blipFill>
            <a:blip r:embed="rId2"/>
            <a:srcRect/>
            <a:stretch>
              <a:fillRect t="-83239" b="-83239"/>
            </a:stretch>
          </a:blipFill>
        </p:spPr>
        <p:txBody>
          <a:bodyPr anchor="ctr" anchorCtr="0"/>
          <a:lstStyle>
            <a:lvl1pPr marL="0" indent="0" algn="ctr"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86835BB-5024-A1C7-ABE9-0341D5F0FC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3911" y="692150"/>
            <a:ext cx="11104178" cy="576263"/>
          </a:xfrm>
        </p:spPr>
        <p:txBody>
          <a:bodyPr anchor="b"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A4B903B-E824-DC2A-D5EE-832438D3D7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3911" y="1484313"/>
            <a:ext cx="11104178" cy="968437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rgbClr val="FF0000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7081DAF1-D109-E614-F056-52DAE2BC59B3}"/>
              </a:ext>
            </a:extLst>
          </p:cNvPr>
          <p:cNvGrpSpPr/>
          <p:nvPr userDrawn="1"/>
        </p:nvGrpSpPr>
        <p:grpSpPr>
          <a:xfrm>
            <a:off x="10884141" y="488730"/>
            <a:ext cx="891145" cy="214962"/>
            <a:chOff x="10884141" y="488730"/>
            <a:chExt cx="891145" cy="214962"/>
          </a:xfrm>
        </p:grpSpPr>
        <p:sp>
          <p:nvSpPr>
            <p:cNvPr id="6" name="Freihandform 5">
              <a:extLst>
                <a:ext uri="{FF2B5EF4-FFF2-40B4-BE49-F238E27FC236}">
                  <a16:creationId xmlns:a16="http://schemas.microsoft.com/office/drawing/2014/main" id="{AC4B619C-86C7-4835-475D-CDDF7F43EE45}"/>
                </a:ext>
              </a:extLst>
            </p:cNvPr>
            <p:cNvSpPr/>
            <p:nvPr/>
          </p:nvSpPr>
          <p:spPr>
            <a:xfrm>
              <a:off x="10884141" y="490542"/>
              <a:ext cx="676635" cy="213150"/>
            </a:xfrm>
            <a:custGeom>
              <a:avLst/>
              <a:gdLst>
                <a:gd name="connsiteX0" fmla="*/ 0 w 676635"/>
                <a:gd name="connsiteY0" fmla="*/ 0 h 213150"/>
                <a:gd name="connsiteX1" fmla="*/ 36691 w 676635"/>
                <a:gd name="connsiteY1" fmla="*/ 0 h 213150"/>
                <a:gd name="connsiteX2" fmla="*/ 36691 w 676635"/>
                <a:gd name="connsiteY2" fmla="*/ 77765 h 213150"/>
                <a:gd name="connsiteX3" fmla="*/ 37614 w 676635"/>
                <a:gd name="connsiteY3" fmla="*/ 77765 h 213150"/>
                <a:gd name="connsiteX4" fmla="*/ 80044 w 676635"/>
                <a:gd name="connsiteY4" fmla="*/ 56319 h 213150"/>
                <a:gd name="connsiteX5" fmla="*/ 133954 w 676635"/>
                <a:gd name="connsiteY5" fmla="*/ 113440 h 213150"/>
                <a:gd name="connsiteX6" fmla="*/ 133954 w 676635"/>
                <a:gd name="connsiteY6" fmla="*/ 210044 h 213150"/>
                <a:gd name="connsiteX7" fmla="*/ 97263 w 676635"/>
                <a:gd name="connsiteY7" fmla="*/ 210044 h 213150"/>
                <a:gd name="connsiteX8" fmla="*/ 97263 w 676635"/>
                <a:gd name="connsiteY8" fmla="*/ 122659 h 213150"/>
                <a:gd name="connsiteX9" fmla="*/ 68668 w 676635"/>
                <a:gd name="connsiteY9" fmla="*/ 87886 h 213150"/>
                <a:gd name="connsiteX10" fmla="*/ 36794 w 676635"/>
                <a:gd name="connsiteY10" fmla="*/ 125566 h 213150"/>
                <a:gd name="connsiteX11" fmla="*/ 36794 w 676635"/>
                <a:gd name="connsiteY11" fmla="*/ 210044 h 213150"/>
                <a:gd name="connsiteX12" fmla="*/ 102 w 676635"/>
                <a:gd name="connsiteY12" fmla="*/ 210044 h 213150"/>
                <a:gd name="connsiteX13" fmla="*/ 102 w 676635"/>
                <a:gd name="connsiteY13" fmla="*/ 0 h 213150"/>
                <a:gd name="connsiteX14" fmla="*/ 161626 w 676635"/>
                <a:gd name="connsiteY14" fmla="*/ 183989 h 213150"/>
                <a:gd name="connsiteX15" fmla="*/ 230601 w 676635"/>
                <a:gd name="connsiteY15" fmla="*/ 213151 h 213150"/>
                <a:gd name="connsiteX16" fmla="*/ 298654 w 676635"/>
                <a:gd name="connsiteY16" fmla="*/ 161943 h 213150"/>
                <a:gd name="connsiteX17" fmla="*/ 257454 w 676635"/>
                <a:gd name="connsiteY17" fmla="*/ 119854 h 213150"/>
                <a:gd name="connsiteX18" fmla="*/ 234291 w 676635"/>
                <a:gd name="connsiteY18" fmla="*/ 115444 h 213150"/>
                <a:gd name="connsiteX19" fmla="*/ 205081 w 676635"/>
                <a:gd name="connsiteY19" fmla="*/ 100412 h 213150"/>
                <a:gd name="connsiteX20" fmla="*/ 230089 w 676635"/>
                <a:gd name="connsiteY20" fmla="*/ 83677 h 213150"/>
                <a:gd name="connsiteX21" fmla="*/ 264423 w 676635"/>
                <a:gd name="connsiteY21" fmla="*/ 98408 h 213150"/>
                <a:gd name="connsiteX22" fmla="*/ 290968 w 676635"/>
                <a:gd name="connsiteY22" fmla="*/ 80771 h 213150"/>
                <a:gd name="connsiteX23" fmla="*/ 230499 w 676635"/>
                <a:gd name="connsiteY23" fmla="*/ 56019 h 213150"/>
                <a:gd name="connsiteX24" fmla="*/ 169415 w 676635"/>
                <a:gd name="connsiteY24" fmla="*/ 105523 h 213150"/>
                <a:gd name="connsiteX25" fmla="*/ 211538 w 676635"/>
                <a:gd name="connsiteY25" fmla="*/ 144706 h 213150"/>
                <a:gd name="connsiteX26" fmla="*/ 231729 w 676635"/>
                <a:gd name="connsiteY26" fmla="*/ 148214 h 213150"/>
                <a:gd name="connsiteX27" fmla="*/ 260631 w 676635"/>
                <a:gd name="connsiteY27" fmla="*/ 166152 h 213150"/>
                <a:gd name="connsiteX28" fmla="*/ 230191 w 676635"/>
                <a:gd name="connsiteY28" fmla="*/ 184691 h 213150"/>
                <a:gd name="connsiteX29" fmla="*/ 187761 w 676635"/>
                <a:gd name="connsiteY29" fmla="*/ 164949 h 213150"/>
                <a:gd name="connsiteX30" fmla="*/ 161831 w 676635"/>
                <a:gd name="connsiteY30" fmla="*/ 184089 h 213150"/>
                <a:gd name="connsiteX31" fmla="*/ 327249 w 676635"/>
                <a:gd name="connsiteY31" fmla="*/ 209944 h 213150"/>
                <a:gd name="connsiteX32" fmla="*/ 363940 w 676635"/>
                <a:gd name="connsiteY32" fmla="*/ 209944 h 213150"/>
                <a:gd name="connsiteX33" fmla="*/ 363940 w 676635"/>
                <a:gd name="connsiteY33" fmla="*/ 132781 h 213150"/>
                <a:gd name="connsiteX34" fmla="*/ 412418 w 676635"/>
                <a:gd name="connsiteY34" fmla="*/ 89189 h 213150"/>
                <a:gd name="connsiteX35" fmla="*/ 426254 w 676635"/>
                <a:gd name="connsiteY35" fmla="*/ 90091 h 213150"/>
                <a:gd name="connsiteX36" fmla="*/ 426254 w 676635"/>
                <a:gd name="connsiteY36" fmla="*/ 57121 h 213150"/>
                <a:gd name="connsiteX37" fmla="*/ 413955 w 676635"/>
                <a:gd name="connsiteY37" fmla="*/ 56219 h 213150"/>
                <a:gd name="connsiteX38" fmla="*/ 363633 w 676635"/>
                <a:gd name="connsiteY38" fmla="*/ 84178 h 213150"/>
                <a:gd name="connsiteX39" fmla="*/ 363018 w 676635"/>
                <a:gd name="connsiteY39" fmla="*/ 84178 h 213150"/>
                <a:gd name="connsiteX40" fmla="*/ 363018 w 676635"/>
                <a:gd name="connsiteY40" fmla="*/ 59125 h 213150"/>
                <a:gd name="connsiteX41" fmla="*/ 327146 w 676635"/>
                <a:gd name="connsiteY41" fmla="*/ 59125 h 213150"/>
                <a:gd name="connsiteX42" fmla="*/ 327146 w 676635"/>
                <a:gd name="connsiteY42" fmla="*/ 209844 h 213150"/>
                <a:gd name="connsiteX43" fmla="*/ 451261 w 676635"/>
                <a:gd name="connsiteY43" fmla="*/ 209944 h 213150"/>
                <a:gd name="connsiteX44" fmla="*/ 487952 w 676635"/>
                <a:gd name="connsiteY44" fmla="*/ 209944 h 213150"/>
                <a:gd name="connsiteX45" fmla="*/ 487952 w 676635"/>
                <a:gd name="connsiteY45" fmla="*/ 121357 h 213150"/>
                <a:gd name="connsiteX46" fmla="*/ 517777 w 676635"/>
                <a:gd name="connsiteY46" fmla="*/ 87786 h 213150"/>
                <a:gd name="connsiteX47" fmla="*/ 545756 w 676635"/>
                <a:gd name="connsiteY47" fmla="*/ 122860 h 213150"/>
                <a:gd name="connsiteX48" fmla="*/ 545756 w 676635"/>
                <a:gd name="connsiteY48" fmla="*/ 210044 h 213150"/>
                <a:gd name="connsiteX49" fmla="*/ 582448 w 676635"/>
                <a:gd name="connsiteY49" fmla="*/ 210044 h 213150"/>
                <a:gd name="connsiteX50" fmla="*/ 582448 w 676635"/>
                <a:gd name="connsiteY50" fmla="*/ 123161 h 213150"/>
                <a:gd name="connsiteX51" fmla="*/ 611965 w 676635"/>
                <a:gd name="connsiteY51" fmla="*/ 87786 h 213150"/>
                <a:gd name="connsiteX52" fmla="*/ 639944 w 676635"/>
                <a:gd name="connsiteY52" fmla="*/ 122259 h 213150"/>
                <a:gd name="connsiteX53" fmla="*/ 639944 w 676635"/>
                <a:gd name="connsiteY53" fmla="*/ 209944 h 213150"/>
                <a:gd name="connsiteX54" fmla="*/ 676635 w 676635"/>
                <a:gd name="connsiteY54" fmla="*/ 209944 h 213150"/>
                <a:gd name="connsiteX55" fmla="*/ 676635 w 676635"/>
                <a:gd name="connsiteY55" fmla="*/ 109231 h 213150"/>
                <a:gd name="connsiteX56" fmla="*/ 622726 w 676635"/>
                <a:gd name="connsiteY56" fmla="*/ 56219 h 213150"/>
                <a:gd name="connsiteX57" fmla="*/ 575171 w 676635"/>
                <a:gd name="connsiteY57" fmla="*/ 78566 h 213150"/>
                <a:gd name="connsiteX58" fmla="*/ 574863 w 676635"/>
                <a:gd name="connsiteY58" fmla="*/ 78566 h 213150"/>
                <a:gd name="connsiteX59" fmla="*/ 530895 w 676635"/>
                <a:gd name="connsiteY59" fmla="*/ 56219 h 213150"/>
                <a:gd name="connsiteX60" fmla="*/ 487235 w 676635"/>
                <a:gd name="connsiteY60" fmla="*/ 77464 h 213150"/>
                <a:gd name="connsiteX61" fmla="*/ 486620 w 676635"/>
                <a:gd name="connsiteY61" fmla="*/ 77464 h 213150"/>
                <a:gd name="connsiteX62" fmla="*/ 486620 w 676635"/>
                <a:gd name="connsiteY62" fmla="*/ 59225 h 213150"/>
                <a:gd name="connsiteX63" fmla="*/ 451056 w 676635"/>
                <a:gd name="connsiteY63" fmla="*/ 59225 h 213150"/>
                <a:gd name="connsiteX64" fmla="*/ 451056 w 676635"/>
                <a:gd name="connsiteY64" fmla="*/ 209944 h 213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</a:cxnLst>
              <a:rect l="l" t="t" r="r" b="b"/>
              <a:pathLst>
                <a:path w="676635" h="213150">
                  <a:moveTo>
                    <a:pt x="0" y="0"/>
                  </a:moveTo>
                  <a:lnTo>
                    <a:pt x="36691" y="0"/>
                  </a:lnTo>
                  <a:lnTo>
                    <a:pt x="36691" y="77765"/>
                  </a:lnTo>
                  <a:lnTo>
                    <a:pt x="37614" y="77765"/>
                  </a:lnTo>
                  <a:cubicBezTo>
                    <a:pt x="47863" y="63334"/>
                    <a:pt x="64056" y="56319"/>
                    <a:pt x="80044" y="56319"/>
                  </a:cubicBezTo>
                  <a:cubicBezTo>
                    <a:pt x="114686" y="56319"/>
                    <a:pt x="133954" y="77464"/>
                    <a:pt x="133954" y="113440"/>
                  </a:cubicBezTo>
                  <a:lnTo>
                    <a:pt x="133954" y="210044"/>
                  </a:lnTo>
                  <a:lnTo>
                    <a:pt x="97263" y="210044"/>
                  </a:lnTo>
                  <a:lnTo>
                    <a:pt x="97263" y="122659"/>
                  </a:lnTo>
                  <a:cubicBezTo>
                    <a:pt x="97263" y="100012"/>
                    <a:pt x="87321" y="87886"/>
                    <a:pt x="68668" y="87886"/>
                  </a:cubicBezTo>
                  <a:cubicBezTo>
                    <a:pt x="48478" y="87886"/>
                    <a:pt x="36794" y="99911"/>
                    <a:pt x="36794" y="125566"/>
                  </a:cubicBezTo>
                  <a:lnTo>
                    <a:pt x="36794" y="210044"/>
                  </a:lnTo>
                  <a:lnTo>
                    <a:pt x="102" y="210044"/>
                  </a:lnTo>
                  <a:lnTo>
                    <a:pt x="102" y="0"/>
                  </a:lnTo>
                  <a:close/>
                  <a:moveTo>
                    <a:pt x="161626" y="183989"/>
                  </a:moveTo>
                  <a:cubicBezTo>
                    <a:pt x="176999" y="206036"/>
                    <a:pt x="202827" y="213151"/>
                    <a:pt x="230601" y="213151"/>
                  </a:cubicBezTo>
                  <a:cubicBezTo>
                    <a:pt x="262168" y="213151"/>
                    <a:pt x="298654" y="196616"/>
                    <a:pt x="298654" y="161943"/>
                  </a:cubicBezTo>
                  <a:cubicBezTo>
                    <a:pt x="298654" y="139295"/>
                    <a:pt x="283588" y="124864"/>
                    <a:pt x="257454" y="119854"/>
                  </a:cubicBezTo>
                  <a:lnTo>
                    <a:pt x="234291" y="115444"/>
                  </a:lnTo>
                  <a:cubicBezTo>
                    <a:pt x="218303" y="112538"/>
                    <a:pt x="205081" y="111035"/>
                    <a:pt x="205081" y="100412"/>
                  </a:cubicBezTo>
                  <a:cubicBezTo>
                    <a:pt x="205081" y="88888"/>
                    <a:pt x="215638" y="83677"/>
                    <a:pt x="230089" y="83677"/>
                  </a:cubicBezTo>
                  <a:cubicBezTo>
                    <a:pt x="244540" y="83677"/>
                    <a:pt x="255404" y="88086"/>
                    <a:pt x="264423" y="98408"/>
                  </a:cubicBezTo>
                  <a:lnTo>
                    <a:pt x="290968" y="80771"/>
                  </a:lnTo>
                  <a:cubicBezTo>
                    <a:pt x="278054" y="62833"/>
                    <a:pt x="258171" y="56019"/>
                    <a:pt x="230499" y="56019"/>
                  </a:cubicBezTo>
                  <a:cubicBezTo>
                    <a:pt x="197702" y="56019"/>
                    <a:pt x="169415" y="73956"/>
                    <a:pt x="169415" y="105523"/>
                  </a:cubicBezTo>
                  <a:cubicBezTo>
                    <a:pt x="169415" y="128171"/>
                    <a:pt x="186326" y="140297"/>
                    <a:pt x="211538" y="144706"/>
                  </a:cubicBezTo>
                  <a:lnTo>
                    <a:pt x="231729" y="148214"/>
                  </a:lnTo>
                  <a:cubicBezTo>
                    <a:pt x="252534" y="151721"/>
                    <a:pt x="260631" y="154427"/>
                    <a:pt x="260631" y="166152"/>
                  </a:cubicBezTo>
                  <a:cubicBezTo>
                    <a:pt x="260631" y="179680"/>
                    <a:pt x="245257" y="184691"/>
                    <a:pt x="230191" y="184691"/>
                  </a:cubicBezTo>
                  <a:cubicBezTo>
                    <a:pt x="212768" y="184691"/>
                    <a:pt x="197395" y="177375"/>
                    <a:pt x="187761" y="164949"/>
                  </a:cubicBezTo>
                  <a:lnTo>
                    <a:pt x="161831" y="184089"/>
                  </a:lnTo>
                  <a:moveTo>
                    <a:pt x="327249" y="209944"/>
                  </a:moveTo>
                  <a:lnTo>
                    <a:pt x="363940" y="209944"/>
                  </a:lnTo>
                  <a:lnTo>
                    <a:pt x="363940" y="132781"/>
                  </a:lnTo>
                  <a:cubicBezTo>
                    <a:pt x="363940" y="104822"/>
                    <a:pt x="384745" y="89189"/>
                    <a:pt x="412418" y="89189"/>
                  </a:cubicBezTo>
                  <a:cubicBezTo>
                    <a:pt x="417542" y="89189"/>
                    <a:pt x="421437" y="89189"/>
                    <a:pt x="426254" y="90091"/>
                  </a:cubicBezTo>
                  <a:lnTo>
                    <a:pt x="426254" y="57121"/>
                  </a:lnTo>
                  <a:cubicBezTo>
                    <a:pt x="422359" y="56219"/>
                    <a:pt x="417850" y="56219"/>
                    <a:pt x="413955" y="56219"/>
                  </a:cubicBezTo>
                  <a:cubicBezTo>
                    <a:pt x="395609" y="56219"/>
                    <a:pt x="372754" y="68244"/>
                    <a:pt x="363633" y="84178"/>
                  </a:cubicBezTo>
                  <a:lnTo>
                    <a:pt x="363018" y="84178"/>
                  </a:lnTo>
                  <a:lnTo>
                    <a:pt x="363018" y="59125"/>
                  </a:lnTo>
                  <a:lnTo>
                    <a:pt x="327146" y="59125"/>
                  </a:lnTo>
                  <a:lnTo>
                    <a:pt x="327146" y="209844"/>
                  </a:lnTo>
                  <a:close/>
                  <a:moveTo>
                    <a:pt x="451261" y="209944"/>
                  </a:moveTo>
                  <a:lnTo>
                    <a:pt x="487952" y="209944"/>
                  </a:lnTo>
                  <a:lnTo>
                    <a:pt x="487952" y="121357"/>
                  </a:lnTo>
                  <a:cubicBezTo>
                    <a:pt x="487952" y="96304"/>
                    <a:pt x="504863" y="87786"/>
                    <a:pt x="517777" y="87786"/>
                  </a:cubicBezTo>
                  <a:cubicBezTo>
                    <a:pt x="540017" y="87786"/>
                    <a:pt x="545756" y="103719"/>
                    <a:pt x="545756" y="122860"/>
                  </a:cubicBezTo>
                  <a:lnTo>
                    <a:pt x="545756" y="210044"/>
                  </a:lnTo>
                  <a:lnTo>
                    <a:pt x="582448" y="210044"/>
                  </a:lnTo>
                  <a:lnTo>
                    <a:pt x="582448" y="123161"/>
                  </a:lnTo>
                  <a:cubicBezTo>
                    <a:pt x="582448" y="103419"/>
                    <a:pt x="591159" y="87786"/>
                    <a:pt x="611965" y="87786"/>
                  </a:cubicBezTo>
                  <a:cubicBezTo>
                    <a:pt x="632770" y="87786"/>
                    <a:pt x="639944" y="101916"/>
                    <a:pt x="639944" y="122259"/>
                  </a:cubicBezTo>
                  <a:lnTo>
                    <a:pt x="639944" y="209944"/>
                  </a:lnTo>
                  <a:lnTo>
                    <a:pt x="676635" y="209944"/>
                  </a:lnTo>
                  <a:lnTo>
                    <a:pt x="676635" y="109231"/>
                  </a:lnTo>
                  <a:cubicBezTo>
                    <a:pt x="676635" y="72453"/>
                    <a:pt x="651321" y="56219"/>
                    <a:pt x="622726" y="56219"/>
                  </a:cubicBezTo>
                  <a:cubicBezTo>
                    <a:pt x="601613" y="56219"/>
                    <a:pt x="586035" y="65038"/>
                    <a:pt x="575171" y="78566"/>
                  </a:cubicBezTo>
                  <a:lnTo>
                    <a:pt x="574863" y="78566"/>
                  </a:lnTo>
                  <a:cubicBezTo>
                    <a:pt x="565229" y="64136"/>
                    <a:pt x="551393" y="56219"/>
                    <a:pt x="530895" y="56219"/>
                  </a:cubicBezTo>
                  <a:cubicBezTo>
                    <a:pt x="512857" y="56219"/>
                    <a:pt x="497791" y="63534"/>
                    <a:pt x="487235" y="77464"/>
                  </a:cubicBezTo>
                  <a:lnTo>
                    <a:pt x="486620" y="77464"/>
                  </a:lnTo>
                  <a:lnTo>
                    <a:pt x="486620" y="59225"/>
                  </a:lnTo>
                  <a:lnTo>
                    <a:pt x="451056" y="59225"/>
                  </a:lnTo>
                  <a:lnTo>
                    <a:pt x="451056" y="209944"/>
                  </a:lnTo>
                  <a:close/>
                </a:path>
              </a:pathLst>
            </a:custGeom>
            <a:solidFill>
              <a:schemeClr val="bg1"/>
            </a:solidFill>
            <a:ln w="1020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" name="Freihandform 10">
              <a:extLst>
                <a:ext uri="{FF2B5EF4-FFF2-40B4-BE49-F238E27FC236}">
                  <a16:creationId xmlns:a16="http://schemas.microsoft.com/office/drawing/2014/main" id="{066EB5D5-073F-A3C1-DE10-87DFD1E8B3C2}"/>
                </a:ext>
              </a:extLst>
            </p:cNvPr>
            <p:cNvSpPr/>
            <p:nvPr/>
          </p:nvSpPr>
          <p:spPr>
            <a:xfrm>
              <a:off x="11617786" y="488730"/>
              <a:ext cx="157500" cy="150926"/>
            </a:xfrm>
            <a:custGeom>
              <a:avLst/>
              <a:gdLst>
                <a:gd name="connsiteX0" fmla="*/ 156886 w 157500"/>
                <a:gd name="connsiteY0" fmla="*/ 77772 h 150926"/>
                <a:gd name="connsiteX1" fmla="*/ 151351 w 157500"/>
                <a:gd name="connsiteY1" fmla="*/ 87493 h 150926"/>
                <a:gd name="connsiteX2" fmla="*/ 147047 w 157500"/>
                <a:gd name="connsiteY2" fmla="*/ 89898 h 150926"/>
                <a:gd name="connsiteX3" fmla="*/ 93547 w 157500"/>
                <a:gd name="connsiteY3" fmla="*/ 89898 h 150926"/>
                <a:gd name="connsiteX4" fmla="*/ 100722 w 157500"/>
                <a:gd name="connsiteY4" fmla="*/ 102124 h 150926"/>
                <a:gd name="connsiteX5" fmla="*/ 100722 w 157500"/>
                <a:gd name="connsiteY5" fmla="*/ 106834 h 150926"/>
                <a:gd name="connsiteX6" fmla="*/ 94982 w 157500"/>
                <a:gd name="connsiteY6" fmla="*/ 116654 h 150926"/>
                <a:gd name="connsiteX7" fmla="*/ 90780 w 157500"/>
                <a:gd name="connsiteY7" fmla="*/ 118959 h 150926"/>
                <a:gd name="connsiteX8" fmla="*/ 79404 w 157500"/>
                <a:gd name="connsiteY8" fmla="*/ 118959 h 150926"/>
                <a:gd name="connsiteX9" fmla="*/ 75202 w 157500"/>
                <a:gd name="connsiteY9" fmla="*/ 116755 h 150926"/>
                <a:gd name="connsiteX10" fmla="*/ 67822 w 157500"/>
                <a:gd name="connsiteY10" fmla="*/ 104328 h 150926"/>
                <a:gd name="connsiteX11" fmla="*/ 41688 w 157500"/>
                <a:gd name="connsiteY11" fmla="*/ 148522 h 150926"/>
                <a:gd name="connsiteX12" fmla="*/ 37486 w 157500"/>
                <a:gd name="connsiteY12" fmla="*/ 150927 h 150926"/>
                <a:gd name="connsiteX13" fmla="*/ 26109 w 157500"/>
                <a:gd name="connsiteY13" fmla="*/ 150927 h 150926"/>
                <a:gd name="connsiteX14" fmla="*/ 22010 w 157500"/>
                <a:gd name="connsiteY14" fmla="*/ 148522 h 150926"/>
                <a:gd name="connsiteX15" fmla="*/ 16168 w 157500"/>
                <a:gd name="connsiteY15" fmla="*/ 138901 h 150926"/>
                <a:gd name="connsiteX16" fmla="*/ 16168 w 157500"/>
                <a:gd name="connsiteY16" fmla="*/ 134091 h 150926"/>
                <a:gd name="connsiteX17" fmla="*/ 42303 w 157500"/>
                <a:gd name="connsiteY17" fmla="*/ 89898 h 150926"/>
                <a:gd name="connsiteX18" fmla="*/ 10428 w 157500"/>
                <a:gd name="connsiteY18" fmla="*/ 89898 h 150926"/>
                <a:gd name="connsiteX19" fmla="*/ 6226 w 157500"/>
                <a:gd name="connsiteY19" fmla="*/ 87493 h 150926"/>
                <a:gd name="connsiteX20" fmla="*/ 692 w 157500"/>
                <a:gd name="connsiteY20" fmla="*/ 77772 h 150926"/>
                <a:gd name="connsiteX21" fmla="*/ 692 w 157500"/>
                <a:gd name="connsiteY21" fmla="*/ 73162 h 150926"/>
                <a:gd name="connsiteX22" fmla="*/ 6226 w 157500"/>
                <a:gd name="connsiteY22" fmla="*/ 63442 h 150926"/>
                <a:gd name="connsiteX23" fmla="*/ 10428 w 157500"/>
                <a:gd name="connsiteY23" fmla="*/ 61037 h 150926"/>
                <a:gd name="connsiteX24" fmla="*/ 42405 w 157500"/>
                <a:gd name="connsiteY24" fmla="*/ 61037 h 150926"/>
                <a:gd name="connsiteX25" fmla="*/ 16270 w 157500"/>
                <a:gd name="connsiteY25" fmla="*/ 16643 h 150926"/>
                <a:gd name="connsiteX26" fmla="*/ 16373 w 157500"/>
                <a:gd name="connsiteY26" fmla="*/ 11933 h 150926"/>
                <a:gd name="connsiteX27" fmla="*/ 22112 w 157500"/>
                <a:gd name="connsiteY27" fmla="*/ 2312 h 150926"/>
                <a:gd name="connsiteX28" fmla="*/ 26212 w 157500"/>
                <a:gd name="connsiteY28" fmla="*/ 8 h 150926"/>
                <a:gd name="connsiteX29" fmla="*/ 37690 w 157500"/>
                <a:gd name="connsiteY29" fmla="*/ 8 h 150926"/>
                <a:gd name="connsiteX30" fmla="*/ 41893 w 157500"/>
                <a:gd name="connsiteY30" fmla="*/ 2312 h 150926"/>
                <a:gd name="connsiteX31" fmla="*/ 68027 w 157500"/>
                <a:gd name="connsiteY31" fmla="*/ 46606 h 150926"/>
                <a:gd name="connsiteX32" fmla="*/ 75202 w 157500"/>
                <a:gd name="connsiteY32" fmla="*/ 34380 h 150926"/>
                <a:gd name="connsiteX33" fmla="*/ 79301 w 157500"/>
                <a:gd name="connsiteY33" fmla="*/ 31975 h 150926"/>
                <a:gd name="connsiteX34" fmla="*/ 90883 w 157500"/>
                <a:gd name="connsiteY34" fmla="*/ 31975 h 150926"/>
                <a:gd name="connsiteX35" fmla="*/ 95085 w 157500"/>
                <a:gd name="connsiteY35" fmla="*/ 34280 h 150926"/>
                <a:gd name="connsiteX36" fmla="*/ 100824 w 157500"/>
                <a:gd name="connsiteY36" fmla="*/ 43900 h 150926"/>
                <a:gd name="connsiteX37" fmla="*/ 100824 w 157500"/>
                <a:gd name="connsiteY37" fmla="*/ 48610 h 150926"/>
                <a:gd name="connsiteX38" fmla="*/ 93445 w 157500"/>
                <a:gd name="connsiteY38" fmla="*/ 61037 h 150926"/>
                <a:gd name="connsiteX39" fmla="*/ 146842 w 157500"/>
                <a:gd name="connsiteY39" fmla="*/ 61037 h 150926"/>
                <a:gd name="connsiteX40" fmla="*/ 151044 w 157500"/>
                <a:gd name="connsiteY40" fmla="*/ 63342 h 150926"/>
                <a:gd name="connsiteX41" fmla="*/ 156886 w 157500"/>
                <a:gd name="connsiteY41" fmla="*/ 73062 h 150926"/>
                <a:gd name="connsiteX42" fmla="*/ 156886 w 157500"/>
                <a:gd name="connsiteY42" fmla="*/ 77772 h 150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157500" h="150926">
                  <a:moveTo>
                    <a:pt x="156886" y="77772"/>
                  </a:moveTo>
                  <a:lnTo>
                    <a:pt x="151351" y="87493"/>
                  </a:lnTo>
                  <a:cubicBezTo>
                    <a:pt x="150429" y="88996"/>
                    <a:pt x="148789" y="89898"/>
                    <a:pt x="147047" y="89898"/>
                  </a:cubicBezTo>
                  <a:lnTo>
                    <a:pt x="93547" y="89898"/>
                  </a:lnTo>
                  <a:lnTo>
                    <a:pt x="100722" y="102124"/>
                  </a:lnTo>
                  <a:cubicBezTo>
                    <a:pt x="101541" y="103627"/>
                    <a:pt x="101541" y="105431"/>
                    <a:pt x="100722" y="106834"/>
                  </a:cubicBezTo>
                  <a:lnTo>
                    <a:pt x="94982" y="116654"/>
                  </a:lnTo>
                  <a:cubicBezTo>
                    <a:pt x="94060" y="118057"/>
                    <a:pt x="92522" y="118959"/>
                    <a:pt x="90780" y="118959"/>
                  </a:cubicBezTo>
                  <a:lnTo>
                    <a:pt x="79404" y="118959"/>
                  </a:lnTo>
                  <a:cubicBezTo>
                    <a:pt x="77661" y="119160"/>
                    <a:pt x="76124" y="118158"/>
                    <a:pt x="75202" y="116755"/>
                  </a:cubicBezTo>
                  <a:lnTo>
                    <a:pt x="67822" y="104328"/>
                  </a:lnTo>
                  <a:lnTo>
                    <a:pt x="41688" y="148522"/>
                  </a:lnTo>
                  <a:cubicBezTo>
                    <a:pt x="40868" y="150025"/>
                    <a:pt x="39228" y="150927"/>
                    <a:pt x="37486" y="150927"/>
                  </a:cubicBezTo>
                  <a:lnTo>
                    <a:pt x="26109" y="150927"/>
                  </a:lnTo>
                  <a:cubicBezTo>
                    <a:pt x="24367" y="150827"/>
                    <a:pt x="22830" y="149925"/>
                    <a:pt x="22010" y="148522"/>
                  </a:cubicBezTo>
                  <a:lnTo>
                    <a:pt x="16168" y="138901"/>
                  </a:lnTo>
                  <a:cubicBezTo>
                    <a:pt x="15245" y="137398"/>
                    <a:pt x="15245" y="135594"/>
                    <a:pt x="16168" y="134091"/>
                  </a:cubicBezTo>
                  <a:lnTo>
                    <a:pt x="42303" y="89898"/>
                  </a:lnTo>
                  <a:lnTo>
                    <a:pt x="10428" y="89898"/>
                  </a:lnTo>
                  <a:cubicBezTo>
                    <a:pt x="8686" y="89898"/>
                    <a:pt x="7149" y="88996"/>
                    <a:pt x="6226" y="87493"/>
                  </a:cubicBezTo>
                  <a:lnTo>
                    <a:pt x="692" y="77772"/>
                  </a:lnTo>
                  <a:cubicBezTo>
                    <a:pt x="-231" y="76369"/>
                    <a:pt x="-231" y="74565"/>
                    <a:pt x="692" y="73162"/>
                  </a:cubicBezTo>
                  <a:lnTo>
                    <a:pt x="6226" y="63442"/>
                  </a:lnTo>
                  <a:cubicBezTo>
                    <a:pt x="7149" y="61939"/>
                    <a:pt x="8686" y="61037"/>
                    <a:pt x="10428" y="61037"/>
                  </a:cubicBezTo>
                  <a:lnTo>
                    <a:pt x="42405" y="61037"/>
                  </a:lnTo>
                  <a:lnTo>
                    <a:pt x="16270" y="16643"/>
                  </a:lnTo>
                  <a:cubicBezTo>
                    <a:pt x="15450" y="15240"/>
                    <a:pt x="15450" y="13336"/>
                    <a:pt x="16373" y="11933"/>
                  </a:cubicBezTo>
                  <a:lnTo>
                    <a:pt x="22112" y="2312"/>
                  </a:lnTo>
                  <a:cubicBezTo>
                    <a:pt x="23034" y="909"/>
                    <a:pt x="24572" y="8"/>
                    <a:pt x="26212" y="8"/>
                  </a:cubicBezTo>
                  <a:lnTo>
                    <a:pt x="37690" y="8"/>
                  </a:lnTo>
                  <a:cubicBezTo>
                    <a:pt x="39433" y="-93"/>
                    <a:pt x="41073" y="809"/>
                    <a:pt x="41893" y="2312"/>
                  </a:cubicBezTo>
                  <a:lnTo>
                    <a:pt x="68027" y="46606"/>
                  </a:lnTo>
                  <a:lnTo>
                    <a:pt x="75202" y="34380"/>
                  </a:lnTo>
                  <a:cubicBezTo>
                    <a:pt x="76022" y="32977"/>
                    <a:pt x="77661" y="32075"/>
                    <a:pt x="79301" y="31975"/>
                  </a:cubicBezTo>
                  <a:lnTo>
                    <a:pt x="90883" y="31975"/>
                  </a:lnTo>
                  <a:cubicBezTo>
                    <a:pt x="92625" y="31975"/>
                    <a:pt x="94162" y="32877"/>
                    <a:pt x="95085" y="34280"/>
                  </a:cubicBezTo>
                  <a:lnTo>
                    <a:pt x="100824" y="43900"/>
                  </a:lnTo>
                  <a:cubicBezTo>
                    <a:pt x="101746" y="45303"/>
                    <a:pt x="101746" y="47207"/>
                    <a:pt x="100824" y="48610"/>
                  </a:cubicBezTo>
                  <a:lnTo>
                    <a:pt x="93445" y="61037"/>
                  </a:lnTo>
                  <a:lnTo>
                    <a:pt x="146842" y="61037"/>
                  </a:lnTo>
                  <a:cubicBezTo>
                    <a:pt x="148584" y="61037"/>
                    <a:pt x="150224" y="61939"/>
                    <a:pt x="151044" y="63342"/>
                  </a:cubicBezTo>
                  <a:lnTo>
                    <a:pt x="156886" y="73062"/>
                  </a:lnTo>
                  <a:cubicBezTo>
                    <a:pt x="157706" y="74565"/>
                    <a:pt x="157706" y="76369"/>
                    <a:pt x="156886" y="77772"/>
                  </a:cubicBezTo>
                  <a:close/>
                </a:path>
              </a:pathLst>
            </a:custGeom>
            <a:solidFill>
              <a:schemeClr val="accent1"/>
            </a:solidFill>
            <a:ln w="1020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F43D30D-1D91-3199-89C1-20BAD1A7FF3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286E517-27FD-724C-8CDA-B9CAAB2FEEB1}" type="datetime1">
              <a:rPr lang="de-DE" smtClean="0"/>
              <a:t>08.06.26</a:t>
            </a:fld>
            <a:endParaRPr lang="de-DE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0F01B15E-3E55-C75D-8858-B3156D9F71D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Mustervorlage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23922B38-E7F6-47F2-2A52-609C4093471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06C6BFE-10C3-7B49-A3EE-08AD7A863B95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780118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elfoli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6835BB-5024-A1C7-ABE9-0341D5F0FC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3911" y="692150"/>
            <a:ext cx="11104178" cy="576263"/>
          </a:xfrm>
        </p:spPr>
        <p:txBody>
          <a:bodyPr anchor="b">
            <a:normAutofit/>
          </a:bodyPr>
          <a:lstStyle>
            <a:lvl1pPr algn="l">
              <a:defRPr sz="36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422767E8-7326-B0A0-4B9E-47D77B89D3A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081380" y="399148"/>
            <a:ext cx="1793117" cy="704438"/>
          </a:xfrm>
          <a:prstGeom prst="rect">
            <a:avLst/>
          </a:prstGeom>
        </p:spPr>
      </p:pic>
      <p:sp>
        <p:nvSpPr>
          <p:cNvPr id="13" name="Bildplatzhalter 6">
            <a:extLst>
              <a:ext uri="{FF2B5EF4-FFF2-40B4-BE49-F238E27FC236}">
                <a16:creationId xmlns:a16="http://schemas.microsoft.com/office/drawing/2014/main" id="{9F7FC999-F62E-061E-F41B-CBB884B30B96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406052" y="1484313"/>
            <a:ext cx="2296543" cy="2296543"/>
          </a:xfrm>
          <a:prstGeom prst="roundRect">
            <a:avLst>
              <a:gd name="adj" fmla="val 5165"/>
            </a:avLst>
          </a:pr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 t="403" b="403"/>
            </a:stretch>
          </a:blipFill>
        </p:spPr>
        <p:txBody>
          <a:bodyPr anchor="ctr">
            <a:normAutofit/>
          </a:bodyPr>
          <a:lstStyle>
            <a:lvl1pPr marL="0" indent="0" algn="ctr">
              <a:buNone/>
              <a:defRPr sz="1000">
                <a:solidFill>
                  <a:schemeClr val="accent1"/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14" name="Bildplatzhalter 6">
            <a:extLst>
              <a:ext uri="{FF2B5EF4-FFF2-40B4-BE49-F238E27FC236}">
                <a16:creationId xmlns:a16="http://schemas.microsoft.com/office/drawing/2014/main" id="{4DE462C7-3B2B-2AA6-B5D2-2DECF08C3A4C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351546" y="1484313"/>
            <a:ext cx="2296543" cy="2296543"/>
          </a:xfrm>
          <a:prstGeom prst="roundRect">
            <a:avLst>
              <a:gd name="adj" fmla="val 5165"/>
            </a:avLst>
          </a:prstGeom>
          <a:blipFill>
            <a:blip r:embed="rId4"/>
            <a:srcRect/>
            <a:stretch>
              <a:fillRect t="403" b="403"/>
            </a:stretch>
          </a:blipFill>
        </p:spPr>
        <p:txBody>
          <a:bodyPr anchor="ctr">
            <a:normAutofit/>
          </a:bodyPr>
          <a:lstStyle>
            <a:lvl1pPr marL="0" indent="0" algn="ctr">
              <a:buNone/>
              <a:defRPr sz="1000">
                <a:solidFill>
                  <a:schemeClr val="accent1"/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DB00A997-7239-06A6-8E65-C1850534A35D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543910" y="1484313"/>
            <a:ext cx="5242040" cy="4573588"/>
          </a:xfrm>
        </p:spPr>
        <p:txBody>
          <a:bodyPr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1400"/>
            </a:lvl1pPr>
          </a:lstStyle>
          <a:p>
            <a:endParaRPr lang="de-DE" dirty="0">
              <a:solidFill>
                <a:srgbClr val="281537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8" name="Textplatzhalter 16">
            <a:extLst>
              <a:ext uri="{FF2B5EF4-FFF2-40B4-BE49-F238E27FC236}">
                <a16:creationId xmlns:a16="http://schemas.microsoft.com/office/drawing/2014/main" id="{E1180FBE-B9EA-F1E6-DAAF-C4F163BF9746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6385910" y="3937376"/>
            <a:ext cx="2316685" cy="1076262"/>
          </a:xfrm>
        </p:spPr>
        <p:txBody>
          <a:bodyPr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1400"/>
            </a:lvl1pPr>
          </a:lstStyle>
          <a:p>
            <a:endParaRPr lang="de-DE" dirty="0">
              <a:solidFill>
                <a:srgbClr val="281537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9" name="Textplatzhalter 16">
            <a:extLst>
              <a:ext uri="{FF2B5EF4-FFF2-40B4-BE49-F238E27FC236}">
                <a16:creationId xmlns:a16="http://schemas.microsoft.com/office/drawing/2014/main" id="{94BA8414-1060-1FDE-6C7F-2D65D197327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9372950" y="3937376"/>
            <a:ext cx="2316685" cy="1076262"/>
          </a:xfrm>
        </p:spPr>
        <p:txBody>
          <a:bodyPr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1400"/>
            </a:lvl1pPr>
          </a:lstStyle>
          <a:p>
            <a:endParaRPr lang="de-DE" dirty="0">
              <a:solidFill>
                <a:srgbClr val="281537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D0EB91DC-8562-5438-E804-47186B9D12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26615" y="399149"/>
            <a:ext cx="1147882" cy="450954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EE5A395-86D0-61D2-C5BF-26A9A0ECD7FC}"/>
              </a:ext>
            </a:extLst>
          </p:cNvPr>
          <p:cNvSpPr>
            <a:spLocks noGrp="1"/>
          </p:cNvSpPr>
          <p:nvPr>
            <p:ph type="dt" sz="half" idx="34"/>
          </p:nvPr>
        </p:nvSpPr>
        <p:spPr/>
        <p:txBody>
          <a:bodyPr/>
          <a:lstStyle/>
          <a:p>
            <a:fld id="{3DE585E0-48C3-384E-8A1D-33D83C2E17AD}" type="datetime1">
              <a:rPr lang="de-DE" smtClean="0"/>
              <a:t>08.06.26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E6F9FB85-CD16-6E42-906D-1BCA2230218D}"/>
              </a:ext>
            </a:extLst>
          </p:cNvPr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/>
              <a:t>Mustervorlage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9BC27AB4-DE0B-E444-986C-E37739C4753C}"/>
              </a:ext>
            </a:extLst>
          </p:cNvPr>
          <p:cNvSpPr>
            <a:spLocks noGrp="1"/>
          </p:cNvSpPr>
          <p:nvPr>
            <p:ph type="sldNum" sz="quarter" idx="36"/>
          </p:nvPr>
        </p:nvSpPr>
        <p:spPr/>
        <p:txBody>
          <a:bodyPr/>
          <a:lstStyle/>
          <a:p>
            <a:fld id="{006C6BFE-10C3-7B49-A3EE-08AD7A863B9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495880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00FD8F30-277A-6EAB-8DAA-C227F0B879D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26615" y="399149"/>
            <a:ext cx="1147882" cy="450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53043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7AFED4C9-7565-BACA-6DCF-DFA87C7FD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11" y="692150"/>
            <a:ext cx="11104178" cy="576262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CB75D1A-A8DF-8695-5702-1585A0CBF6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3911" y="1484313"/>
            <a:ext cx="11104178" cy="45719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EA726522-8C68-2CBF-36EB-9E22A4E232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524001" y="6356350"/>
            <a:ext cx="44489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bg2">
                    <a:lumMod val="9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Mustervorlage</a:t>
            </a:r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D6EDF63-05FF-DE46-B038-6EE9C8CD86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3911" y="6356350"/>
            <a:ext cx="8402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bg2">
                    <a:lumMod val="9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D9EADE5-CDD8-3D49-9A13-7C2A5618FC37}" type="datetime1">
              <a:rPr lang="de-DE" smtClean="0"/>
              <a:pPr/>
              <a:t>08.06.26</a:t>
            </a:fld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3A2E9A5-B66B-4DF2-6572-5E94563471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62288" y="6356350"/>
            <a:ext cx="68580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bg2">
                    <a:lumMod val="9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06C6BFE-10C3-7B49-A3EE-08AD7A863B95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181738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0" r:id="rId3"/>
    <p:sldLayoutId id="2147483662" r:id="rId4"/>
    <p:sldLayoutId id="2147483663" r:id="rId5"/>
    <p:sldLayoutId id="2147483651" r:id="rId6"/>
    <p:sldLayoutId id="2147483650" r:id="rId7"/>
    <p:sldLayoutId id="2147483652" r:id="rId8"/>
    <p:sldLayoutId id="2147483664" r:id="rId9"/>
    <p:sldLayoutId id="2147483665" r:id="rId10"/>
    <p:sldLayoutId id="2147483666" r:id="rId11"/>
    <p:sldLayoutId id="2147483655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>
          <a:solidFill>
            <a:schemeClr val="tx1"/>
          </a:solidFill>
          <a:latin typeface="Arial" panose="020B06040202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accent1"/>
        </a:buClr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19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3884" userDrawn="1">
          <p15:clr>
            <a:srgbClr val="F26B43"/>
          </p15:clr>
        </p15:guide>
        <p15:guide id="4" orient="horz" pos="436" userDrawn="1">
          <p15:clr>
            <a:srgbClr val="F26B43"/>
          </p15:clr>
        </p15:guide>
        <p15:guide id="5" orient="horz" pos="3816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935" userDrawn="1">
          <p15:clr>
            <a:srgbClr val="F26B43"/>
          </p15:clr>
        </p15:guide>
        <p15:guide id="8" orient="horz" pos="295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5.xml"/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12" Type="http://schemas.microsoft.com/office/2007/relationships/diagramDrawing" Target="../diagrams/drawing5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4.xml"/><Relationship Id="rId11" Type="http://schemas.openxmlformats.org/officeDocument/2006/relationships/diagramColors" Target="../diagrams/colors5.xml"/><Relationship Id="rId5" Type="http://schemas.openxmlformats.org/officeDocument/2006/relationships/diagramQuickStyle" Target="../diagrams/quickStyle4.xml"/><Relationship Id="rId10" Type="http://schemas.openxmlformats.org/officeDocument/2006/relationships/diagramQuickStyle" Target="../diagrams/quickStyle5.xml"/><Relationship Id="rId4" Type="http://schemas.openxmlformats.org/officeDocument/2006/relationships/diagramLayout" Target="../diagrams/layout4.xml"/><Relationship Id="rId9" Type="http://schemas.openxmlformats.org/officeDocument/2006/relationships/diagramLayout" Target="../diagrams/layout5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7.xml"/><Relationship Id="rId3" Type="http://schemas.openxmlformats.org/officeDocument/2006/relationships/diagramLayout" Target="../diagrams/layout6.xml"/><Relationship Id="rId7" Type="http://schemas.openxmlformats.org/officeDocument/2006/relationships/diagramData" Target="../diagrams/data7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6.xml"/><Relationship Id="rId11" Type="http://schemas.microsoft.com/office/2007/relationships/diagramDrawing" Target="../diagrams/drawing7.xml"/><Relationship Id="rId5" Type="http://schemas.openxmlformats.org/officeDocument/2006/relationships/diagramColors" Target="../diagrams/colors6.xml"/><Relationship Id="rId10" Type="http://schemas.openxmlformats.org/officeDocument/2006/relationships/diagramColors" Target="../diagrams/colors7.xml"/><Relationship Id="rId4" Type="http://schemas.openxmlformats.org/officeDocument/2006/relationships/diagramQuickStyle" Target="../diagrams/quickStyle6.xml"/><Relationship Id="rId9" Type="http://schemas.openxmlformats.org/officeDocument/2006/relationships/diagramQuickStyle" Target="../diagrams/quickStyle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investorrelations.porsche.com/de/ueber-uns/strategie" TargetMode="External"/><Relationship Id="rId2" Type="http://schemas.openxmlformats.org/officeDocument/2006/relationships/hyperlink" Target="https://newsroom.porsche.com/dam/jcr:fef9c29d-c204-4311-b143-61a68251ee58/Geschaefts-und_Nachhaltigkeitsbericht_2025_Porsche_AG.pdf" TargetMode="Externa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0DD9CFA5-F758-1F1E-7095-500D6D77E30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noProof="1"/>
              <a:t>Porsche AG</a:t>
            </a:r>
          </a:p>
        </p:txBody>
      </p:sp>
      <p:sp>
        <p:nvSpPr>
          <p:cNvPr id="7" name="Untertitel 6">
            <a:extLst>
              <a:ext uri="{FF2B5EF4-FFF2-40B4-BE49-F238E27FC236}">
                <a16:creationId xmlns:a16="http://schemas.microsoft.com/office/drawing/2014/main" id="{88DC92D6-3823-52B7-906A-06586FDD2C3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noProof="1"/>
              <a:t>Erick, Jonas und Tizian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6043B93-7D02-2D2C-328B-421FD5D69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CC4D2-B752-7842-BC54-29CA897C7A0B}" type="datetime1">
              <a:rPr lang="en-US" noProof="1" smtClean="0"/>
              <a:t>6/8/26</a:t>
            </a:fld>
            <a:endParaRPr lang="de-DE" noProof="1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DD78AD1A-12B3-BC86-1B22-2394678886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26615" y="399150"/>
            <a:ext cx="1147882" cy="450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5485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DBD7966C-4250-3D76-8469-A743242CF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b="1" noProof="1"/>
              <a:t>Kurzvorstellung Porsche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146FEF16-8EEF-8347-E370-F1CF63B339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sz="2400" b="1" noProof="1"/>
              <a:t>Wer ist Porsche?</a:t>
            </a:r>
          </a:p>
          <a:p>
            <a:r>
              <a:rPr lang="de-DE" noProof="1"/>
              <a:t>Deutscher Premium- und Luxusautohersteller</a:t>
            </a:r>
          </a:p>
          <a:p>
            <a:r>
              <a:rPr lang="de-DE" noProof="1"/>
              <a:t>Sitz in Stuttgart</a:t>
            </a:r>
          </a:p>
          <a:p>
            <a:r>
              <a:rPr lang="de-DE" noProof="1"/>
              <a:t>Teil des Volkswagen Konzern</a:t>
            </a:r>
          </a:p>
          <a:p>
            <a:r>
              <a:rPr lang="de-DE" noProof="1"/>
              <a:t>Fokus aus Sportwagen, SUVs und Elektromobilität</a:t>
            </a:r>
          </a:p>
          <a:p>
            <a:r>
              <a:rPr lang="de-DE" noProof="1"/>
              <a:t>High Tech/ Medium-High-Tech Automobilsektor</a:t>
            </a:r>
          </a:p>
          <a:p>
            <a:pPr marL="0" indent="0">
              <a:buNone/>
            </a:pPr>
            <a:endParaRPr lang="de-DE" noProof="1"/>
          </a:p>
          <a:p>
            <a:pPr marL="0" indent="0">
              <a:buNone/>
            </a:pPr>
            <a:r>
              <a:rPr lang="de-DE" sz="2400" b="1" noProof="1"/>
              <a:t>Kennzahlen 2025:</a:t>
            </a:r>
          </a:p>
          <a:p>
            <a:r>
              <a:rPr lang="de-DE" noProof="1"/>
              <a:t>Umsatz: 36,27 Mrd. €</a:t>
            </a:r>
          </a:p>
          <a:p>
            <a:r>
              <a:rPr lang="de-DE" noProof="1"/>
              <a:t>Ausgelieferte Fahrzeuge: 279.449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FB72C6F-6B79-073F-A15E-10D6D22F180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4ECCF49-F9F1-F44B-A18C-FAF24F70FFC5}" type="datetime1">
              <a:rPr lang="en-US" noProof="1" smtClean="0"/>
              <a:t>6/8/26</a:t>
            </a:fld>
            <a:endParaRPr lang="de-DE" noProof="1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20651520-E00E-332F-DA9F-3B7A39F5099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06C6BFE-10C3-7B49-A3EE-08AD7A863B95}" type="slidenum">
              <a:rPr lang="de-DE" noProof="1" smtClean="0"/>
              <a:pPr/>
              <a:t>2</a:t>
            </a:fld>
            <a:endParaRPr lang="de-DE" noProof="1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A489F3-8221-3037-1159-4F9FABCA0A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140" y="1566862"/>
            <a:ext cx="4077949" cy="407794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DA46C16-B50D-E24A-46EA-202594FC6074}"/>
              </a:ext>
            </a:extLst>
          </p:cNvPr>
          <p:cNvSpPr txBox="1"/>
          <p:nvPr/>
        </p:nvSpPr>
        <p:spPr>
          <a:xfrm>
            <a:off x="5710239" y="6356350"/>
            <a:ext cx="49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noProof="1"/>
              <a:t>[1]</a:t>
            </a:r>
          </a:p>
        </p:txBody>
      </p:sp>
      <p:sp>
        <p:nvSpPr>
          <p:cNvPr id="2" name="Fußzeilenplatzhalter 4">
            <a:extLst>
              <a:ext uri="{FF2B5EF4-FFF2-40B4-BE49-F238E27FC236}">
                <a16:creationId xmlns:a16="http://schemas.microsoft.com/office/drawing/2014/main" id="{7374C068-155C-E031-963B-A7352B02E9EB}"/>
              </a:ext>
            </a:extLst>
          </p:cNvPr>
          <p:cNvSpPr txBox="1">
            <a:spLocks/>
          </p:cNvSpPr>
          <p:nvPr/>
        </p:nvSpPr>
        <p:spPr>
          <a:xfrm>
            <a:off x="6417733" y="6356239"/>
            <a:ext cx="5291667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000" kern="1200">
                <a:solidFill>
                  <a:schemeClr val="bg2">
                    <a:lumMod val="9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de-DE" noProof="1">
                <a:solidFill>
                  <a:srgbClr val="C4B9C8"/>
                </a:solidFill>
                <a:latin typeface="Arial"/>
                <a:ea typeface="Calibri"/>
                <a:cs typeface="Arial"/>
              </a:rPr>
              <a:t>Technology Management</a:t>
            </a:r>
            <a:endParaRPr lang="de-DE" noProof="1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Calibri"/>
              <a:cs typeface="Arial"/>
            </a:endParaRP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990D606B-8C64-FAC5-82B1-58287D7B6C7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Technology Management</a:t>
            </a:r>
          </a:p>
        </p:txBody>
      </p:sp>
    </p:spTree>
    <p:extLst>
      <p:ext uri="{BB962C8B-B14F-4D97-AF65-F5344CB8AC3E}">
        <p14:creationId xmlns:p14="http://schemas.microsoft.com/office/powerpoint/2010/main" val="1806299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AB88C29C-C7C9-D18C-9814-D313661CF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b="1" noProof="1"/>
              <a:t>Mit Welchen Produkten und Dienstleistungen verdient Porsche sein Geld?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5484A38-45B0-441D-9BCB-F6247F437C4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de-DE" b="1" noProof="1"/>
              <a:t>Fahrzeugverkauf:</a:t>
            </a:r>
          </a:p>
          <a:p>
            <a:pPr lvl="1"/>
            <a:r>
              <a:rPr lang="de-DE" noProof="1"/>
              <a:t>Größter Umsatzanteil</a:t>
            </a:r>
          </a:p>
          <a:p>
            <a:pPr lvl="1"/>
            <a:r>
              <a:rPr lang="de-DE" noProof="1"/>
              <a:t>Verkauf von Premiumfahrzeugen weltweit</a:t>
            </a:r>
          </a:p>
          <a:p>
            <a:pPr marL="457200" lvl="1" indent="0">
              <a:buNone/>
            </a:pPr>
            <a:endParaRPr lang="de-DE" noProof="1"/>
          </a:p>
          <a:p>
            <a:pPr marL="457200" indent="-457200">
              <a:buFont typeface="+mj-lt"/>
              <a:buAutoNum type="arabicPeriod"/>
            </a:pPr>
            <a:r>
              <a:rPr lang="de-DE" b="1" noProof="1"/>
              <a:t>Finanzdienstleistungen:</a:t>
            </a:r>
          </a:p>
          <a:p>
            <a:pPr lvl="1"/>
            <a:r>
              <a:rPr lang="de-DE" noProof="1"/>
              <a:t>Leasing</a:t>
            </a:r>
          </a:p>
          <a:p>
            <a:pPr lvl="1"/>
            <a:r>
              <a:rPr lang="de-DE" noProof="1"/>
              <a:t>Finanzierung</a:t>
            </a:r>
          </a:p>
          <a:p>
            <a:pPr lvl="1"/>
            <a:r>
              <a:rPr lang="de-DE" noProof="1"/>
              <a:t>Versicherungen</a:t>
            </a:r>
          </a:p>
          <a:p>
            <a:pPr marL="0" indent="0">
              <a:buNone/>
            </a:pPr>
            <a:endParaRPr lang="de-DE" noProof="1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7ADA129A-F433-4F80-F3F3-3F5BD4E4053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 startAt="3"/>
            </a:pPr>
            <a:r>
              <a:rPr lang="de-DE" b="1" noProof="1"/>
              <a:t>Aftersales</a:t>
            </a:r>
          </a:p>
          <a:p>
            <a:pPr lvl="1"/>
            <a:r>
              <a:rPr lang="de-DE" noProof="1"/>
              <a:t>Wartung</a:t>
            </a:r>
          </a:p>
          <a:p>
            <a:pPr lvl="1"/>
            <a:r>
              <a:rPr lang="de-DE" noProof="1"/>
              <a:t>Ersatzteile</a:t>
            </a:r>
          </a:p>
          <a:p>
            <a:pPr lvl="1"/>
            <a:r>
              <a:rPr lang="de-DE" noProof="1"/>
              <a:t>Zubehör</a:t>
            </a:r>
          </a:p>
          <a:p>
            <a:pPr marL="457200" lvl="1" indent="0">
              <a:buNone/>
            </a:pPr>
            <a:endParaRPr lang="de-DE" noProof="1"/>
          </a:p>
          <a:p>
            <a:pPr marL="457200" indent="-457200">
              <a:buFont typeface="+mj-lt"/>
              <a:buAutoNum type="arabicPeriod" startAt="4"/>
            </a:pPr>
            <a:r>
              <a:rPr lang="de-DE" b="1" noProof="1"/>
              <a:t>Dienstleistungen</a:t>
            </a:r>
          </a:p>
          <a:p>
            <a:pPr lvl="1"/>
            <a:r>
              <a:rPr lang="de-DE" noProof="1"/>
              <a:t>Porsche Engineering</a:t>
            </a:r>
          </a:p>
          <a:p>
            <a:pPr lvl="1"/>
            <a:r>
              <a:rPr lang="de-DE" noProof="1"/>
              <a:t>Porsche Consulting</a:t>
            </a:r>
          </a:p>
          <a:p>
            <a:pPr marL="457200" lvl="1" indent="0">
              <a:buNone/>
            </a:pPr>
            <a:r>
              <a:rPr lang="de-DE" noProof="1"/>
              <a:t>	</a:t>
            </a:r>
          </a:p>
          <a:p>
            <a:pPr marL="457200" lvl="1" indent="0">
              <a:buNone/>
            </a:pPr>
            <a:endParaRPr lang="de-DE" noProof="1"/>
          </a:p>
          <a:p>
            <a:pPr marL="457200" lvl="1" indent="0">
              <a:buNone/>
            </a:pPr>
            <a:endParaRPr lang="de-DE" noProof="1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C35C11C-1596-9EB4-D314-3D362DA48E4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A009E88-CF23-5244-A477-B17F7302E0E4}" type="datetime1">
              <a:rPr lang="en-US" noProof="1" smtClean="0"/>
              <a:t>6/8/26</a:t>
            </a:fld>
            <a:endParaRPr lang="de-DE" noProof="1"/>
          </a:p>
        </p:txBody>
      </p:sp>
      <p:sp>
        <p:nvSpPr>
          <p:cNvPr id="13" name="Foliennummernplatzhalter 12">
            <a:extLst>
              <a:ext uri="{FF2B5EF4-FFF2-40B4-BE49-F238E27FC236}">
                <a16:creationId xmlns:a16="http://schemas.microsoft.com/office/drawing/2014/main" id="{4B73E4BD-AC13-FB53-0E5C-46EA022DD23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06C6BFE-10C3-7B49-A3EE-08AD7A863B95}" type="slidenum">
              <a:rPr lang="de-DE" noProof="1" smtClean="0"/>
              <a:pPr/>
              <a:t>3</a:t>
            </a:fld>
            <a:endParaRPr lang="de-DE" noProof="1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AA0EF39-FEE1-042E-6FD3-03B2FD1627C7}"/>
              </a:ext>
            </a:extLst>
          </p:cNvPr>
          <p:cNvSpPr txBox="1"/>
          <p:nvPr/>
        </p:nvSpPr>
        <p:spPr>
          <a:xfrm>
            <a:off x="690828" y="4538364"/>
            <a:ext cx="5111389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FF0000"/>
              </a:buClr>
            </a:pPr>
            <a:r>
              <a:rPr lang="de-DE" sz="2400" b="1" noProof="1"/>
              <a:t>Erfolgreichsten Modelle 2025:</a:t>
            </a:r>
          </a:p>
          <a:p>
            <a:pPr marL="285750" indent="-285750">
              <a:buClr>
                <a:srgbClr val="FF0000"/>
              </a:buClr>
              <a:buFont typeface="Arial" panose="020B0604020202020204" pitchFamily="34" charset="0"/>
              <a:buChar char="•"/>
            </a:pPr>
            <a:r>
              <a:rPr lang="de-DE" sz="2000" noProof="1"/>
              <a:t>Porsche Macan</a:t>
            </a:r>
          </a:p>
          <a:p>
            <a:pPr marL="742950" lvl="1" indent="-285750">
              <a:buClr>
                <a:srgbClr val="FF0000"/>
              </a:buClr>
              <a:buFont typeface="Arial" panose="020B0604020202020204" pitchFamily="34" charset="0"/>
              <a:buChar char="•"/>
            </a:pPr>
            <a:r>
              <a:rPr lang="de-DE" sz="2000" noProof="1"/>
              <a:t>Top-Seller mit 84.328 Einheiten</a:t>
            </a:r>
          </a:p>
          <a:p>
            <a:pPr marL="285750" indent="-285750">
              <a:buClr>
                <a:srgbClr val="FF0000"/>
              </a:buClr>
              <a:buFont typeface="Arial" panose="020B0604020202020204" pitchFamily="34" charset="0"/>
              <a:buChar char="•"/>
            </a:pPr>
            <a:r>
              <a:rPr lang="de-DE" sz="2000" noProof="1"/>
              <a:t>Porsche 911</a:t>
            </a:r>
          </a:p>
          <a:p>
            <a:pPr marL="742950" lvl="1" indent="-285750">
              <a:buClr>
                <a:srgbClr val="FF0000"/>
              </a:buClr>
              <a:buFont typeface="Arial" panose="020B0604020202020204" pitchFamily="34" charset="0"/>
              <a:buChar char="•"/>
            </a:pPr>
            <a:r>
              <a:rPr lang="de-DE" sz="2000" noProof="1"/>
              <a:t>Hohe Marge, Markenikone</a:t>
            </a:r>
          </a:p>
          <a:p>
            <a:pPr marL="285750" indent="-285750">
              <a:buClr>
                <a:srgbClr val="FF0000"/>
              </a:buClr>
              <a:buFont typeface="Arial" panose="020B0604020202020204" pitchFamily="34" charset="0"/>
              <a:buChar char="•"/>
            </a:pPr>
            <a:endParaRPr lang="de-DE" sz="2000" noProof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9673BD-31A0-3133-447A-7D33C6FB26AD}"/>
              </a:ext>
            </a:extLst>
          </p:cNvPr>
          <p:cNvSpPr txBox="1"/>
          <p:nvPr/>
        </p:nvSpPr>
        <p:spPr>
          <a:xfrm>
            <a:off x="6373510" y="4538364"/>
            <a:ext cx="524203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FF0000"/>
              </a:buClr>
              <a:buFont typeface="Arial" panose="020B0604020202020204" pitchFamily="34" charset="0"/>
              <a:buChar char="•"/>
            </a:pPr>
            <a:r>
              <a:rPr lang="de-DE" sz="2000" noProof="1"/>
              <a:t>Porsche Cayenne</a:t>
            </a:r>
          </a:p>
          <a:p>
            <a:pPr marL="742950" lvl="1" indent="-285750">
              <a:buClr>
                <a:srgbClr val="FF0000"/>
              </a:buClr>
              <a:buFont typeface="Arial" panose="020B0604020202020204" pitchFamily="34" charset="0"/>
              <a:buChar char="•"/>
            </a:pPr>
            <a:r>
              <a:rPr lang="de-DE" sz="2000" noProof="1"/>
              <a:t>Starkes SUV-Segment</a:t>
            </a:r>
          </a:p>
          <a:p>
            <a:pPr marL="285750" indent="-285750">
              <a:buClr>
                <a:srgbClr val="FF0000"/>
              </a:buClr>
              <a:buFont typeface="Arial" panose="020B0604020202020204" pitchFamily="34" charset="0"/>
              <a:buChar char="•"/>
            </a:pPr>
            <a:r>
              <a:rPr lang="de-DE" sz="2000" noProof="1"/>
              <a:t>Porsche Taycan</a:t>
            </a:r>
          </a:p>
          <a:p>
            <a:pPr marL="742950" lvl="1" indent="-285750">
              <a:buClr>
                <a:srgbClr val="FF0000"/>
              </a:buClr>
              <a:buFont typeface="Arial" panose="020B0604020202020204" pitchFamily="34" charset="0"/>
              <a:buChar char="•"/>
            </a:pPr>
            <a:r>
              <a:rPr lang="de-DE" sz="2000" noProof="1"/>
              <a:t>Elektromobilität</a:t>
            </a:r>
          </a:p>
          <a:p>
            <a:pPr marL="285750" indent="-285750">
              <a:buClr>
                <a:srgbClr val="FF0000"/>
              </a:buClr>
              <a:buFont typeface="Arial" panose="020B0604020202020204" pitchFamily="34" charset="0"/>
              <a:buChar char="•"/>
            </a:pPr>
            <a:r>
              <a:rPr lang="de-DE" sz="2000" noProof="1"/>
              <a:t>Porsche Panamera</a:t>
            </a:r>
          </a:p>
          <a:p>
            <a:pPr marL="742950" lvl="1" indent="-285750">
              <a:buClr>
                <a:srgbClr val="FF0000"/>
              </a:buClr>
              <a:buFont typeface="Arial" panose="020B0604020202020204" pitchFamily="34" charset="0"/>
              <a:buChar char="•"/>
            </a:pPr>
            <a:r>
              <a:rPr lang="de-DE" sz="2000" noProof="1"/>
              <a:t>Luxuslimousine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774B99-3090-38AB-E6E0-435A786624D6}"/>
              </a:ext>
            </a:extLst>
          </p:cNvPr>
          <p:cNvSpPr txBox="1"/>
          <p:nvPr/>
        </p:nvSpPr>
        <p:spPr>
          <a:xfrm>
            <a:off x="5710239" y="6356350"/>
            <a:ext cx="49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noProof="1"/>
              <a:t>[1]</a:t>
            </a:r>
          </a:p>
        </p:txBody>
      </p:sp>
      <p:sp>
        <p:nvSpPr>
          <p:cNvPr id="3" name="Fußzeilenplatzhalter 4">
            <a:extLst>
              <a:ext uri="{FF2B5EF4-FFF2-40B4-BE49-F238E27FC236}">
                <a16:creationId xmlns:a16="http://schemas.microsoft.com/office/drawing/2014/main" id="{B9EF2BBE-4D3A-B197-6C09-936892977D0F}"/>
              </a:ext>
            </a:extLst>
          </p:cNvPr>
          <p:cNvSpPr txBox="1">
            <a:spLocks/>
          </p:cNvSpPr>
          <p:nvPr/>
        </p:nvSpPr>
        <p:spPr>
          <a:xfrm>
            <a:off x="6417733" y="6356239"/>
            <a:ext cx="5291667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000" kern="1200">
                <a:solidFill>
                  <a:schemeClr val="bg2">
                    <a:lumMod val="9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de-DE" noProof="1">
                <a:solidFill>
                  <a:srgbClr val="C4B9C8"/>
                </a:solidFill>
                <a:latin typeface="Arial"/>
                <a:ea typeface="Calibri"/>
                <a:cs typeface="Arial"/>
              </a:rPr>
              <a:t>Technology Management</a:t>
            </a:r>
            <a:endParaRPr lang="de-DE" noProof="1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Calibri"/>
              <a:cs typeface="Arial"/>
            </a:endParaRP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8A2191-2DB5-DE05-66BF-DA655D28B9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Technology Management</a:t>
            </a:r>
          </a:p>
        </p:txBody>
      </p:sp>
    </p:spTree>
    <p:extLst>
      <p:ext uri="{BB962C8B-B14F-4D97-AF65-F5344CB8AC3E}">
        <p14:creationId xmlns:p14="http://schemas.microsoft.com/office/powerpoint/2010/main" val="10169592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556DE-3A06-4C99-4325-A13B33667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4F9D806A-601C-4DDF-9C82-A049A90E34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just"/>
            <a:r>
              <a:rPr lang="de-DE" b="1" noProof="1"/>
              <a:t>Eigentümerstruktur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EA25F74-4BE5-425C-8A7E-25C795EA23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noProof="1"/>
              <a:t>Volkswagen AG </a:t>
            </a:r>
          </a:p>
          <a:p>
            <a:r>
              <a:rPr lang="de-DE" noProof="1"/>
              <a:t>Mehrheitseigentümer</a:t>
            </a:r>
          </a:p>
          <a:p>
            <a:r>
              <a:rPr lang="de-DE" noProof="1"/>
              <a:t>Kontrolliert Porsche operativ</a:t>
            </a:r>
          </a:p>
          <a:p>
            <a:pPr marL="0" indent="0">
              <a:buNone/>
            </a:pPr>
            <a:endParaRPr lang="de-DE" noProof="1"/>
          </a:p>
          <a:p>
            <a:pPr marL="0" indent="0">
              <a:buNone/>
            </a:pPr>
            <a:r>
              <a:rPr lang="de-DE" noProof="1"/>
              <a:t>Porsche Automobil Holding SE</a:t>
            </a:r>
          </a:p>
          <a:p>
            <a:r>
              <a:rPr lang="de-DE" noProof="1"/>
              <a:t>Sperrminorität</a:t>
            </a:r>
          </a:p>
          <a:p>
            <a:r>
              <a:rPr lang="de-DE" noProof="1"/>
              <a:t>Kann wichtige Entscheidungen blockieren</a:t>
            </a:r>
          </a:p>
          <a:p>
            <a:pPr marL="0" indent="0">
              <a:buNone/>
            </a:pPr>
            <a:endParaRPr lang="de-DE" noProof="1"/>
          </a:p>
          <a:p>
            <a:pPr marL="0" indent="0">
              <a:buNone/>
            </a:pPr>
            <a:r>
              <a:rPr lang="de-DE" noProof="1"/>
              <a:t>Börseninvestoren</a:t>
            </a:r>
          </a:p>
          <a:p>
            <a:r>
              <a:rPr lang="de-DE" noProof="1"/>
              <a:t>Können investieren</a:t>
            </a:r>
          </a:p>
          <a:p>
            <a:r>
              <a:rPr lang="de-DE" noProof="1"/>
              <a:t>Haben aber kein Stimmrecht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0246ABC-3CCA-F2FB-C73B-DC8BAEE0DD4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78773AF-2259-0B42-AEF5-3C6C7EBEB81F}" type="datetime1">
              <a:rPr lang="en-US" noProof="1" smtClean="0"/>
              <a:t>6/8/26</a:t>
            </a:fld>
            <a:endParaRPr lang="de-DE" noProof="1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6366D72-717A-C045-5F85-C3F2F9B0E75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06C6BFE-10C3-7B49-A3EE-08AD7A863B95}" type="slidenum">
              <a:rPr lang="de-DE" noProof="1" smtClean="0"/>
              <a:pPr/>
              <a:t>4</a:t>
            </a:fld>
            <a:endParaRPr lang="de-DE" noProof="1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40982F-49E5-F3B0-1319-C2F2A3AC3432}"/>
              </a:ext>
            </a:extLst>
          </p:cNvPr>
          <p:cNvSpPr txBox="1"/>
          <p:nvPr/>
        </p:nvSpPr>
        <p:spPr>
          <a:xfrm>
            <a:off x="5710239" y="6356350"/>
            <a:ext cx="49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noProof="1"/>
              <a:t>[1]</a:t>
            </a:r>
          </a:p>
        </p:txBody>
      </p:sp>
      <p:sp>
        <p:nvSpPr>
          <p:cNvPr id="3" name="Fußzeilenplatzhalter 4">
            <a:extLst>
              <a:ext uri="{FF2B5EF4-FFF2-40B4-BE49-F238E27FC236}">
                <a16:creationId xmlns:a16="http://schemas.microsoft.com/office/drawing/2014/main" id="{676754CD-C28A-FCE2-0092-F1169230C68C}"/>
              </a:ext>
            </a:extLst>
          </p:cNvPr>
          <p:cNvSpPr txBox="1">
            <a:spLocks/>
          </p:cNvSpPr>
          <p:nvPr/>
        </p:nvSpPr>
        <p:spPr>
          <a:xfrm>
            <a:off x="6417733" y="6356239"/>
            <a:ext cx="5291667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000" kern="1200">
                <a:solidFill>
                  <a:schemeClr val="bg2">
                    <a:lumMod val="9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de-DE" noProof="1">
                <a:solidFill>
                  <a:srgbClr val="C4B9C8"/>
                </a:solidFill>
                <a:latin typeface="Arial"/>
                <a:ea typeface="Calibri"/>
                <a:cs typeface="Arial"/>
              </a:rPr>
              <a:t>Technology Management</a:t>
            </a:r>
            <a:endParaRPr lang="de-DE" noProof="1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Calibri"/>
              <a:cs typeface="Arial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46FEC1-082E-97F1-5C55-52AE9162B35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Technology Management</a:t>
            </a:r>
          </a:p>
        </p:txBody>
      </p:sp>
    </p:spTree>
    <p:extLst>
      <p:ext uri="{BB962C8B-B14F-4D97-AF65-F5344CB8AC3E}">
        <p14:creationId xmlns:p14="http://schemas.microsoft.com/office/powerpoint/2010/main" val="38835657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882EF-0F9B-E2E1-D2D1-53AA416A0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1E4218E6-D486-7429-7CD6-418C9E1E4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just"/>
            <a:r>
              <a:rPr lang="de-DE" b="1" noProof="1"/>
              <a:t>Unternehmensführung und Organisation</a:t>
            </a:r>
          </a:p>
        </p:txBody>
      </p:sp>
      <p:graphicFrame>
        <p:nvGraphicFramePr>
          <p:cNvPr id="2" name="Content Placeholder 1">
            <a:extLst>
              <a:ext uri="{FF2B5EF4-FFF2-40B4-BE49-F238E27FC236}">
                <a16:creationId xmlns:a16="http://schemas.microsoft.com/office/drawing/2014/main" id="{3392806C-A7A9-4597-06EC-FA3E42740C2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43911" y="1484314"/>
          <a:ext cx="11104178" cy="468153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0A30877-4CE6-ECB0-3692-25AE23BB11E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B1497B2-677C-1347-8B94-A5ED10CDCD13}" type="datetime1">
              <a:rPr lang="en-US" noProof="1" smtClean="0"/>
              <a:t>6/8/26</a:t>
            </a:fld>
            <a:endParaRPr lang="de-DE" noProof="1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597BD3C-4768-D260-298C-D44D191254D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06C6BFE-10C3-7B49-A3EE-08AD7A863B95}" type="slidenum">
              <a:rPr lang="de-DE" noProof="1" smtClean="0"/>
              <a:pPr/>
              <a:t>5</a:t>
            </a:fld>
            <a:endParaRPr lang="de-DE" noProof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8AAB80-B25B-228E-D72A-33928362770A}"/>
              </a:ext>
            </a:extLst>
          </p:cNvPr>
          <p:cNvSpPr txBox="1"/>
          <p:nvPr/>
        </p:nvSpPr>
        <p:spPr>
          <a:xfrm>
            <a:off x="5710239" y="6356350"/>
            <a:ext cx="49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noProof="1"/>
              <a:t>[1]</a:t>
            </a:r>
          </a:p>
        </p:txBody>
      </p:sp>
      <p:sp>
        <p:nvSpPr>
          <p:cNvPr id="3" name="Fußzeilenplatzhalter 4">
            <a:extLst>
              <a:ext uri="{FF2B5EF4-FFF2-40B4-BE49-F238E27FC236}">
                <a16:creationId xmlns:a16="http://schemas.microsoft.com/office/drawing/2014/main" id="{A00CC9B5-9C57-0CAC-0DA6-66BF30B68943}"/>
              </a:ext>
            </a:extLst>
          </p:cNvPr>
          <p:cNvSpPr txBox="1">
            <a:spLocks/>
          </p:cNvSpPr>
          <p:nvPr/>
        </p:nvSpPr>
        <p:spPr>
          <a:xfrm>
            <a:off x="6417733" y="6356239"/>
            <a:ext cx="5291667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000" kern="1200">
                <a:solidFill>
                  <a:schemeClr val="bg2">
                    <a:lumMod val="9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de-DE" noProof="1">
                <a:solidFill>
                  <a:srgbClr val="C4B9C8"/>
                </a:solidFill>
                <a:latin typeface="Arial"/>
                <a:ea typeface="Calibri"/>
                <a:cs typeface="Arial"/>
              </a:rPr>
              <a:t>Technology Management</a:t>
            </a:r>
            <a:endParaRPr lang="de-DE" noProof="1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Calibri"/>
              <a:cs typeface="Arial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41427464-6586-7493-5C2B-4E497E60015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Technology Management</a:t>
            </a:r>
          </a:p>
        </p:txBody>
      </p:sp>
    </p:spTree>
    <p:extLst>
      <p:ext uri="{BB962C8B-B14F-4D97-AF65-F5344CB8AC3E}">
        <p14:creationId xmlns:p14="http://schemas.microsoft.com/office/powerpoint/2010/main" val="4300765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F1762DA-B97A-A1FB-EC58-50C469EA1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7733" y="490537"/>
            <a:ext cx="5291663" cy="162877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 sz="4000" noProof="1">
                <a:latin typeface="+mj-lt"/>
              </a:rPr>
              <a:t>Werteversprechen </a:t>
            </a:r>
          </a:p>
        </p:txBody>
      </p:sp>
      <p:pic>
        <p:nvPicPr>
          <p:cNvPr id="8" name="Grafik 7" descr="Ein Bild, das Fahrzeug, Landfahrzeug, draußen, Himmel enthält.&#10;&#10;KI-generierte Inhalte können fehlerhaft sein.">
            <a:extLst>
              <a:ext uri="{FF2B5EF4-FFF2-40B4-BE49-F238E27FC236}">
                <a16:creationId xmlns:a16="http://schemas.microsoft.com/office/drawing/2014/main" id="{CCEF079C-FF85-0800-0262-E016F13E7B2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9802" r="10850" b="-2"/>
          <a:stretch>
            <a:fillRect/>
          </a:stretch>
        </p:blipFill>
        <p:spPr>
          <a:xfrm>
            <a:off x="1" y="0"/>
            <a:ext cx="6095999" cy="6856413"/>
          </a:xfrm>
          <a:custGeom>
            <a:avLst/>
            <a:gdLst/>
            <a:ahLst/>
            <a:cxnLst/>
            <a:rect l="l" t="t" r="r" b="b"/>
            <a:pathLst>
              <a:path w="6649908" h="6856413">
                <a:moveTo>
                  <a:pt x="0" y="0"/>
                </a:moveTo>
                <a:lnTo>
                  <a:pt x="6559859" y="0"/>
                </a:lnTo>
                <a:lnTo>
                  <a:pt x="6572145" y="79394"/>
                </a:lnTo>
                <a:cubicBezTo>
                  <a:pt x="6857782" y="2230562"/>
                  <a:pt x="6243159" y="4473353"/>
                  <a:pt x="6528796" y="6624522"/>
                </a:cubicBezTo>
                <a:lnTo>
                  <a:pt x="6564680" y="6856413"/>
                </a:lnTo>
                <a:lnTo>
                  <a:pt x="0" y="6856413"/>
                </a:lnTo>
                <a:close/>
              </a:path>
            </a:pathLst>
          </a:custGeom>
        </p:spPr>
      </p:pic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6483371-F81F-5F8B-9B47-10FE98C7DB9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481013" y="6356350"/>
            <a:ext cx="6858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>
              <a:spcAft>
                <a:spcPts val="600"/>
              </a:spcAft>
              <a:defRPr/>
            </a:pPr>
            <a:r>
              <a:rPr lang="de-DE" sz="1200" noProof="1">
                <a:solidFill>
                  <a:srgbClr val="FFFFFF"/>
                </a:solidFill>
                <a:latin typeface="Calibri" panose="020F0502020204030204"/>
                <a:cs typeface="+mn-cs"/>
              </a:rPr>
              <a:t>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944C887-A807-128E-10B6-7937F3CB2A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7734" y="2614612"/>
            <a:ext cx="5291663" cy="3752849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de-DE" sz="1800" noProof="1">
                <a:latin typeface="+mn-lt"/>
              </a:rPr>
              <a:t>Zentraler Begriff: "Modern Luxury"</a:t>
            </a:r>
          </a:p>
          <a:p>
            <a:pPr lvl="1"/>
            <a:endParaRPr lang="de-DE" noProof="1">
              <a:latin typeface="+mn-lt"/>
            </a:endParaRPr>
          </a:p>
          <a:p>
            <a:pPr lvl="1"/>
            <a:r>
              <a:rPr lang="de-DE" b="1" noProof="1">
                <a:latin typeface="+mn-lt"/>
              </a:rPr>
              <a:t>Performance trifft Alltagstauglichkeit: </a:t>
            </a:r>
            <a:r>
              <a:rPr lang="de-DE" noProof="1">
                <a:latin typeface="+mn-lt"/>
              </a:rPr>
              <a:t>Die Fahrdynamik eines Sportwagens, nutzbar für den alltäglichen Bedarf.</a:t>
            </a:r>
          </a:p>
          <a:p>
            <a:pPr lvl="1"/>
            <a:endParaRPr lang="de-DE" noProof="1">
              <a:latin typeface="+mn-lt"/>
            </a:endParaRPr>
          </a:p>
          <a:p>
            <a:pPr lvl="1"/>
            <a:r>
              <a:rPr lang="de-DE" b="1" noProof="1">
                <a:latin typeface="+mn-lt"/>
              </a:rPr>
              <a:t>Ikonisches Design &amp; Heritage:</a:t>
            </a:r>
            <a:r>
              <a:rPr lang="de-DE" noProof="1">
                <a:latin typeface="+mn-lt"/>
              </a:rPr>
              <a:t> Zeitlosigkeit und ein Stück Automobilgeschichte.</a:t>
            </a:r>
          </a:p>
          <a:p>
            <a:pPr lvl="1"/>
            <a:endParaRPr lang="de-DE" noProof="1">
              <a:latin typeface="+mn-lt"/>
            </a:endParaRPr>
          </a:p>
          <a:p>
            <a:pPr lvl="1"/>
            <a:r>
              <a:rPr lang="de-DE" b="1" noProof="1">
                <a:latin typeface="+mn-lt"/>
              </a:rPr>
              <a:t>Exklusivität &amp; Individualisierung: </a:t>
            </a:r>
            <a:r>
              <a:rPr lang="de-DE" noProof="1">
                <a:latin typeface="+mn-lt"/>
              </a:rPr>
              <a:t>Maßgeschneiderte Unikate durch die "Porsche Exclusive Manufaktur" für ein maximales Status- und Luxusgefühl.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6AB6BC2-3488-3263-E17F-A6007814048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417733" y="6356350"/>
            <a:ext cx="529166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de-DE" noProof="1">
                <a:solidFill>
                  <a:srgbClr val="C4B9C8"/>
                </a:solidFill>
                <a:latin typeface="Arial"/>
                <a:ea typeface="Calibri"/>
                <a:cs typeface="Arial"/>
              </a:rPr>
              <a:t>Technology Management</a:t>
            </a:r>
            <a:endParaRPr lang="de-DE" noProof="1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Calibri"/>
              <a:cs typeface="Arial"/>
            </a:endParaRP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A3C2E5B-2C2E-9697-9E3F-F77F42AFBFE1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30789" y="6356350"/>
            <a:ext cx="252634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ECF55AB4-D6EA-284B-A368-EC93CB23A3B8}" type="datetime1">
              <a:rPr lang="en-US" sz="1200" noProof="1" smtClean="0">
                <a:solidFill>
                  <a:srgbClr val="FFFFFF"/>
                </a:solidFill>
                <a:latin typeface="Calibri" panose="020F0502020204030204"/>
                <a:cs typeface="+mn-cs"/>
              </a:rPr>
              <a:t>6/8/26</a:t>
            </a:fld>
            <a:endParaRPr lang="de-DE" sz="1200" noProof="1">
              <a:solidFill>
                <a:srgbClr val="FFFFFF"/>
              </a:solidFill>
              <a:latin typeface="Calibri" panose="020F0502020204030204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459403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DB7C7F-960D-B543-75F3-73990789E7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7733" y="490537"/>
            <a:ext cx="5291663" cy="162877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 sz="4000" noProof="1">
                <a:latin typeface="+mj-lt"/>
              </a:rPr>
              <a:t>Wettbewerbsvorteil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E4CA879-B495-31E3-2430-E62556E29FF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181" r="19471" b="-2"/>
          <a:stretch>
            <a:fillRect/>
          </a:stretch>
        </p:blipFill>
        <p:spPr>
          <a:xfrm>
            <a:off x="2" y="1587"/>
            <a:ext cx="6095999" cy="6856413"/>
          </a:xfrm>
          <a:custGeom>
            <a:avLst/>
            <a:gdLst/>
            <a:ahLst/>
            <a:cxnLst/>
            <a:rect l="l" t="t" r="r" b="b"/>
            <a:pathLst>
              <a:path w="6649908" h="6856413">
                <a:moveTo>
                  <a:pt x="0" y="0"/>
                </a:moveTo>
                <a:lnTo>
                  <a:pt x="6559859" y="0"/>
                </a:lnTo>
                <a:lnTo>
                  <a:pt x="6572145" y="79394"/>
                </a:lnTo>
                <a:cubicBezTo>
                  <a:pt x="6857782" y="2230562"/>
                  <a:pt x="6243159" y="4473353"/>
                  <a:pt x="6528796" y="6624522"/>
                </a:cubicBezTo>
                <a:lnTo>
                  <a:pt x="6564680" y="6856413"/>
                </a:lnTo>
                <a:lnTo>
                  <a:pt x="0" y="6856413"/>
                </a:lnTo>
                <a:close/>
              </a:path>
            </a:pathLst>
          </a:custGeom>
        </p:spPr>
      </p:pic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362AEAC-E0A6-9268-F2EA-37062CD2EDB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481013" y="6356350"/>
            <a:ext cx="6858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>
              <a:spcAft>
                <a:spcPts val="600"/>
              </a:spcAft>
              <a:defRPr/>
            </a:pPr>
            <a:r>
              <a:rPr lang="de-DE" sz="1200" noProof="1">
                <a:solidFill>
                  <a:srgbClr val="FFFFFF"/>
                </a:solidFill>
                <a:latin typeface="Calibri" panose="020F0502020204030204"/>
                <a:cs typeface="+mn-cs"/>
              </a:rPr>
              <a:t>2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CA6794A-8D43-095C-8234-7AFE7709EE91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30789" y="6356350"/>
            <a:ext cx="252634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6EA4BF1E-3784-D34A-801C-B732C0EBFB9A}" type="datetime1">
              <a:rPr lang="en-US" sz="1200" noProof="1" smtClean="0">
                <a:solidFill>
                  <a:srgbClr val="FFFFFF"/>
                </a:solidFill>
                <a:latin typeface="Calibri" panose="020F0502020204030204"/>
                <a:cs typeface="+mn-cs"/>
              </a:rPr>
              <a:t>6/8/26</a:t>
            </a:fld>
            <a:endParaRPr lang="de-DE" sz="1200" noProof="1">
              <a:solidFill>
                <a:srgbClr val="FFFFFF"/>
              </a:solidFill>
              <a:latin typeface="Calibri" panose="020F0502020204030204"/>
              <a:cs typeface="+mn-cs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67BA9DC-5285-E57C-7FF9-00037B5C80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7734" y="2614612"/>
            <a:ext cx="5291663" cy="3752849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de-DE" sz="1500" b="1" noProof="1">
                <a:latin typeface="+mn-lt"/>
              </a:rPr>
              <a:t>Überlegene Preissetzungsmacht: </a:t>
            </a:r>
            <a:r>
              <a:rPr lang="de-DE" sz="1500" noProof="1">
                <a:latin typeface="+mn-lt"/>
              </a:rPr>
              <a:t>Sehr starke Marke und hohe Zahlungsbereitschaft der Kunden ermöglichen überdurchschnittliche Margen; die Höhe schwankt jedoch je nach Markt- und Sondereffekten.</a:t>
            </a:r>
          </a:p>
          <a:p>
            <a:endParaRPr lang="de-DE" sz="1500" noProof="1">
              <a:latin typeface="+mn-lt"/>
            </a:endParaRPr>
          </a:p>
          <a:p>
            <a:r>
              <a:rPr lang="de-DE" sz="1500" b="1" i="1" noProof="1">
                <a:latin typeface="+mn-lt"/>
              </a:rPr>
              <a:t>Skaleneffekte im Konzernverbund:</a:t>
            </a:r>
            <a:r>
              <a:rPr lang="de-DE" sz="1500" noProof="1">
                <a:latin typeface="+mn-lt"/>
              </a:rPr>
              <a:t> Geteilte Entwicklungs- und Plattformkosten, etwa bei PPE und Software, kombiniert mit Premium-Positionierung und hoher Wertschöpfung.</a:t>
            </a:r>
          </a:p>
          <a:p>
            <a:endParaRPr lang="de-DE" sz="1500" noProof="1">
              <a:latin typeface="+mn-lt"/>
            </a:endParaRPr>
          </a:p>
          <a:p>
            <a:r>
              <a:rPr lang="de-DE" sz="1500" b="1" noProof="1">
                <a:latin typeface="+mn-lt"/>
              </a:rPr>
              <a:t>Engineering Know-How: </a:t>
            </a:r>
            <a:r>
              <a:rPr lang="de-DE" sz="1500" noProof="1">
                <a:latin typeface="+mn-lt"/>
              </a:rPr>
              <a:t>Branchenführend bei Fahrdynamik und Fahrwerkabstimmung, was das typische Sportwagen-Fahrgefühl selbst bei schweren E-Autos erhält.</a:t>
            </a:r>
          </a:p>
        </p:txBody>
      </p:sp>
      <p:sp>
        <p:nvSpPr>
          <p:cNvPr id="9" name="Fußzeilenplatzhalter 4">
            <a:extLst>
              <a:ext uri="{FF2B5EF4-FFF2-40B4-BE49-F238E27FC236}">
                <a16:creationId xmlns:a16="http://schemas.microsoft.com/office/drawing/2014/main" id="{CA2FD016-0DCB-A927-92C1-9C12EAC309E8}"/>
              </a:ext>
            </a:extLst>
          </p:cNvPr>
          <p:cNvSpPr txBox="1">
            <a:spLocks/>
          </p:cNvSpPr>
          <p:nvPr/>
        </p:nvSpPr>
        <p:spPr>
          <a:xfrm>
            <a:off x="6417733" y="6356239"/>
            <a:ext cx="5291667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000" kern="1200">
                <a:solidFill>
                  <a:schemeClr val="bg2">
                    <a:lumMod val="9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de-DE" noProof="1">
                <a:solidFill>
                  <a:srgbClr val="C4B9C8"/>
                </a:solidFill>
                <a:latin typeface="Arial"/>
                <a:ea typeface="Calibri"/>
                <a:cs typeface="Arial"/>
              </a:rPr>
              <a:t>Technology Management</a:t>
            </a:r>
            <a:endParaRPr lang="de-DE" noProof="1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915073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A14358-286E-0BBD-CA48-C895C1769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6693" y="741391"/>
            <a:ext cx="3455821" cy="161620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 kern="1200" noProof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Phasen der S-Kurve</a:t>
            </a:r>
          </a:p>
        </p:txBody>
      </p:sp>
      <p:sp>
        <p:nvSpPr>
          <p:cNvPr id="90" name="Content Placeholder 78">
            <a:extLst>
              <a:ext uri="{FF2B5EF4-FFF2-40B4-BE49-F238E27FC236}">
                <a16:creationId xmlns:a16="http://schemas.microsoft.com/office/drawing/2014/main" id="{F4F93E74-7EF4-6B6D-DA09-4C3F9DC175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6693" y="2533476"/>
            <a:ext cx="3455821" cy="344783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noProof="1">
                <a:solidFill>
                  <a:srgbClr val="C00000"/>
                </a:solidFill>
                <a:latin typeface="+mn-lt"/>
              </a:rPr>
              <a:t>Verbrennungsmotoren </a:t>
            </a:r>
            <a:r>
              <a:rPr lang="de-DE" noProof="1">
                <a:solidFill>
                  <a:srgbClr val="000000"/>
                </a:solidFill>
                <a:latin typeface="+mn-lt"/>
              </a:rPr>
              <a:t>in der Reifephase</a:t>
            </a:r>
          </a:p>
          <a:p>
            <a:r>
              <a:rPr lang="de-DE" noProof="1">
                <a:solidFill>
                  <a:srgbClr val="00B050"/>
                </a:solidFill>
                <a:latin typeface="+mn-lt"/>
              </a:rPr>
              <a:t>Elektromobilität </a:t>
            </a:r>
            <a:r>
              <a:rPr lang="de-DE" noProof="1">
                <a:solidFill>
                  <a:schemeClr val="bg2">
                    <a:lumMod val="10000"/>
                  </a:schemeClr>
                </a:solidFill>
                <a:latin typeface="+mn-lt"/>
              </a:rPr>
              <a:t>ist in der Wachstumsphase</a:t>
            </a:r>
          </a:p>
          <a:p>
            <a:pPr lvl="1"/>
            <a:r>
              <a:rPr lang="de-DE" noProof="1">
                <a:solidFill>
                  <a:schemeClr val="bg2">
                    <a:lumMod val="10000"/>
                  </a:schemeClr>
                </a:solidFill>
                <a:latin typeface="+mn-lt"/>
              </a:rPr>
              <a:t>Beginnend 2019 mit Porsche Taycan</a:t>
            </a:r>
            <a:endParaRPr lang="de-DE" noProof="1">
              <a:solidFill>
                <a:srgbClr val="00B050"/>
              </a:solidFill>
              <a:latin typeface="+mn-lt"/>
            </a:endParaRPr>
          </a:p>
        </p:txBody>
      </p:sp>
      <p:pic>
        <p:nvPicPr>
          <p:cNvPr id="44" name="Content Placeholder 43">
            <a:extLst>
              <a:ext uri="{FF2B5EF4-FFF2-40B4-BE49-F238E27FC236}">
                <a16:creationId xmlns:a16="http://schemas.microsoft.com/office/drawing/2014/main" id="{AB3D7390-BE06-C868-CA79-971A0F38A1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7672" y="1572758"/>
            <a:ext cx="6389346" cy="3721793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3FFD133-A286-3BEB-970B-77671E480A0B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8382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CAEE3910-6009-424F-9F5B-847DD9F39D55}" type="datetime1">
              <a:rPr lang="en-US" sz="1200" noProof="1" smtClean="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rPr>
              <a:t>6/8/26</a:t>
            </a:fld>
            <a:endParaRPr lang="de-DE" sz="1200" noProof="1">
              <a:solidFill>
                <a:schemeClr val="tx1">
                  <a:tint val="75000"/>
                </a:schemeClr>
              </a:solidFill>
              <a:latin typeface="+mn-lt"/>
              <a:cs typeface="+mn-cs"/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2CDB73F-84C2-CFF2-69BE-BF767B8BCC0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DE" sz="1200" noProof="1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cs typeface="+mn-cs"/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56905CC-177A-FE41-ED76-12DE0FFE409A}"/>
              </a:ext>
            </a:extLst>
          </p:cNvPr>
          <p:cNvSpPr txBox="1"/>
          <p:nvPr/>
        </p:nvSpPr>
        <p:spPr>
          <a:xfrm>
            <a:off x="5132965" y="5285242"/>
            <a:ext cx="359380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100" noProof="1">
                <a:solidFill>
                  <a:srgbClr val="FF0000"/>
                </a:solidFill>
              </a:rPr>
              <a:t>Verbrennungsmotoren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100" noProof="1">
                <a:solidFill>
                  <a:srgbClr val="00B050"/>
                </a:solidFill>
              </a:rPr>
              <a:t>Elektromobilität</a:t>
            </a:r>
          </a:p>
        </p:txBody>
      </p:sp>
      <p:sp>
        <p:nvSpPr>
          <p:cNvPr id="49" name="Fußzeilenplatzhalter 4">
            <a:extLst>
              <a:ext uri="{FF2B5EF4-FFF2-40B4-BE49-F238E27FC236}">
                <a16:creationId xmlns:a16="http://schemas.microsoft.com/office/drawing/2014/main" id="{0DB2C786-F134-FDF6-D0FC-D4B57F4D1174}"/>
              </a:ext>
            </a:extLst>
          </p:cNvPr>
          <p:cNvSpPr txBox="1">
            <a:spLocks/>
          </p:cNvSpPr>
          <p:nvPr/>
        </p:nvSpPr>
        <p:spPr>
          <a:xfrm>
            <a:off x="6417734" y="6356239"/>
            <a:ext cx="522491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000" kern="1200">
                <a:solidFill>
                  <a:schemeClr val="bg2">
                    <a:lumMod val="9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de-DE" noProof="1">
                <a:solidFill>
                  <a:srgbClr val="C4B9C8"/>
                </a:solidFill>
                <a:latin typeface="Arial"/>
                <a:ea typeface="Calibri"/>
                <a:cs typeface="Arial"/>
              </a:rPr>
              <a:t>Technology Management</a:t>
            </a:r>
            <a:endParaRPr lang="de-DE" noProof="1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Calibri"/>
              <a:cs typeface="Arial"/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8C585F-508E-D7AD-11D4-B1FF675569F8}"/>
              </a:ext>
            </a:extLst>
          </p:cNvPr>
          <p:cNvCxnSpPr>
            <a:cxnSpLocks/>
          </p:cNvCxnSpPr>
          <p:nvPr/>
        </p:nvCxnSpPr>
        <p:spPr>
          <a:xfrm flipV="1">
            <a:off x="9956800" y="1955409"/>
            <a:ext cx="0" cy="2911231"/>
          </a:xfrm>
          <a:prstGeom prst="line">
            <a:avLst/>
          </a:prstGeom>
          <a:ln w="12700" cap="rnd">
            <a:solidFill>
              <a:srgbClr val="00000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D383013-0BA2-3C6F-7FC9-1FCAB8DE48E7}"/>
              </a:ext>
            </a:extLst>
          </p:cNvPr>
          <p:cNvCxnSpPr>
            <a:cxnSpLocks/>
          </p:cNvCxnSpPr>
          <p:nvPr/>
        </p:nvCxnSpPr>
        <p:spPr>
          <a:xfrm flipV="1">
            <a:off x="7266366" y="2005037"/>
            <a:ext cx="0" cy="2847926"/>
          </a:xfrm>
          <a:prstGeom prst="line">
            <a:avLst/>
          </a:prstGeom>
          <a:ln w="12700" cap="rnd">
            <a:solidFill>
              <a:srgbClr val="000000"/>
            </a:solidFill>
            <a:prstDash val="dash"/>
            <a:miter lim="800000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66137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CB943-D89E-412F-2A7E-FE82A6B490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1"/>
              <a:t>Verbrennungsmotoren (Reifephase)</a:t>
            </a:r>
          </a:p>
        </p:txBody>
      </p:sp>
      <p:graphicFrame>
        <p:nvGraphicFramePr>
          <p:cNvPr id="11" name="Content Placeholder 2">
            <a:extLst>
              <a:ext uri="{FF2B5EF4-FFF2-40B4-BE49-F238E27FC236}">
                <a16:creationId xmlns:a16="http://schemas.microsoft.com/office/drawing/2014/main" id="{119A3A4F-EC00-47A9-3D0A-8767560FBDD8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43911" y="1484314"/>
          <a:ext cx="11104178" cy="457358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9A3B52-209E-A13C-41E0-9F9B7987893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C1A6CE84-93A4-2747-8935-A06C6A07EAE2}" type="datetime1">
              <a:rPr lang="en-US" noProof="1" smtClean="0"/>
              <a:t>6/8/26</a:t>
            </a:fld>
            <a:endParaRPr lang="de-DE" noProof="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B609D8-3125-6610-6210-68DC48852A2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de-DE" noProof="1"/>
              <a:t>4</a:t>
            </a:r>
          </a:p>
        </p:txBody>
      </p:sp>
      <p:sp>
        <p:nvSpPr>
          <p:cNvPr id="7" name="Fußzeilenplatzhalter 4">
            <a:extLst>
              <a:ext uri="{FF2B5EF4-FFF2-40B4-BE49-F238E27FC236}">
                <a16:creationId xmlns:a16="http://schemas.microsoft.com/office/drawing/2014/main" id="{2275D658-1415-029E-954B-180F1968A14B}"/>
              </a:ext>
            </a:extLst>
          </p:cNvPr>
          <p:cNvSpPr txBox="1">
            <a:spLocks/>
          </p:cNvSpPr>
          <p:nvPr/>
        </p:nvSpPr>
        <p:spPr>
          <a:xfrm>
            <a:off x="6417734" y="6356239"/>
            <a:ext cx="522491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000" kern="1200">
                <a:solidFill>
                  <a:schemeClr val="bg2">
                    <a:lumMod val="9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de-DE" noProof="1">
                <a:solidFill>
                  <a:srgbClr val="C4B9C8"/>
                </a:solidFill>
                <a:latin typeface="Arial"/>
                <a:ea typeface="Calibri"/>
                <a:cs typeface="Arial"/>
              </a:rPr>
              <a:t>Technology Management</a:t>
            </a:r>
            <a:endParaRPr lang="de-DE" noProof="1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990725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CDD421-4B67-397F-EB39-899164C20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CD0E6-A703-9093-638E-3878E2429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1"/>
              <a:t>Elektromobilität (Wachstumsphase)</a:t>
            </a:r>
          </a:p>
        </p:txBody>
      </p:sp>
      <p:graphicFrame>
        <p:nvGraphicFramePr>
          <p:cNvPr id="11" name="Content Placeholder 2">
            <a:extLst>
              <a:ext uri="{FF2B5EF4-FFF2-40B4-BE49-F238E27FC236}">
                <a16:creationId xmlns:a16="http://schemas.microsoft.com/office/drawing/2014/main" id="{F35E2FD4-A4F4-E4D7-9DE6-B8B451F08886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43911" y="1484314"/>
          <a:ext cx="11104178" cy="457358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D3589F-E2D7-3C61-7224-A1F735E0BD8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CDD18DE-507E-E942-97F5-EF162F1CDDF4}" type="datetime1">
              <a:rPr lang="en-US" noProof="1" smtClean="0"/>
              <a:t>6/8/26</a:t>
            </a:fld>
            <a:endParaRPr lang="de-DE" noProof="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2858B3-8372-E2DE-5A33-9B31EF2DB17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de-DE" noProof="1"/>
              <a:t>5</a:t>
            </a:r>
          </a:p>
        </p:txBody>
      </p:sp>
      <p:sp>
        <p:nvSpPr>
          <p:cNvPr id="7" name="Fußzeilenplatzhalter 4">
            <a:extLst>
              <a:ext uri="{FF2B5EF4-FFF2-40B4-BE49-F238E27FC236}">
                <a16:creationId xmlns:a16="http://schemas.microsoft.com/office/drawing/2014/main" id="{A056C095-7419-9B15-D3B0-8206D478B147}"/>
              </a:ext>
            </a:extLst>
          </p:cNvPr>
          <p:cNvSpPr txBox="1">
            <a:spLocks/>
          </p:cNvSpPr>
          <p:nvPr/>
        </p:nvSpPr>
        <p:spPr>
          <a:xfrm>
            <a:off x="6417734" y="6356239"/>
            <a:ext cx="522491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000" kern="1200">
                <a:solidFill>
                  <a:schemeClr val="bg2">
                    <a:lumMod val="9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de-DE" noProof="1">
                <a:solidFill>
                  <a:srgbClr val="C4B9C8"/>
                </a:solidFill>
                <a:latin typeface="Arial"/>
                <a:ea typeface="Calibri"/>
                <a:cs typeface="Arial"/>
              </a:rPr>
              <a:t>Technology Management</a:t>
            </a:r>
            <a:endParaRPr lang="de-DE" noProof="1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383126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F18A8-0685-C5B2-DBC8-52A351753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B13D5B62-C238-19C9-461E-04D978489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just"/>
            <a:r>
              <a:rPr lang="de-DE" b="1" noProof="1"/>
              <a:t>Analyse der 5 Wettbewerbskräfte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44F9BC6E-E26B-0AC3-010F-AF7D9A8B61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3910" y="1558189"/>
            <a:ext cx="11104177" cy="4573586"/>
          </a:xfrm>
        </p:spPr>
        <p:txBody>
          <a:bodyPr/>
          <a:lstStyle/>
          <a:p>
            <a:pPr lvl="0"/>
            <a:r>
              <a:rPr lang="de-DE"/>
              <a:t>Wettbewerb im Premium- &amp; Luxussegment ist hoch und spielt auf 2 Fronten</a:t>
            </a:r>
            <a:endParaRPr lang="en-US"/>
          </a:p>
          <a:p>
            <a:pPr lvl="1"/>
            <a:r>
              <a:rPr lang="de-DE"/>
              <a:t>Die Traditionelle Front: Verbrenner, Performance, Emotionen</a:t>
            </a:r>
            <a:endParaRPr lang="en-US"/>
          </a:p>
          <a:p>
            <a:pPr lvl="1"/>
            <a:r>
              <a:rPr lang="de-DE"/>
              <a:t>Die Neue Front E-Autos: Unterhaltskosten, Umweltvorteile</a:t>
            </a:r>
            <a:endParaRPr lang="en-US"/>
          </a:p>
          <a:p>
            <a:pPr lvl="0"/>
            <a:r>
              <a:rPr lang="de-DE"/>
              <a:t>Bedrohung durch Ersatzprodukte niedrig</a:t>
            </a:r>
            <a:endParaRPr lang="en-US"/>
          </a:p>
          <a:p>
            <a:pPr lvl="1"/>
            <a:r>
              <a:rPr lang="de-DE"/>
              <a:t>Status vs Mobilität: Ginge es nur um Transport würde Porsche in den nächsten Jahren ersetzt werden</a:t>
            </a:r>
            <a:endParaRPr lang="en-US"/>
          </a:p>
          <a:p>
            <a:pPr lvl="1"/>
            <a:r>
              <a:rPr lang="de-DE"/>
              <a:t>Emotionale Bindung: Kauf nach Emotionen, Fahrspaß, Statussymbol</a:t>
            </a:r>
          </a:p>
          <a:p>
            <a:r>
              <a:rPr lang="de-DE"/>
              <a:t>Historisch: Gefahr von Markteintritten niedrig, durch hohen Kapitalbedarf &amp; komplexen Motorbau</a:t>
            </a:r>
            <a:endParaRPr lang="en-US"/>
          </a:p>
          <a:p>
            <a:pPr lvl="1"/>
            <a:r>
              <a:rPr lang="de-DE"/>
              <a:t>Elektromotor einfacher zu bauen, als komplexer Hochleistungsverbrenner</a:t>
            </a:r>
            <a:endParaRPr lang="en-US"/>
          </a:p>
          <a:p>
            <a:pPr lvl="1"/>
            <a:r>
              <a:rPr lang="de-DE"/>
              <a:t>Gewissen „Schutz“ durch Markenheritage</a:t>
            </a:r>
            <a:endParaRPr lang="en-US"/>
          </a:p>
          <a:p>
            <a:pPr lvl="1"/>
            <a:endParaRPr lang="en-US"/>
          </a:p>
          <a:p>
            <a:pPr lvl="1"/>
            <a:endParaRPr lang="de-DE" noProof="1"/>
          </a:p>
          <a:p>
            <a:pPr marL="0" indent="0">
              <a:buNone/>
            </a:pPr>
            <a:endParaRPr lang="de-DE" noProof="1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CB7D117-0FF1-3820-7CB2-B7145E4CB7F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78773AF-2259-0B42-AEF5-3C6C7EBEB81F}" type="datetime1">
              <a:rPr lang="en-US" noProof="1" smtClean="0"/>
              <a:t>6/8/26</a:t>
            </a:fld>
            <a:endParaRPr lang="de-DE" noProof="1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AB16D47-324E-DC63-6517-8D352554176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06C6BFE-10C3-7B49-A3EE-08AD7A863B95}" type="slidenum">
              <a:rPr lang="de-DE" noProof="1" smtClean="0"/>
              <a:pPr/>
              <a:t>11</a:t>
            </a:fld>
            <a:endParaRPr lang="de-DE" noProof="1"/>
          </a:p>
        </p:txBody>
      </p:sp>
      <p:sp>
        <p:nvSpPr>
          <p:cNvPr id="3" name="Fußzeilenplatzhalter 4">
            <a:extLst>
              <a:ext uri="{FF2B5EF4-FFF2-40B4-BE49-F238E27FC236}">
                <a16:creationId xmlns:a16="http://schemas.microsoft.com/office/drawing/2014/main" id="{E6EE1D55-9A31-94AC-5A8B-0357C7BBEE3C}"/>
              </a:ext>
            </a:extLst>
          </p:cNvPr>
          <p:cNvSpPr txBox="1">
            <a:spLocks/>
          </p:cNvSpPr>
          <p:nvPr/>
        </p:nvSpPr>
        <p:spPr>
          <a:xfrm>
            <a:off x="6417733" y="6356239"/>
            <a:ext cx="5291667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000" kern="1200">
                <a:solidFill>
                  <a:schemeClr val="bg2">
                    <a:lumMod val="9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de-DE" noProof="1">
                <a:solidFill>
                  <a:srgbClr val="C4B9C8"/>
                </a:solidFill>
                <a:latin typeface="Arial"/>
                <a:ea typeface="Calibri"/>
                <a:cs typeface="Arial"/>
              </a:rPr>
              <a:t>Technology Management</a:t>
            </a:r>
            <a:endParaRPr lang="de-DE" noProof="1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Calibri"/>
              <a:cs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B94197-2690-174E-0061-A4B485D38ED5}"/>
              </a:ext>
            </a:extLst>
          </p:cNvPr>
          <p:cNvSpPr txBox="1"/>
          <p:nvPr/>
        </p:nvSpPr>
        <p:spPr>
          <a:xfrm>
            <a:off x="2115879" y="275383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3100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190DC-D4A9-0B5D-80D7-1AD2755C5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AEFAA50-3367-67ED-AE64-461954D0A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just"/>
            <a:r>
              <a:rPr lang="de-DE" b="1" noProof="1"/>
              <a:t>Analyse der 5 Wettbewerbskräfte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AFD7FF6D-2889-35B3-8AD8-8A1FF47287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3910" y="1558189"/>
            <a:ext cx="11104177" cy="4573586"/>
          </a:xfrm>
        </p:spPr>
        <p:txBody>
          <a:bodyPr/>
          <a:lstStyle/>
          <a:p>
            <a:r>
              <a:rPr lang="de-DE" noProof="1"/>
              <a:t>Macht von Abnehmern </a:t>
            </a:r>
          </a:p>
          <a:p>
            <a:pPr lvl="1"/>
            <a:r>
              <a:rPr lang="de-DE" noProof="1"/>
              <a:t>Porsche Kunden wenig preissensibel, höhere Preise stärken die Exklusivität</a:t>
            </a:r>
          </a:p>
          <a:p>
            <a:pPr lvl="1"/>
            <a:r>
              <a:rPr lang="de-DE" noProof="1"/>
              <a:t>Individualisierung: Traumautokonfiguration (Porsche Exclusive Manufaktur) bindet Kunden stärker an die Marke</a:t>
            </a:r>
          </a:p>
          <a:p>
            <a:r>
              <a:rPr lang="de-DE" noProof="1"/>
              <a:t>Macht von Lieferanten</a:t>
            </a:r>
          </a:p>
          <a:p>
            <a:pPr lvl="1"/>
            <a:r>
              <a:rPr lang="de-DE" noProof="1"/>
              <a:t>Klassische Autoteile hat Porsche enorme Verhandlungsmacht als Teil des VW-Konzerns</a:t>
            </a:r>
          </a:p>
          <a:p>
            <a:pPr lvl="1"/>
            <a:r>
              <a:rPr lang="de-DE" noProof="1"/>
              <a:t>Bei Software &amp; Batterien für Elektromobilität, erhöhte Abhängigkeit von Hightech-Lieferanten</a:t>
            </a:r>
          </a:p>
          <a:p>
            <a:pPr lvl="1"/>
            <a:endParaRPr lang="de-DE" noProof="1"/>
          </a:p>
          <a:p>
            <a:pPr marL="0" indent="0">
              <a:buNone/>
            </a:pPr>
            <a:endParaRPr lang="de-DE" noProof="1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06EFA28-8AB4-BB18-1FA6-1822FFA30E9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78773AF-2259-0B42-AEF5-3C6C7EBEB81F}" type="datetime1">
              <a:rPr lang="en-US" noProof="1" smtClean="0"/>
              <a:pPr/>
              <a:t>6/8/26</a:t>
            </a:fld>
            <a:r>
              <a:rPr lang="en-US" noProof="1"/>
              <a:t>        </a:t>
            </a:r>
            <a:endParaRPr lang="de-DE" noProof="1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97950812-5881-D2E5-E170-298A3CB6B55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06C6BFE-10C3-7B49-A3EE-08AD7A863B95}" type="slidenum">
              <a:rPr lang="de-DE" noProof="1" smtClean="0"/>
              <a:pPr/>
              <a:t>12</a:t>
            </a:fld>
            <a:endParaRPr lang="de-DE" noProof="1"/>
          </a:p>
        </p:txBody>
      </p:sp>
      <p:sp>
        <p:nvSpPr>
          <p:cNvPr id="3" name="Fußzeilenplatzhalter 4">
            <a:extLst>
              <a:ext uri="{FF2B5EF4-FFF2-40B4-BE49-F238E27FC236}">
                <a16:creationId xmlns:a16="http://schemas.microsoft.com/office/drawing/2014/main" id="{D8A12B1C-5A45-E91B-9CE3-65EC4C160769}"/>
              </a:ext>
            </a:extLst>
          </p:cNvPr>
          <p:cNvSpPr txBox="1">
            <a:spLocks/>
          </p:cNvSpPr>
          <p:nvPr/>
        </p:nvSpPr>
        <p:spPr>
          <a:xfrm>
            <a:off x="6417733" y="6356239"/>
            <a:ext cx="5291667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000" kern="1200">
                <a:solidFill>
                  <a:schemeClr val="bg2">
                    <a:lumMod val="9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endParaRPr lang="de-DE" noProof="1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Calibri"/>
              <a:cs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108858-32EC-C2CC-C3CE-83694228F929}"/>
              </a:ext>
            </a:extLst>
          </p:cNvPr>
          <p:cNvSpPr txBox="1"/>
          <p:nvPr/>
        </p:nvSpPr>
        <p:spPr>
          <a:xfrm>
            <a:off x="2115879" y="275383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4" name="Fußzeilenplatzhalter 4">
            <a:extLst>
              <a:ext uri="{FF2B5EF4-FFF2-40B4-BE49-F238E27FC236}">
                <a16:creationId xmlns:a16="http://schemas.microsoft.com/office/drawing/2014/main" id="{DA52F8DF-F0A8-A0CA-72ED-F8EBCEC08D5D}"/>
              </a:ext>
            </a:extLst>
          </p:cNvPr>
          <p:cNvSpPr txBox="1">
            <a:spLocks/>
          </p:cNvSpPr>
          <p:nvPr/>
        </p:nvSpPr>
        <p:spPr>
          <a:xfrm>
            <a:off x="6570133" y="6508639"/>
            <a:ext cx="5291667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000" kern="1200">
                <a:solidFill>
                  <a:schemeClr val="bg2">
                    <a:lumMod val="9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de-DE" noProof="1">
                <a:solidFill>
                  <a:srgbClr val="C4B9C8"/>
                </a:solidFill>
                <a:latin typeface="Arial"/>
                <a:ea typeface="Calibri"/>
                <a:cs typeface="Arial"/>
              </a:rPr>
              <a:t>Technology Management</a:t>
            </a:r>
            <a:endParaRPr lang="de-DE" noProof="1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933773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88B41-7150-DE04-CB68-A904861AF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B98A9A04-99E1-478E-4679-5F55615A0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just"/>
            <a:r>
              <a:rPr lang="de-DE" b="1" noProof="1"/>
              <a:t>Wertschöpfungskette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ABFC8BB-70BB-1C90-1300-76FCFB30BF4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78773AF-2259-0B42-AEF5-3C6C7EBEB81F}" type="datetime1">
              <a:rPr lang="en-US" noProof="1" smtClean="0"/>
              <a:t>6/8/26</a:t>
            </a:fld>
            <a:endParaRPr lang="de-DE" noProof="1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EE2B4F3C-1861-7782-D835-06BF324B8DC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06C6BFE-10C3-7B49-A3EE-08AD7A863B95}" type="slidenum">
              <a:rPr lang="de-DE" noProof="1" smtClean="0"/>
              <a:pPr/>
              <a:t>13</a:t>
            </a:fld>
            <a:endParaRPr lang="de-DE" noProof="1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6D3EBDC-544C-1FE4-E3CA-03BE30D5FAAF}"/>
              </a:ext>
            </a:extLst>
          </p:cNvPr>
          <p:cNvSpPr txBox="1"/>
          <p:nvPr/>
        </p:nvSpPr>
        <p:spPr>
          <a:xfrm>
            <a:off x="5710239" y="6356350"/>
            <a:ext cx="49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noProof="1"/>
              <a:t>[1]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5DAE24-B850-C0E8-8AFB-65826F06748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Technology Management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01C0ED4F-C305-4B1E-6B98-C60B28464BD7}"/>
              </a:ext>
            </a:extLst>
          </p:cNvPr>
          <p:cNvSpPr>
            <a:spLocks/>
          </p:cNvSpPr>
          <p:nvPr/>
        </p:nvSpPr>
        <p:spPr>
          <a:xfrm>
            <a:off x="554949" y="1465943"/>
            <a:ext cx="9701922" cy="566057"/>
          </a:xfrm>
          <a:custGeom>
            <a:avLst/>
            <a:gdLst>
              <a:gd name="csX0" fmla="*/ 0 w 9509760"/>
              <a:gd name="csY0" fmla="*/ 0 h 566057"/>
              <a:gd name="csX1" fmla="*/ 9509760 w 9509760"/>
              <a:gd name="csY1" fmla="*/ 0 h 566057"/>
              <a:gd name="csX2" fmla="*/ 9509760 w 9509760"/>
              <a:gd name="csY2" fmla="*/ 566057 h 566057"/>
              <a:gd name="csX3" fmla="*/ 0 w 9509760"/>
              <a:gd name="csY3" fmla="*/ 566057 h 566057"/>
              <a:gd name="csX4" fmla="*/ 0 w 9509760"/>
              <a:gd name="csY4" fmla="*/ 0 h 566057"/>
              <a:gd name="csX0" fmla="*/ 0 w 9712960"/>
              <a:gd name="csY0" fmla="*/ 0 h 566057"/>
              <a:gd name="csX1" fmla="*/ 9509760 w 9712960"/>
              <a:gd name="csY1" fmla="*/ 0 h 566057"/>
              <a:gd name="csX2" fmla="*/ 9712960 w 9712960"/>
              <a:gd name="csY2" fmla="*/ 566057 h 566057"/>
              <a:gd name="csX3" fmla="*/ 0 w 9712960"/>
              <a:gd name="csY3" fmla="*/ 566057 h 566057"/>
              <a:gd name="csX4" fmla="*/ 0 w 9712960"/>
              <a:gd name="csY4" fmla="*/ 0 h 5660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712960" h="566057">
                <a:moveTo>
                  <a:pt x="0" y="0"/>
                </a:moveTo>
                <a:lnTo>
                  <a:pt x="9509760" y="0"/>
                </a:lnTo>
                <a:lnTo>
                  <a:pt x="9712960" y="566057"/>
                </a:lnTo>
                <a:lnTo>
                  <a:pt x="0" y="566057"/>
                </a:lnTo>
                <a:lnTo>
                  <a:pt x="0" y="0"/>
                </a:lnTo>
                <a:close/>
              </a:path>
            </a:pathLst>
          </a:custGeom>
          <a:solidFill>
            <a:srgbClr val="C00000"/>
          </a:solidFill>
          <a:ln w="9231" cap="flat">
            <a:noFill/>
            <a:prstDash val="solid"/>
            <a:miter/>
          </a:ln>
          <a:effectLst>
            <a:outerShdw blurRad="50800" dist="50800" dir="7680000" algn="ctr" rotWithShape="0">
              <a:srgbClr val="C00000">
                <a:alpha val="43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lang="en-US" sz="1600" b="1" err="1">
                <a:solidFill>
                  <a:schemeClr val="bg1"/>
                </a:solidFill>
              </a:rPr>
              <a:t>Unternehmens</a:t>
            </a:r>
            <a:r>
              <a:rPr lang="en-US" sz="1600" b="1">
                <a:solidFill>
                  <a:schemeClr val="bg1"/>
                </a:solidFill>
              </a:rPr>
              <a:t> </a:t>
            </a:r>
            <a:r>
              <a:rPr lang="en-US" sz="1600" b="1" err="1">
                <a:solidFill>
                  <a:schemeClr val="bg1"/>
                </a:solidFill>
              </a:rPr>
              <a:t>Infrastruktur</a:t>
            </a:r>
            <a:endParaRPr lang="en-US" sz="1600" b="1">
              <a:solidFill>
                <a:schemeClr val="bg1"/>
              </a:solidFill>
            </a:endParaRPr>
          </a:p>
          <a:p>
            <a:pPr algn="ctr"/>
            <a:r>
              <a:rPr lang="en-US" sz="1600" b="1">
                <a:solidFill>
                  <a:schemeClr val="bg1"/>
                </a:solidFill>
              </a:rPr>
              <a:t>Management, </a:t>
            </a:r>
            <a:r>
              <a:rPr lang="en-US" sz="1600" b="1" err="1">
                <a:solidFill>
                  <a:schemeClr val="bg1"/>
                </a:solidFill>
              </a:rPr>
              <a:t>Strategie</a:t>
            </a:r>
            <a:r>
              <a:rPr lang="en-US" sz="1600" b="1">
                <a:solidFill>
                  <a:schemeClr val="bg1"/>
                </a:solidFill>
              </a:rPr>
              <a:t>, </a:t>
            </a:r>
            <a:r>
              <a:rPr lang="en-US" sz="1600" b="1" err="1">
                <a:solidFill>
                  <a:schemeClr val="bg1"/>
                </a:solidFill>
              </a:rPr>
              <a:t>Finanzen</a:t>
            </a:r>
            <a:r>
              <a:rPr lang="en-US" sz="1600" b="1">
                <a:solidFill>
                  <a:schemeClr val="bg1"/>
                </a:solidFill>
              </a:rPr>
              <a:t> und </a:t>
            </a:r>
            <a:r>
              <a:rPr lang="en-US" sz="1600" b="1" err="1">
                <a:solidFill>
                  <a:schemeClr val="bg1"/>
                </a:solidFill>
              </a:rPr>
              <a:t>Qualitätsmanagement</a:t>
            </a:r>
            <a:endParaRPr lang="en-US" sz="1600" b="1">
              <a:solidFill>
                <a:schemeClr val="bg1"/>
              </a:solidFill>
            </a:endParaRPr>
          </a:p>
        </p:txBody>
      </p:sp>
      <p:sp>
        <p:nvSpPr>
          <p:cNvPr id="72" name="Chevron 71">
            <a:extLst>
              <a:ext uri="{FF2B5EF4-FFF2-40B4-BE49-F238E27FC236}">
                <a16:creationId xmlns:a16="http://schemas.microsoft.com/office/drawing/2014/main" id="{7287437B-DEED-9ED4-A90F-D52D2AC5ACE5}"/>
              </a:ext>
            </a:extLst>
          </p:cNvPr>
          <p:cNvSpPr/>
          <p:nvPr/>
        </p:nvSpPr>
        <p:spPr>
          <a:xfrm>
            <a:off x="10256871" y="1434872"/>
            <a:ext cx="1807403" cy="4921478"/>
          </a:xfrm>
          <a:custGeom>
            <a:avLst/>
            <a:gdLst>
              <a:gd name="csX0" fmla="*/ 0 w 1807403"/>
              <a:gd name="csY0" fmla="*/ 0 h 4921478"/>
              <a:gd name="csX1" fmla="*/ 903702 w 1807403"/>
              <a:gd name="csY1" fmla="*/ 0 h 4921478"/>
              <a:gd name="csX2" fmla="*/ 1807403 w 1807403"/>
              <a:gd name="csY2" fmla="*/ 2460739 h 4921478"/>
              <a:gd name="csX3" fmla="*/ 903702 w 1807403"/>
              <a:gd name="csY3" fmla="*/ 4921478 h 4921478"/>
              <a:gd name="csX4" fmla="*/ 0 w 1807403"/>
              <a:gd name="csY4" fmla="*/ 4921478 h 4921478"/>
              <a:gd name="csX5" fmla="*/ 903702 w 1807403"/>
              <a:gd name="csY5" fmla="*/ 2460739 h 4921478"/>
              <a:gd name="csX6" fmla="*/ 0 w 1807403"/>
              <a:gd name="csY6" fmla="*/ 0 h 4921478"/>
              <a:gd name="csX0" fmla="*/ 0 w 1807403"/>
              <a:gd name="csY0" fmla="*/ 0 h 4921478"/>
              <a:gd name="csX1" fmla="*/ 903702 w 1807403"/>
              <a:gd name="csY1" fmla="*/ 0 h 4921478"/>
              <a:gd name="csX2" fmla="*/ 1807403 w 1807403"/>
              <a:gd name="csY2" fmla="*/ 2460739 h 4921478"/>
              <a:gd name="csX3" fmla="*/ 903702 w 1807403"/>
              <a:gd name="csY3" fmla="*/ 4921478 h 4921478"/>
              <a:gd name="csX4" fmla="*/ 319315 w 1807403"/>
              <a:gd name="csY4" fmla="*/ 4921478 h 4921478"/>
              <a:gd name="csX5" fmla="*/ 903702 w 1807403"/>
              <a:gd name="csY5" fmla="*/ 2460739 h 4921478"/>
              <a:gd name="csX6" fmla="*/ 0 w 1807403"/>
              <a:gd name="csY6" fmla="*/ 0 h 49214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07403" h="4921478">
                <a:moveTo>
                  <a:pt x="0" y="0"/>
                </a:moveTo>
                <a:lnTo>
                  <a:pt x="903702" y="0"/>
                </a:lnTo>
                <a:lnTo>
                  <a:pt x="1807403" y="2460739"/>
                </a:lnTo>
                <a:lnTo>
                  <a:pt x="903702" y="4921478"/>
                </a:lnTo>
                <a:lnTo>
                  <a:pt x="319315" y="4921478"/>
                </a:lnTo>
                <a:lnTo>
                  <a:pt x="903702" y="2460739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57150" cap="flat">
            <a:noFill/>
            <a:prstDash val="solid"/>
            <a:miter/>
          </a:ln>
          <a:effectLst>
            <a:outerShdw blurRad="50800" dir="5400000" algn="ctr" rotWithShape="0">
              <a:srgbClr val="C00000"/>
            </a:outerShdw>
          </a:effectLst>
        </p:spPr>
        <p:txBody>
          <a:bodyPr rtlCol="0" anchor="ctr"/>
          <a:lstStyle/>
          <a:p>
            <a:pPr algn="ctr"/>
            <a:r>
              <a:rPr lang="en-US" sz="1600" b="1">
                <a:solidFill>
                  <a:sysClr val="windowText" lastClr="000000"/>
                </a:solidFill>
              </a:rPr>
              <a:t>                  Marge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82169984-62CB-A5CD-54BB-E5EF2FD4DBF5}"/>
              </a:ext>
            </a:extLst>
          </p:cNvPr>
          <p:cNvSpPr/>
          <p:nvPr/>
        </p:nvSpPr>
        <p:spPr>
          <a:xfrm>
            <a:off x="549917" y="2063071"/>
            <a:ext cx="9881126" cy="566057"/>
          </a:xfrm>
          <a:custGeom>
            <a:avLst/>
            <a:gdLst>
              <a:gd name="csX0" fmla="*/ 0 w 9712960"/>
              <a:gd name="csY0" fmla="*/ 0 h 566057"/>
              <a:gd name="csX1" fmla="*/ 9712960 w 9712960"/>
              <a:gd name="csY1" fmla="*/ 0 h 566057"/>
              <a:gd name="csX2" fmla="*/ 9712960 w 9712960"/>
              <a:gd name="csY2" fmla="*/ 566057 h 566057"/>
              <a:gd name="csX3" fmla="*/ 0 w 9712960"/>
              <a:gd name="csY3" fmla="*/ 566057 h 566057"/>
              <a:gd name="csX4" fmla="*/ 0 w 9712960"/>
              <a:gd name="csY4" fmla="*/ 0 h 566057"/>
              <a:gd name="csX0" fmla="*/ 0 w 9887132"/>
              <a:gd name="csY0" fmla="*/ 0 h 566057"/>
              <a:gd name="csX1" fmla="*/ 9712960 w 9887132"/>
              <a:gd name="csY1" fmla="*/ 0 h 566057"/>
              <a:gd name="csX2" fmla="*/ 9887132 w 9887132"/>
              <a:gd name="csY2" fmla="*/ 566057 h 566057"/>
              <a:gd name="csX3" fmla="*/ 0 w 9887132"/>
              <a:gd name="csY3" fmla="*/ 566057 h 566057"/>
              <a:gd name="csX4" fmla="*/ 0 w 9887132"/>
              <a:gd name="csY4" fmla="*/ 0 h 5660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887132" h="566057">
                <a:moveTo>
                  <a:pt x="0" y="0"/>
                </a:moveTo>
                <a:lnTo>
                  <a:pt x="9712960" y="0"/>
                </a:lnTo>
                <a:lnTo>
                  <a:pt x="9887132" y="566057"/>
                </a:lnTo>
                <a:lnTo>
                  <a:pt x="0" y="566057"/>
                </a:lnTo>
                <a:lnTo>
                  <a:pt x="0" y="0"/>
                </a:lnTo>
                <a:close/>
              </a:path>
            </a:pathLst>
          </a:custGeom>
          <a:solidFill>
            <a:srgbClr val="C00000"/>
          </a:solidFill>
          <a:ln w="9231" cap="flat">
            <a:noFill/>
            <a:prstDash val="solid"/>
            <a:miter/>
          </a:ln>
          <a:effectLst>
            <a:outerShdw blurRad="50800" dist="50800" dir="7680000" algn="ctr" rotWithShape="0">
              <a:srgbClr val="C00000">
                <a:alpha val="43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lang="en-US" sz="1600" b="1">
                <a:solidFill>
                  <a:schemeClr val="bg1"/>
                </a:solidFill>
              </a:rPr>
              <a:t>Human Resource Management </a:t>
            </a:r>
          </a:p>
          <a:p>
            <a:pPr algn="ctr"/>
            <a:r>
              <a:rPr lang="en-US" sz="1600" b="1" err="1">
                <a:solidFill>
                  <a:schemeClr val="bg1"/>
                </a:solidFill>
              </a:rPr>
              <a:t>Fachkräfte</a:t>
            </a:r>
            <a:r>
              <a:rPr lang="en-US" sz="1600" b="1">
                <a:solidFill>
                  <a:schemeClr val="bg1"/>
                </a:solidFill>
              </a:rPr>
              <a:t>, </a:t>
            </a:r>
            <a:r>
              <a:rPr lang="en-US" sz="1600" b="1" err="1">
                <a:solidFill>
                  <a:schemeClr val="bg1"/>
                </a:solidFill>
              </a:rPr>
              <a:t>Ausbildung</a:t>
            </a:r>
            <a:r>
              <a:rPr lang="en-US" sz="1600" b="1">
                <a:solidFill>
                  <a:schemeClr val="bg1"/>
                </a:solidFill>
              </a:rPr>
              <a:t> und </a:t>
            </a:r>
            <a:r>
              <a:rPr lang="en-US" sz="1600" b="1" err="1">
                <a:solidFill>
                  <a:schemeClr val="bg1"/>
                </a:solidFill>
              </a:rPr>
              <a:t>Personalentwicklung</a:t>
            </a:r>
            <a:endParaRPr lang="en-US" sz="1600" b="1">
              <a:solidFill>
                <a:schemeClr val="bg1"/>
              </a:solidFill>
            </a:endParaRPr>
          </a:p>
        </p:txBody>
      </p:sp>
      <p:sp>
        <p:nvSpPr>
          <p:cNvPr id="75" name="Rectangle 73">
            <a:extLst>
              <a:ext uri="{FF2B5EF4-FFF2-40B4-BE49-F238E27FC236}">
                <a16:creationId xmlns:a16="http://schemas.microsoft.com/office/drawing/2014/main" id="{A0B615E8-E9DA-DC2B-A25D-EA8713B0AA0A}"/>
              </a:ext>
            </a:extLst>
          </p:cNvPr>
          <p:cNvSpPr/>
          <p:nvPr/>
        </p:nvSpPr>
        <p:spPr>
          <a:xfrm>
            <a:off x="543911" y="2691270"/>
            <a:ext cx="10095060" cy="566057"/>
          </a:xfrm>
          <a:custGeom>
            <a:avLst/>
            <a:gdLst>
              <a:gd name="csX0" fmla="*/ 0 w 9712960"/>
              <a:gd name="csY0" fmla="*/ 0 h 566057"/>
              <a:gd name="csX1" fmla="*/ 9712960 w 9712960"/>
              <a:gd name="csY1" fmla="*/ 0 h 566057"/>
              <a:gd name="csX2" fmla="*/ 9712960 w 9712960"/>
              <a:gd name="csY2" fmla="*/ 566057 h 566057"/>
              <a:gd name="csX3" fmla="*/ 0 w 9712960"/>
              <a:gd name="csY3" fmla="*/ 566057 h 566057"/>
              <a:gd name="csX4" fmla="*/ 0 w 9712960"/>
              <a:gd name="csY4" fmla="*/ 0 h 566057"/>
              <a:gd name="csX0" fmla="*/ 0 w 9887132"/>
              <a:gd name="csY0" fmla="*/ 0 h 566057"/>
              <a:gd name="csX1" fmla="*/ 9712960 w 9887132"/>
              <a:gd name="csY1" fmla="*/ 0 h 566057"/>
              <a:gd name="csX2" fmla="*/ 9887132 w 9887132"/>
              <a:gd name="csY2" fmla="*/ 566057 h 566057"/>
              <a:gd name="csX3" fmla="*/ 0 w 9887132"/>
              <a:gd name="csY3" fmla="*/ 566057 h 566057"/>
              <a:gd name="csX4" fmla="*/ 0 w 9887132"/>
              <a:gd name="csY4" fmla="*/ 0 h 5660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887132" h="566057">
                <a:moveTo>
                  <a:pt x="0" y="0"/>
                </a:moveTo>
                <a:lnTo>
                  <a:pt x="9712960" y="0"/>
                </a:lnTo>
                <a:lnTo>
                  <a:pt x="9887132" y="566057"/>
                </a:lnTo>
                <a:lnTo>
                  <a:pt x="0" y="566057"/>
                </a:lnTo>
                <a:lnTo>
                  <a:pt x="0" y="0"/>
                </a:lnTo>
                <a:close/>
              </a:path>
            </a:pathLst>
          </a:custGeom>
          <a:solidFill>
            <a:srgbClr val="C00000"/>
          </a:solidFill>
          <a:ln w="9231" cap="flat">
            <a:noFill/>
            <a:prstDash val="solid"/>
            <a:miter/>
          </a:ln>
          <a:effectLst>
            <a:outerShdw blurRad="50800" dist="50800" dir="7680000" algn="ctr" rotWithShape="0">
              <a:srgbClr val="C00000">
                <a:alpha val="43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lang="en-US" sz="1600" b="1">
                <a:solidFill>
                  <a:schemeClr val="bg1"/>
                </a:solidFill>
              </a:rPr>
              <a:t>Technologie-</a:t>
            </a:r>
            <a:r>
              <a:rPr lang="en-US" sz="1600" b="1" err="1">
                <a:solidFill>
                  <a:schemeClr val="bg1"/>
                </a:solidFill>
              </a:rPr>
              <a:t>Entwicklung</a:t>
            </a:r>
            <a:endParaRPr lang="en-US" sz="1600" b="1">
              <a:solidFill>
                <a:schemeClr val="bg1"/>
              </a:solidFill>
            </a:endParaRPr>
          </a:p>
          <a:p>
            <a:pPr algn="ctr"/>
            <a:r>
              <a:rPr lang="en-US" sz="1600" b="1" err="1">
                <a:solidFill>
                  <a:schemeClr val="bg1"/>
                </a:solidFill>
              </a:rPr>
              <a:t>Elektromobilität</a:t>
            </a:r>
            <a:r>
              <a:rPr lang="en-US" sz="1600" b="1">
                <a:solidFill>
                  <a:schemeClr val="bg1"/>
                </a:solidFill>
              </a:rPr>
              <a:t>, Software, </a:t>
            </a:r>
            <a:r>
              <a:rPr lang="en-US" sz="1600" b="1" err="1">
                <a:solidFill>
                  <a:schemeClr val="bg1"/>
                </a:solidFill>
              </a:rPr>
              <a:t>Batterietechnik</a:t>
            </a:r>
            <a:r>
              <a:rPr lang="en-US" sz="1600" b="1">
                <a:solidFill>
                  <a:schemeClr val="bg1"/>
                </a:solidFill>
              </a:rPr>
              <a:t> und Innovation</a:t>
            </a:r>
          </a:p>
        </p:txBody>
      </p:sp>
      <p:sp>
        <p:nvSpPr>
          <p:cNvPr id="76" name="Rectangle 73">
            <a:extLst>
              <a:ext uri="{FF2B5EF4-FFF2-40B4-BE49-F238E27FC236}">
                <a16:creationId xmlns:a16="http://schemas.microsoft.com/office/drawing/2014/main" id="{786B5E1E-1E66-97A8-1EDF-67F69B830499}"/>
              </a:ext>
            </a:extLst>
          </p:cNvPr>
          <p:cNvSpPr/>
          <p:nvPr/>
        </p:nvSpPr>
        <p:spPr>
          <a:xfrm>
            <a:off x="538461" y="3298483"/>
            <a:ext cx="10289195" cy="566057"/>
          </a:xfrm>
          <a:custGeom>
            <a:avLst/>
            <a:gdLst>
              <a:gd name="csX0" fmla="*/ 0 w 9712960"/>
              <a:gd name="csY0" fmla="*/ 0 h 566057"/>
              <a:gd name="csX1" fmla="*/ 9712960 w 9712960"/>
              <a:gd name="csY1" fmla="*/ 0 h 566057"/>
              <a:gd name="csX2" fmla="*/ 9712960 w 9712960"/>
              <a:gd name="csY2" fmla="*/ 566057 h 566057"/>
              <a:gd name="csX3" fmla="*/ 0 w 9712960"/>
              <a:gd name="csY3" fmla="*/ 566057 h 566057"/>
              <a:gd name="csX4" fmla="*/ 0 w 9712960"/>
              <a:gd name="csY4" fmla="*/ 0 h 566057"/>
              <a:gd name="csX0" fmla="*/ 0 w 9887132"/>
              <a:gd name="csY0" fmla="*/ 0 h 566057"/>
              <a:gd name="csX1" fmla="*/ 9712960 w 9887132"/>
              <a:gd name="csY1" fmla="*/ 0 h 566057"/>
              <a:gd name="csX2" fmla="*/ 9887132 w 9887132"/>
              <a:gd name="csY2" fmla="*/ 566057 h 566057"/>
              <a:gd name="csX3" fmla="*/ 0 w 9887132"/>
              <a:gd name="csY3" fmla="*/ 566057 h 566057"/>
              <a:gd name="csX4" fmla="*/ 0 w 9887132"/>
              <a:gd name="csY4" fmla="*/ 0 h 5660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887132" h="566057">
                <a:moveTo>
                  <a:pt x="0" y="0"/>
                </a:moveTo>
                <a:lnTo>
                  <a:pt x="9712960" y="0"/>
                </a:lnTo>
                <a:lnTo>
                  <a:pt x="9887132" y="566057"/>
                </a:lnTo>
                <a:lnTo>
                  <a:pt x="0" y="566057"/>
                </a:lnTo>
                <a:lnTo>
                  <a:pt x="0" y="0"/>
                </a:lnTo>
                <a:close/>
              </a:path>
            </a:pathLst>
          </a:custGeom>
          <a:solidFill>
            <a:srgbClr val="C00000"/>
          </a:solidFill>
          <a:ln w="9231" cap="flat">
            <a:noFill/>
            <a:prstDash val="solid"/>
            <a:miter/>
          </a:ln>
          <a:effectLst>
            <a:outerShdw blurRad="50800" dist="50800" dir="7680000" algn="ctr" rotWithShape="0">
              <a:srgbClr val="C00000">
                <a:alpha val="43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lang="en-US" sz="1600" b="1" err="1">
                <a:solidFill>
                  <a:schemeClr val="bg1"/>
                </a:solidFill>
              </a:rPr>
              <a:t>Beschaffung</a:t>
            </a:r>
            <a:endParaRPr lang="en-US" sz="1600" b="1">
              <a:solidFill>
                <a:schemeClr val="bg1"/>
              </a:solidFill>
            </a:endParaRPr>
          </a:p>
          <a:p>
            <a:pPr algn="ctr"/>
            <a:r>
              <a:rPr lang="en-US" sz="1600" b="1" err="1">
                <a:solidFill>
                  <a:schemeClr val="bg1"/>
                </a:solidFill>
              </a:rPr>
              <a:t>Batterien</a:t>
            </a:r>
            <a:r>
              <a:rPr lang="en-US" sz="1600" b="1">
                <a:solidFill>
                  <a:schemeClr val="bg1"/>
                </a:solidFill>
              </a:rPr>
              <a:t>, </a:t>
            </a:r>
            <a:r>
              <a:rPr lang="en-US" sz="1600" b="1" err="1">
                <a:solidFill>
                  <a:schemeClr val="bg1"/>
                </a:solidFill>
              </a:rPr>
              <a:t>Halbleiter</a:t>
            </a:r>
            <a:r>
              <a:rPr lang="en-US" sz="1600" b="1">
                <a:solidFill>
                  <a:schemeClr val="bg1"/>
                </a:solidFill>
              </a:rPr>
              <a:t>, </a:t>
            </a:r>
            <a:r>
              <a:rPr lang="en-US" sz="1600" b="1" err="1">
                <a:solidFill>
                  <a:schemeClr val="bg1"/>
                </a:solidFill>
              </a:rPr>
              <a:t>Rohstoffe</a:t>
            </a:r>
            <a:r>
              <a:rPr lang="en-US" sz="1600" b="1">
                <a:solidFill>
                  <a:schemeClr val="bg1"/>
                </a:solidFill>
              </a:rPr>
              <a:t> und </a:t>
            </a:r>
            <a:r>
              <a:rPr lang="en-US" sz="1600" b="1" err="1">
                <a:solidFill>
                  <a:schemeClr val="bg1"/>
                </a:solidFill>
              </a:rPr>
              <a:t>Zulieferteile</a:t>
            </a:r>
            <a:endParaRPr lang="en-US" sz="1600" b="1">
              <a:solidFill>
                <a:schemeClr val="bg1"/>
              </a:solidFill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ACF574F2-C496-71FA-3D8B-244562AF3874}"/>
              </a:ext>
            </a:extLst>
          </p:cNvPr>
          <p:cNvSpPr/>
          <p:nvPr/>
        </p:nvSpPr>
        <p:spPr>
          <a:xfrm>
            <a:off x="587821" y="3952304"/>
            <a:ext cx="1908633" cy="2343939"/>
          </a:xfrm>
          <a:prstGeom prst="rect">
            <a:avLst/>
          </a:prstGeom>
          <a:solidFill>
            <a:schemeClr val="bg1"/>
          </a:solidFill>
          <a:ln w="57150" cap="flat">
            <a:noFill/>
            <a:prstDash val="solid"/>
            <a:miter/>
          </a:ln>
          <a:effectLst>
            <a:outerShdw blurRad="50800" dir="5400000" algn="ctr" rotWithShape="0">
              <a:srgbClr val="C00000"/>
            </a:outerShdw>
          </a:effectLst>
        </p:spPr>
        <p:txBody>
          <a:bodyPr rtlCol="0" anchor="ctr"/>
          <a:lstStyle/>
          <a:p>
            <a:pPr algn="ctr"/>
            <a:r>
              <a:rPr lang="en-US" b="1">
                <a:solidFill>
                  <a:srgbClr val="000000"/>
                </a:solidFill>
              </a:rPr>
              <a:t>Interne Logistik</a:t>
            </a:r>
          </a:p>
          <a:p>
            <a:pPr algn="ctr"/>
            <a:endParaRPr lang="en-US" sz="1600" b="1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err="1">
                <a:solidFill>
                  <a:srgbClr val="000000"/>
                </a:solidFill>
              </a:rPr>
              <a:t>Materiallager-ung</a:t>
            </a:r>
            <a:endParaRPr lang="en-US" sz="1600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err="1">
                <a:solidFill>
                  <a:srgbClr val="000000"/>
                </a:solidFill>
              </a:rPr>
              <a:t>Lieferanten</a:t>
            </a:r>
            <a:r>
              <a:rPr lang="en-US" sz="1600">
                <a:solidFill>
                  <a:srgbClr val="000000"/>
                </a:solidFill>
              </a:rPr>
              <a:t>-management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err="1">
                <a:solidFill>
                  <a:srgbClr val="000000"/>
                </a:solidFill>
              </a:rPr>
              <a:t>Bauteil</a:t>
            </a:r>
            <a:r>
              <a:rPr lang="en-US" sz="1600">
                <a:solidFill>
                  <a:srgbClr val="000000"/>
                </a:solidFill>
              </a:rPr>
              <a:t>/</a:t>
            </a:r>
            <a:r>
              <a:rPr lang="en-US" sz="1600" err="1">
                <a:solidFill>
                  <a:srgbClr val="000000"/>
                </a:solidFill>
              </a:rPr>
              <a:t>Rohstoffversorgung</a:t>
            </a:r>
            <a:endParaRPr lang="en-US" sz="1600">
              <a:solidFill>
                <a:srgbClr val="000000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5B138ED0-3408-3F3A-E0EF-2CD98539D82B}"/>
              </a:ext>
            </a:extLst>
          </p:cNvPr>
          <p:cNvSpPr/>
          <p:nvPr/>
        </p:nvSpPr>
        <p:spPr>
          <a:xfrm>
            <a:off x="2598051" y="3959053"/>
            <a:ext cx="1908633" cy="2343939"/>
          </a:xfrm>
          <a:prstGeom prst="rect">
            <a:avLst/>
          </a:prstGeom>
          <a:solidFill>
            <a:schemeClr val="bg1"/>
          </a:solidFill>
          <a:ln w="57150" cap="flat">
            <a:noFill/>
            <a:prstDash val="solid"/>
            <a:miter/>
          </a:ln>
          <a:effectLst>
            <a:outerShdw blurRad="50800" dir="5400000" algn="ctr" rotWithShape="0">
              <a:srgbClr val="C00000"/>
            </a:outerShdw>
          </a:effectLst>
        </p:spPr>
        <p:txBody>
          <a:bodyPr rtlCol="0" anchor="ctr"/>
          <a:lstStyle/>
          <a:p>
            <a:pPr algn="ctr"/>
            <a:r>
              <a:rPr lang="en-US" b="1">
                <a:solidFill>
                  <a:srgbClr val="000000"/>
                </a:solidFill>
              </a:rPr>
              <a:t>Produktion</a:t>
            </a:r>
            <a:endParaRPr lang="en-US" sz="1600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err="1">
                <a:solidFill>
                  <a:srgbClr val="000000"/>
                </a:solidFill>
              </a:rPr>
              <a:t>Fahrzeug-fertigung</a:t>
            </a:r>
            <a:endParaRPr lang="en-US" sz="1600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err="1">
                <a:solidFill>
                  <a:srgbClr val="000000"/>
                </a:solidFill>
              </a:rPr>
              <a:t>Lackierung</a:t>
            </a:r>
            <a:endParaRPr lang="en-US" sz="1600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000000"/>
                </a:solidFill>
              </a:rPr>
              <a:t>Montage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err="1">
                <a:solidFill>
                  <a:srgbClr val="000000"/>
                </a:solidFill>
              </a:rPr>
              <a:t>Qualitäts-kontrolle</a:t>
            </a:r>
            <a:endParaRPr lang="en-US" sz="1600">
              <a:solidFill>
                <a:srgbClr val="000000"/>
              </a:solidFill>
            </a:endParaRPr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en-US" sz="1600">
              <a:solidFill>
                <a:srgbClr val="000000"/>
              </a:solidFill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8580C7B1-1F9B-3EBF-D230-C6FC5F1A6CA5}"/>
              </a:ext>
            </a:extLst>
          </p:cNvPr>
          <p:cNvSpPr/>
          <p:nvPr/>
        </p:nvSpPr>
        <p:spPr>
          <a:xfrm>
            <a:off x="4608281" y="3972234"/>
            <a:ext cx="1908633" cy="2343939"/>
          </a:xfrm>
          <a:prstGeom prst="rect">
            <a:avLst/>
          </a:prstGeom>
          <a:solidFill>
            <a:schemeClr val="bg1"/>
          </a:solidFill>
          <a:ln w="57150" cap="flat">
            <a:noFill/>
            <a:prstDash val="solid"/>
            <a:miter/>
          </a:ln>
          <a:effectLst>
            <a:outerShdw blurRad="50800" dir="5400000" algn="ctr" rotWithShape="0">
              <a:srgbClr val="C00000"/>
            </a:outerShdw>
          </a:effectLst>
        </p:spPr>
        <p:txBody>
          <a:bodyPr rtlCol="0" anchor="ctr"/>
          <a:lstStyle/>
          <a:p>
            <a:pPr algn="ctr"/>
            <a:r>
              <a:rPr lang="en-US" b="1">
                <a:solidFill>
                  <a:srgbClr val="000000"/>
                </a:solidFill>
              </a:rPr>
              <a:t>Externe Logistik</a:t>
            </a:r>
            <a:endParaRPr lang="en-US" sz="1600" b="1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err="1">
                <a:solidFill>
                  <a:srgbClr val="000000"/>
                </a:solidFill>
              </a:rPr>
              <a:t>Fahrzeug</a:t>
            </a:r>
            <a:r>
              <a:rPr lang="en-US" sz="1600">
                <a:solidFill>
                  <a:srgbClr val="000000"/>
                </a:solidFill>
              </a:rPr>
              <a:t>-transport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err="1">
                <a:solidFill>
                  <a:srgbClr val="000000"/>
                </a:solidFill>
              </a:rPr>
              <a:t>Weltweite</a:t>
            </a:r>
            <a:br>
              <a:rPr lang="en-US" sz="1600">
                <a:solidFill>
                  <a:srgbClr val="000000"/>
                </a:solidFill>
              </a:rPr>
            </a:br>
            <a:r>
              <a:rPr lang="en-US" sz="1600">
                <a:solidFill>
                  <a:srgbClr val="000000"/>
                </a:solidFill>
              </a:rPr>
              <a:t>Auslieferung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000000"/>
                </a:solidFill>
              </a:rPr>
              <a:t>Kunden-</a:t>
            </a:r>
            <a:r>
              <a:rPr lang="en-US" sz="1600" err="1">
                <a:solidFill>
                  <a:srgbClr val="000000"/>
                </a:solidFill>
              </a:rPr>
              <a:t>übergabe</a:t>
            </a:r>
            <a:endParaRPr lang="en-US" sz="1600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>
              <a:solidFill>
                <a:srgbClr val="000000"/>
              </a:solidFill>
            </a:endParaRP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6A9C790E-0A72-D161-E25B-5799EA3EB0FF}"/>
              </a:ext>
            </a:extLst>
          </p:cNvPr>
          <p:cNvSpPr/>
          <p:nvPr/>
        </p:nvSpPr>
        <p:spPr>
          <a:xfrm>
            <a:off x="6618511" y="3978983"/>
            <a:ext cx="1908633" cy="2343939"/>
          </a:xfrm>
          <a:prstGeom prst="rect">
            <a:avLst/>
          </a:prstGeom>
          <a:solidFill>
            <a:schemeClr val="bg1"/>
          </a:solidFill>
          <a:ln w="57150" cap="flat">
            <a:noFill/>
            <a:prstDash val="solid"/>
            <a:miter/>
          </a:ln>
          <a:effectLst>
            <a:outerShdw blurRad="50800" dir="5400000" algn="ctr" rotWithShape="0">
              <a:srgbClr val="C00000"/>
            </a:outerShdw>
          </a:effectLst>
        </p:spPr>
        <p:txBody>
          <a:bodyPr rtlCol="0" anchor="ctr"/>
          <a:lstStyle/>
          <a:p>
            <a:pPr algn="ctr"/>
            <a:r>
              <a:rPr lang="en-US" b="1" err="1">
                <a:solidFill>
                  <a:srgbClr val="000000"/>
                </a:solidFill>
              </a:rPr>
              <a:t>Marteting</a:t>
            </a:r>
            <a:r>
              <a:rPr lang="en-US" b="1">
                <a:solidFill>
                  <a:srgbClr val="000000"/>
                </a:solidFill>
              </a:rPr>
              <a:t> &amp; </a:t>
            </a:r>
            <a:r>
              <a:rPr lang="en-US" b="1" err="1">
                <a:solidFill>
                  <a:srgbClr val="000000"/>
                </a:solidFill>
              </a:rPr>
              <a:t>Verkauf</a:t>
            </a:r>
            <a:endParaRPr lang="en-US" b="1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err="1">
                <a:solidFill>
                  <a:srgbClr val="000000"/>
                </a:solidFill>
              </a:rPr>
              <a:t>Permium</a:t>
            </a:r>
            <a:r>
              <a:rPr lang="en-US" sz="1600">
                <a:solidFill>
                  <a:srgbClr val="000000"/>
                </a:solidFill>
              </a:rPr>
              <a:t>-Marketing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err="1">
                <a:solidFill>
                  <a:srgbClr val="000000"/>
                </a:solidFill>
              </a:rPr>
              <a:t>Prosche</a:t>
            </a:r>
            <a:r>
              <a:rPr lang="en-US" sz="1600">
                <a:solidFill>
                  <a:srgbClr val="000000"/>
                </a:solidFill>
              </a:rPr>
              <a:t> </a:t>
            </a:r>
            <a:r>
              <a:rPr lang="en-US" sz="1600" err="1">
                <a:solidFill>
                  <a:srgbClr val="000000"/>
                </a:solidFill>
              </a:rPr>
              <a:t>Zentren</a:t>
            </a:r>
            <a:endParaRPr lang="en-US" sz="1600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err="1">
                <a:solidFill>
                  <a:srgbClr val="000000"/>
                </a:solidFill>
              </a:rPr>
              <a:t>Fahrzeug-Konfigurationen</a:t>
            </a:r>
            <a:endParaRPr lang="en-US" sz="1600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err="1">
                <a:solidFill>
                  <a:srgbClr val="000000"/>
                </a:solidFill>
              </a:rPr>
              <a:t>Markenimage</a:t>
            </a:r>
            <a:endParaRPr lang="en-US" sz="1600">
              <a:solidFill>
                <a:srgbClr val="000000"/>
              </a:solidFill>
            </a:endParaRP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E9865388-00E8-6DBC-734B-7576F614F8AD}"/>
              </a:ext>
            </a:extLst>
          </p:cNvPr>
          <p:cNvSpPr/>
          <p:nvPr/>
        </p:nvSpPr>
        <p:spPr>
          <a:xfrm>
            <a:off x="8628741" y="3987494"/>
            <a:ext cx="2213433" cy="2343939"/>
          </a:xfrm>
          <a:custGeom>
            <a:avLst/>
            <a:gdLst>
              <a:gd name="csX0" fmla="*/ 0 w 1908633"/>
              <a:gd name="csY0" fmla="*/ 0 h 2343939"/>
              <a:gd name="csX1" fmla="*/ 1908633 w 1908633"/>
              <a:gd name="csY1" fmla="*/ 0 h 2343939"/>
              <a:gd name="csX2" fmla="*/ 1908633 w 1908633"/>
              <a:gd name="csY2" fmla="*/ 2343939 h 2343939"/>
              <a:gd name="csX3" fmla="*/ 0 w 1908633"/>
              <a:gd name="csY3" fmla="*/ 2343939 h 2343939"/>
              <a:gd name="csX4" fmla="*/ 0 w 1908633"/>
              <a:gd name="csY4" fmla="*/ 0 h 2343939"/>
              <a:gd name="csX0" fmla="*/ 0 w 2213433"/>
              <a:gd name="csY0" fmla="*/ 0 h 2343939"/>
              <a:gd name="csX1" fmla="*/ 2213433 w 2213433"/>
              <a:gd name="csY1" fmla="*/ 0 h 2343939"/>
              <a:gd name="csX2" fmla="*/ 1908633 w 2213433"/>
              <a:gd name="csY2" fmla="*/ 2343939 h 2343939"/>
              <a:gd name="csX3" fmla="*/ 0 w 2213433"/>
              <a:gd name="csY3" fmla="*/ 2343939 h 2343939"/>
              <a:gd name="csX4" fmla="*/ 0 w 2213433"/>
              <a:gd name="csY4" fmla="*/ 0 h 23439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13433" h="2343939">
                <a:moveTo>
                  <a:pt x="0" y="0"/>
                </a:moveTo>
                <a:lnTo>
                  <a:pt x="2213433" y="0"/>
                </a:lnTo>
                <a:lnTo>
                  <a:pt x="1908633" y="2343939"/>
                </a:lnTo>
                <a:lnTo>
                  <a:pt x="0" y="2343939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57150" cap="flat">
            <a:noFill/>
            <a:prstDash val="solid"/>
            <a:miter/>
          </a:ln>
          <a:effectLst>
            <a:outerShdw blurRad="50800" dir="5400000" algn="ctr" rotWithShape="0">
              <a:srgbClr val="C00000"/>
            </a:outerShdw>
          </a:effectLst>
        </p:spPr>
        <p:txBody>
          <a:bodyPr rtlCol="0" anchor="ctr"/>
          <a:lstStyle/>
          <a:p>
            <a:pPr algn="ctr"/>
            <a:r>
              <a:rPr lang="en-US" b="1">
                <a:solidFill>
                  <a:srgbClr val="000000"/>
                </a:solidFill>
              </a:rPr>
              <a:t>Service</a:t>
            </a:r>
          </a:p>
          <a:p>
            <a:pPr algn="ctr"/>
            <a:endParaRPr lang="en-US" sz="1600" b="1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err="1">
                <a:solidFill>
                  <a:srgbClr val="000000"/>
                </a:solidFill>
              </a:rPr>
              <a:t>Wartung</a:t>
            </a:r>
            <a:endParaRPr lang="en-US" sz="1600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err="1">
                <a:solidFill>
                  <a:srgbClr val="000000"/>
                </a:solidFill>
              </a:rPr>
              <a:t>Ersatzteile</a:t>
            </a:r>
            <a:endParaRPr lang="en-US" sz="1600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err="1">
                <a:solidFill>
                  <a:srgbClr val="000000"/>
                </a:solidFill>
              </a:rPr>
              <a:t>Finanzierung</a:t>
            </a:r>
            <a:endParaRPr lang="en-US" sz="1600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000000"/>
                </a:solidFill>
              </a:rPr>
              <a:t>Porsche Connect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err="1">
                <a:solidFill>
                  <a:srgbClr val="000000"/>
                </a:solidFill>
              </a:rPr>
              <a:t>Digitale</a:t>
            </a:r>
            <a:r>
              <a:rPr lang="en-US" sz="1600">
                <a:solidFill>
                  <a:srgbClr val="000000"/>
                </a:solidFill>
              </a:rPr>
              <a:t> Services</a:t>
            </a:r>
          </a:p>
        </p:txBody>
      </p:sp>
    </p:spTree>
    <p:extLst>
      <p:ext uri="{BB962C8B-B14F-4D97-AF65-F5344CB8AC3E}">
        <p14:creationId xmlns:p14="http://schemas.microsoft.com/office/powerpoint/2010/main" val="41325589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70BEE-6800-BB62-0E69-71275CFB4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8AE26C5A-E779-DCB0-9DB3-968101F8F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just"/>
            <a:r>
              <a:rPr lang="de-DE" b="1" noProof="1"/>
              <a:t>Unternehmenspositionierung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96408740-E5D1-8804-5E65-5EBCD5B106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3911" y="1457790"/>
            <a:ext cx="3532789" cy="4573586"/>
          </a:xfrm>
        </p:spPr>
        <p:txBody>
          <a:bodyPr/>
          <a:lstStyle/>
          <a:p>
            <a:r>
              <a:rPr lang="en-US" b="1"/>
              <a:t>Kostenführerschaft</a:t>
            </a:r>
          </a:p>
          <a:p>
            <a:r>
              <a:rPr lang="en-US"/>
              <a:t>Porsche verzichtet bewusst auf diese Strategie. Skaleneffekte der VW-Gruppe dienen der </a:t>
            </a:r>
            <a:r>
              <a:rPr lang="en-US" b="1"/>
              <a:t>Margenoptimierung</a:t>
            </a:r>
            <a:r>
              <a:rPr lang="en-US"/>
              <a:t>, nicht der Preissenkung. Das Credo lautet </a:t>
            </a:r>
            <a:r>
              <a:rPr lang="en-US" b="1"/>
              <a:t>„Value over Volume“</a:t>
            </a:r>
            <a:r>
              <a:rPr lang="en-US"/>
              <a:t> statt Massenmarkt-Preiskampf.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2AD3F32-7C44-711C-4E23-77AA6E418AE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78773AF-2259-0B42-AEF5-3C6C7EBEB81F}" type="datetime1">
              <a:rPr lang="en-US" noProof="1" smtClean="0"/>
              <a:t>6/8/26</a:t>
            </a:fld>
            <a:endParaRPr lang="de-DE" noProof="1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A43DCD5-47DE-8C92-FDF1-71CF09C4192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06C6BFE-10C3-7B49-A3EE-08AD7A863B95}" type="slidenum">
              <a:rPr lang="de-DE" noProof="1" smtClean="0"/>
              <a:pPr/>
              <a:t>14</a:t>
            </a:fld>
            <a:endParaRPr lang="de-DE" noProof="1"/>
          </a:p>
        </p:txBody>
      </p:sp>
      <p:sp>
        <p:nvSpPr>
          <p:cNvPr id="3" name="Fußzeilenplatzhalter 4">
            <a:extLst>
              <a:ext uri="{FF2B5EF4-FFF2-40B4-BE49-F238E27FC236}">
                <a16:creationId xmlns:a16="http://schemas.microsoft.com/office/drawing/2014/main" id="{8807AC3B-3572-07B1-C0C5-3A337A611F61}"/>
              </a:ext>
            </a:extLst>
          </p:cNvPr>
          <p:cNvSpPr txBox="1">
            <a:spLocks/>
          </p:cNvSpPr>
          <p:nvPr/>
        </p:nvSpPr>
        <p:spPr>
          <a:xfrm>
            <a:off x="6417733" y="6356239"/>
            <a:ext cx="5291667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000" kern="1200">
                <a:solidFill>
                  <a:schemeClr val="bg2">
                    <a:lumMod val="9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endParaRPr lang="de-DE" noProof="1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Calibri"/>
              <a:cs typeface="Arial"/>
            </a:endParaRPr>
          </a:p>
        </p:txBody>
      </p:sp>
      <p:sp>
        <p:nvSpPr>
          <p:cNvPr id="8" name="Fußzeilenplatzhalter 4">
            <a:extLst>
              <a:ext uri="{FF2B5EF4-FFF2-40B4-BE49-F238E27FC236}">
                <a16:creationId xmlns:a16="http://schemas.microsoft.com/office/drawing/2014/main" id="{FD4E010D-CF33-A430-7C1F-9E3B735969B6}"/>
              </a:ext>
            </a:extLst>
          </p:cNvPr>
          <p:cNvSpPr txBox="1">
            <a:spLocks/>
          </p:cNvSpPr>
          <p:nvPr/>
        </p:nvSpPr>
        <p:spPr>
          <a:xfrm>
            <a:off x="6570133" y="6508639"/>
            <a:ext cx="5291667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000" kern="1200">
                <a:solidFill>
                  <a:schemeClr val="bg2">
                    <a:lumMod val="9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de-DE" noProof="1">
                <a:solidFill>
                  <a:srgbClr val="C4B9C8"/>
                </a:solidFill>
                <a:latin typeface="Arial"/>
                <a:ea typeface="Calibri"/>
                <a:cs typeface="Arial"/>
              </a:rPr>
              <a:t>Technology Management</a:t>
            </a:r>
            <a:endParaRPr lang="de-DE" noProof="1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Calibri"/>
              <a:cs typeface="Arial"/>
            </a:endParaRPr>
          </a:p>
        </p:txBody>
      </p:sp>
      <p:sp>
        <p:nvSpPr>
          <p:cNvPr id="10" name="Inhaltsplatzhalter 6">
            <a:extLst>
              <a:ext uri="{FF2B5EF4-FFF2-40B4-BE49-F238E27FC236}">
                <a16:creationId xmlns:a16="http://schemas.microsoft.com/office/drawing/2014/main" id="{75E3CC44-9076-4B18-C827-8A5C34E58CBF}"/>
              </a:ext>
            </a:extLst>
          </p:cNvPr>
          <p:cNvSpPr txBox="1">
            <a:spLocks/>
          </p:cNvSpPr>
          <p:nvPr/>
        </p:nvSpPr>
        <p:spPr>
          <a:xfrm>
            <a:off x="4329605" y="1420590"/>
            <a:ext cx="3532789" cy="45735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/>
              <a:t>Produktdifferenzierung</a:t>
            </a:r>
          </a:p>
          <a:p>
            <a:r>
              <a:rPr lang="en-US"/>
              <a:t>Die </a:t>
            </a:r>
            <a:r>
              <a:rPr lang="en-US" b="1"/>
              <a:t>Kernstrategie</a:t>
            </a:r>
            <a:r>
              <a:rPr lang="en-US"/>
              <a:t> von Porsche. Einzigartigkeit durch technologische Exzellenz, ikonisches Design und ein unverwechselbares Heritage. Ziel ist die maximale </a:t>
            </a:r>
            <a:r>
              <a:rPr lang="en-US" b="1"/>
              <a:t>Zahlungsbereitschaft</a:t>
            </a:r>
            <a:r>
              <a:rPr lang="en-US"/>
              <a:t> durch emotionalen Mehrwert.</a:t>
            </a:r>
          </a:p>
        </p:txBody>
      </p:sp>
      <p:sp>
        <p:nvSpPr>
          <p:cNvPr id="11" name="Inhaltsplatzhalter 6">
            <a:extLst>
              <a:ext uri="{FF2B5EF4-FFF2-40B4-BE49-F238E27FC236}">
                <a16:creationId xmlns:a16="http://schemas.microsoft.com/office/drawing/2014/main" id="{FBFF8DFF-3547-9578-7D9A-EC151B477D80}"/>
              </a:ext>
            </a:extLst>
          </p:cNvPr>
          <p:cNvSpPr txBox="1">
            <a:spLocks/>
          </p:cNvSpPr>
          <p:nvPr/>
        </p:nvSpPr>
        <p:spPr>
          <a:xfrm>
            <a:off x="7862394" y="1420701"/>
            <a:ext cx="3532789" cy="45735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/>
              <a:t>Konzentration auf Schwerpunkte</a:t>
            </a:r>
          </a:p>
          <a:p>
            <a:r>
              <a:rPr lang="en-US"/>
              <a:t>Fokussierung auf das </a:t>
            </a:r>
            <a:r>
              <a:rPr lang="en-US" b="1"/>
              <a:t>Luxus- und Hochleistungssegment</a:t>
            </a:r>
            <a:r>
              <a:rPr lang="en-US"/>
              <a:t>. Porsche bedient keine breiten Massenmärkte, sondern konzentriert sich konsequent auf die exklusive Nische von </a:t>
            </a:r>
            <a:r>
              <a:rPr lang="en-US" b="1"/>
              <a:t>High-Net-Worth Individuals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411830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5B948-30AC-4053-8100-22F9BF4A6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20371492-7E91-95D5-BF32-D70E7D114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just"/>
            <a:r>
              <a:rPr lang="de-DE" b="1" noProof="1"/>
              <a:t>Schlüsseltechnologien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4094671-2BFD-E203-EE0F-7CA00426E8D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78773AF-2259-0B42-AEF5-3C6C7EBEB81F}" type="datetime1">
              <a:rPr lang="en-US" noProof="1" smtClean="0"/>
              <a:t>6/8/26</a:t>
            </a:fld>
            <a:endParaRPr lang="de-DE" noProof="1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C63B2EA-BD4B-88E0-A35A-504AAD5DFC6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06C6BFE-10C3-7B49-A3EE-08AD7A863B95}" type="slidenum">
              <a:rPr lang="de-DE" noProof="1" smtClean="0"/>
              <a:pPr/>
              <a:t>15</a:t>
            </a:fld>
            <a:endParaRPr lang="de-DE" noProof="1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9560E4-51D3-5480-C1ED-747754632334}"/>
              </a:ext>
            </a:extLst>
          </p:cNvPr>
          <p:cNvSpPr txBox="1"/>
          <p:nvPr/>
        </p:nvSpPr>
        <p:spPr>
          <a:xfrm>
            <a:off x="5710239" y="6356350"/>
            <a:ext cx="49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noProof="1"/>
              <a:t>[1]</a:t>
            </a:r>
          </a:p>
        </p:txBody>
      </p:sp>
      <p:sp>
        <p:nvSpPr>
          <p:cNvPr id="3" name="Fußzeilenplatzhalter 4">
            <a:extLst>
              <a:ext uri="{FF2B5EF4-FFF2-40B4-BE49-F238E27FC236}">
                <a16:creationId xmlns:a16="http://schemas.microsoft.com/office/drawing/2014/main" id="{EA61F9AA-CB03-8F80-9F24-FCDB13EB646D}"/>
              </a:ext>
            </a:extLst>
          </p:cNvPr>
          <p:cNvSpPr txBox="1">
            <a:spLocks/>
          </p:cNvSpPr>
          <p:nvPr/>
        </p:nvSpPr>
        <p:spPr>
          <a:xfrm>
            <a:off x="6417733" y="6356239"/>
            <a:ext cx="5291667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000" kern="1200">
                <a:solidFill>
                  <a:schemeClr val="bg2">
                    <a:lumMod val="9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endParaRPr lang="de-DE" noProof="1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Calibri"/>
              <a:cs typeface="Arial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8A7AF2-33C9-2B4B-6F81-54802870478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Technology Management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DCEB08-4A65-7058-9EA0-152544EDE0E6}"/>
              </a:ext>
            </a:extLst>
          </p:cNvPr>
          <p:cNvSpPr/>
          <p:nvPr/>
        </p:nvSpPr>
        <p:spPr>
          <a:xfrm>
            <a:off x="215901" y="1423915"/>
            <a:ext cx="1972733" cy="4776821"/>
          </a:xfrm>
          <a:prstGeom prst="rect">
            <a:avLst/>
          </a:prstGeom>
          <a:solidFill>
            <a:schemeClr val="bg1"/>
          </a:solidFill>
          <a:ln w="57150" cap="flat">
            <a:noFill/>
            <a:prstDash val="solid"/>
            <a:miter/>
          </a:ln>
          <a:effectLst>
            <a:outerShdw blurRad="206677" dist="83281" dir="7860000" algn="ctr" rotWithShape="0">
              <a:srgbClr val="C00000"/>
            </a:outerShdw>
          </a:effectLst>
        </p:spPr>
        <p:txBody>
          <a:bodyPr rtlCol="0" anchor="ctr"/>
          <a:lstStyle/>
          <a:p>
            <a:pPr algn="ctr"/>
            <a:r>
              <a:rPr lang="en-US" b="1" err="1">
                <a:solidFill>
                  <a:srgbClr val="000000"/>
                </a:solidFill>
              </a:rPr>
              <a:t>Elektromobilität</a:t>
            </a:r>
            <a:endParaRPr lang="en-US" b="1">
              <a:solidFill>
                <a:srgbClr val="000000"/>
              </a:solidFill>
            </a:endParaRPr>
          </a:p>
          <a:p>
            <a:pPr algn="ctr"/>
            <a:endParaRPr lang="en-US" b="1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err="1">
                <a:solidFill>
                  <a:srgbClr val="000000"/>
                </a:solidFill>
              </a:rPr>
              <a:t>Hochleistungs-batterien</a:t>
            </a:r>
            <a:endParaRPr lang="en-US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err="1">
                <a:solidFill>
                  <a:srgbClr val="000000"/>
                </a:solidFill>
              </a:rPr>
              <a:t>Schnelllade-technologie</a:t>
            </a:r>
            <a:endParaRPr lang="en-US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err="1">
                <a:solidFill>
                  <a:srgbClr val="000000"/>
                </a:solidFill>
              </a:rPr>
              <a:t>Elektrische</a:t>
            </a:r>
            <a:r>
              <a:rPr lang="en-US">
                <a:solidFill>
                  <a:srgbClr val="000000"/>
                </a:solidFill>
              </a:rPr>
              <a:t> </a:t>
            </a:r>
            <a:br>
              <a:rPr lang="en-US">
                <a:solidFill>
                  <a:srgbClr val="000000"/>
                </a:solidFill>
              </a:rPr>
            </a:br>
            <a:r>
              <a:rPr lang="en-US" err="1">
                <a:solidFill>
                  <a:srgbClr val="000000"/>
                </a:solidFill>
              </a:rPr>
              <a:t>Plattformen</a:t>
            </a:r>
            <a:endParaRPr lang="en-US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000000"/>
                </a:solidFill>
              </a:rPr>
              <a:t>Thermo-management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>
              <a:solidFill>
                <a:srgbClr val="000000"/>
              </a:solidFill>
            </a:endParaRPr>
          </a:p>
          <a:p>
            <a:endParaRPr lang="en-US" b="1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>
              <a:solidFill>
                <a:srgbClr val="000000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F2974A5-8AEC-EA53-86CC-C7DE52C97D65}"/>
              </a:ext>
            </a:extLst>
          </p:cNvPr>
          <p:cNvSpPr/>
          <p:nvPr/>
        </p:nvSpPr>
        <p:spPr>
          <a:xfrm>
            <a:off x="2662767" y="1423915"/>
            <a:ext cx="1972733" cy="4776821"/>
          </a:xfrm>
          <a:prstGeom prst="rect">
            <a:avLst/>
          </a:prstGeom>
          <a:solidFill>
            <a:schemeClr val="bg1"/>
          </a:solidFill>
          <a:ln w="57150" cap="flat">
            <a:noFill/>
            <a:prstDash val="solid"/>
            <a:miter/>
          </a:ln>
          <a:effectLst>
            <a:outerShdw blurRad="206677" dist="83281" dir="7860000" algn="ctr" rotWithShape="0">
              <a:srgbClr val="C00000"/>
            </a:outerShdw>
          </a:effectLst>
        </p:spPr>
        <p:txBody>
          <a:bodyPr rtlCol="0" anchor="ctr"/>
          <a:lstStyle/>
          <a:p>
            <a:pPr algn="ctr"/>
            <a:r>
              <a:rPr lang="en-US" b="1">
                <a:solidFill>
                  <a:srgbClr val="000000"/>
                </a:solidFill>
              </a:rPr>
              <a:t>Software &amp; </a:t>
            </a:r>
            <a:r>
              <a:rPr lang="en-US" b="1" err="1">
                <a:solidFill>
                  <a:srgbClr val="000000"/>
                </a:solidFill>
              </a:rPr>
              <a:t>Digitalisierung</a:t>
            </a:r>
            <a:endParaRPr lang="en-US" b="1">
              <a:solidFill>
                <a:srgbClr val="000000"/>
              </a:solidFill>
            </a:endParaRPr>
          </a:p>
          <a:p>
            <a:pPr algn="ctr"/>
            <a:endParaRPr lang="en-US" b="1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err="1">
                <a:solidFill>
                  <a:srgbClr val="000000"/>
                </a:solidFill>
              </a:rPr>
              <a:t>Fahrassistenz-systeme</a:t>
            </a:r>
            <a:endParaRPr lang="en-US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000000"/>
                </a:solidFill>
              </a:rPr>
              <a:t>Porsche Connect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err="1">
                <a:solidFill>
                  <a:srgbClr val="000000"/>
                </a:solidFill>
              </a:rPr>
              <a:t>Fahrzeug</a:t>
            </a:r>
            <a:r>
              <a:rPr lang="en-US">
                <a:solidFill>
                  <a:srgbClr val="000000"/>
                </a:solidFill>
              </a:rPr>
              <a:t>-software &amp; 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err="1">
                <a:solidFill>
                  <a:srgbClr val="000000"/>
                </a:solidFill>
              </a:rPr>
              <a:t>Vernetzung</a:t>
            </a:r>
            <a:r>
              <a:rPr lang="en-US">
                <a:solidFill>
                  <a:srgbClr val="000000"/>
                </a:solidFill>
              </a:rPr>
              <a:t> &amp; Updates </a:t>
            </a:r>
            <a:br>
              <a:rPr lang="en-US">
                <a:solidFill>
                  <a:srgbClr val="000000"/>
                </a:solidFill>
              </a:rPr>
            </a:br>
            <a:r>
              <a:rPr lang="en-US">
                <a:solidFill>
                  <a:srgbClr val="000000"/>
                </a:solidFill>
              </a:rPr>
              <a:t>“over-the-air”</a:t>
            </a:r>
          </a:p>
          <a:p>
            <a:endParaRPr lang="en-US" b="1">
              <a:solidFill>
                <a:srgbClr val="00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B17CE5-C676-3DE5-114E-F03A8362A1E5}"/>
              </a:ext>
            </a:extLst>
          </p:cNvPr>
          <p:cNvSpPr/>
          <p:nvPr/>
        </p:nvSpPr>
        <p:spPr>
          <a:xfrm>
            <a:off x="5109633" y="1423915"/>
            <a:ext cx="2080876" cy="4776821"/>
          </a:xfrm>
          <a:prstGeom prst="rect">
            <a:avLst/>
          </a:prstGeom>
          <a:solidFill>
            <a:schemeClr val="bg1"/>
          </a:solidFill>
          <a:ln w="57150" cap="flat">
            <a:noFill/>
            <a:prstDash val="solid"/>
            <a:miter/>
          </a:ln>
          <a:effectLst>
            <a:outerShdw blurRad="206677" dist="83281" dir="7860000" algn="ctr" rotWithShape="0">
              <a:srgbClr val="C00000"/>
            </a:outerShdw>
          </a:effectLst>
        </p:spPr>
        <p:txBody>
          <a:bodyPr rtlCol="0" anchor="ctr"/>
          <a:lstStyle/>
          <a:p>
            <a:pPr algn="ctr"/>
            <a:r>
              <a:rPr lang="en-US" b="1" err="1">
                <a:solidFill>
                  <a:srgbClr val="000000"/>
                </a:solidFill>
              </a:rPr>
              <a:t>Verbrennungs</a:t>
            </a:r>
            <a:r>
              <a:rPr lang="en-US" b="1">
                <a:solidFill>
                  <a:srgbClr val="000000"/>
                </a:solidFill>
              </a:rPr>
              <a:t>- &amp; </a:t>
            </a:r>
            <a:r>
              <a:rPr lang="en-US" b="1" err="1">
                <a:solidFill>
                  <a:srgbClr val="000000"/>
                </a:solidFill>
              </a:rPr>
              <a:t>Hybridtechnologien</a:t>
            </a:r>
            <a:endParaRPr lang="en-US" b="1">
              <a:solidFill>
                <a:srgbClr val="000000"/>
              </a:solidFill>
            </a:endParaRPr>
          </a:p>
          <a:p>
            <a:pPr algn="ctr"/>
            <a:endParaRPr lang="en-US" b="1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err="1">
                <a:solidFill>
                  <a:srgbClr val="000000"/>
                </a:solidFill>
              </a:rPr>
              <a:t>Hochleistungs-motoren</a:t>
            </a:r>
            <a:endParaRPr lang="en-US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000000"/>
                </a:solidFill>
              </a:rPr>
              <a:t>Plugin-in-Hybrid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000000"/>
                </a:solidFill>
              </a:rPr>
              <a:t>E-Fuels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000000"/>
                </a:solidFill>
              </a:rPr>
              <a:t>Effizienz-steigerung</a:t>
            </a:r>
          </a:p>
          <a:p>
            <a:endParaRPr lang="en-US" b="1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>
              <a:solidFill>
                <a:srgbClr val="00000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FE6F89C-F1F1-2DE6-584C-7E13991559F7}"/>
              </a:ext>
            </a:extLst>
          </p:cNvPr>
          <p:cNvSpPr/>
          <p:nvPr/>
        </p:nvSpPr>
        <p:spPr>
          <a:xfrm>
            <a:off x="7556499" y="1423804"/>
            <a:ext cx="1972733" cy="4776821"/>
          </a:xfrm>
          <a:prstGeom prst="rect">
            <a:avLst/>
          </a:prstGeom>
          <a:solidFill>
            <a:schemeClr val="bg1"/>
          </a:solidFill>
          <a:ln w="57150" cap="flat">
            <a:noFill/>
            <a:prstDash val="solid"/>
            <a:miter/>
          </a:ln>
          <a:effectLst>
            <a:outerShdw blurRad="206677" dist="83281" dir="7860000" algn="ctr" rotWithShape="0">
              <a:srgbClr val="C00000"/>
            </a:outerShdw>
          </a:effectLst>
        </p:spPr>
        <p:txBody>
          <a:bodyPr rtlCol="0" anchor="ctr"/>
          <a:lstStyle/>
          <a:p>
            <a:pPr algn="ctr"/>
            <a:r>
              <a:rPr lang="en-US" b="1" err="1">
                <a:solidFill>
                  <a:srgbClr val="000000"/>
                </a:solidFill>
              </a:rPr>
              <a:t>Produktions-technologien</a:t>
            </a:r>
            <a:endParaRPr lang="en-US" b="1">
              <a:solidFill>
                <a:srgbClr val="000000"/>
              </a:solidFill>
            </a:endParaRPr>
          </a:p>
          <a:p>
            <a:pPr algn="ctr"/>
            <a:endParaRPr lang="en-US" b="1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err="1">
                <a:solidFill>
                  <a:srgbClr val="000000"/>
                </a:solidFill>
              </a:rPr>
              <a:t>Hochautomat-isierung</a:t>
            </a:r>
            <a:endParaRPr lang="en-US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err="1">
                <a:solidFill>
                  <a:srgbClr val="000000"/>
                </a:solidFill>
              </a:rPr>
              <a:t>Digitale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Fertigung</a:t>
            </a:r>
            <a:r>
              <a:rPr lang="en-US">
                <a:solidFill>
                  <a:srgbClr val="000000"/>
                </a:solidFill>
              </a:rPr>
              <a:t> &amp; Industrie 4.0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000000"/>
                </a:solidFill>
              </a:rPr>
              <a:t>Additive </a:t>
            </a:r>
            <a:r>
              <a:rPr lang="en-US" err="1">
                <a:solidFill>
                  <a:srgbClr val="000000"/>
                </a:solidFill>
              </a:rPr>
              <a:t>Fertigung</a:t>
            </a:r>
            <a:r>
              <a:rPr lang="en-US">
                <a:solidFill>
                  <a:srgbClr val="000000"/>
                </a:solidFill>
              </a:rPr>
              <a:t> 3D-Druck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err="1">
                <a:solidFill>
                  <a:srgbClr val="000000"/>
                </a:solidFill>
              </a:rPr>
              <a:t>Qualitäts</a:t>
            </a:r>
            <a:r>
              <a:rPr lang="en-US">
                <a:solidFill>
                  <a:srgbClr val="000000"/>
                </a:solidFill>
              </a:rPr>
              <a:t>-management</a:t>
            </a:r>
            <a:endParaRPr lang="en-US" sz="1600" b="1">
              <a:solidFill>
                <a:srgbClr val="000000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2375073-9C0A-3CDA-1773-CCEB13E7D817}"/>
              </a:ext>
            </a:extLst>
          </p:cNvPr>
          <p:cNvSpPr/>
          <p:nvPr/>
        </p:nvSpPr>
        <p:spPr>
          <a:xfrm>
            <a:off x="9795165" y="1423804"/>
            <a:ext cx="2180934" cy="4776821"/>
          </a:xfrm>
          <a:prstGeom prst="rect">
            <a:avLst/>
          </a:prstGeom>
          <a:solidFill>
            <a:schemeClr val="bg1"/>
          </a:solidFill>
          <a:ln w="57150" cap="flat">
            <a:noFill/>
            <a:prstDash val="solid"/>
            <a:miter/>
          </a:ln>
          <a:effectLst>
            <a:outerShdw blurRad="206677" dist="83281" dir="7860000" algn="ctr" rotWithShape="0">
              <a:srgbClr val="C00000"/>
            </a:outerShdw>
          </a:effectLst>
        </p:spPr>
        <p:txBody>
          <a:bodyPr rtlCol="0" anchor="ctr"/>
          <a:lstStyle/>
          <a:p>
            <a:pPr algn="ctr"/>
            <a:r>
              <a:rPr lang="en-US" b="1" err="1">
                <a:solidFill>
                  <a:srgbClr val="000000"/>
                </a:solidFill>
              </a:rPr>
              <a:t>Nachhaltigkeits</a:t>
            </a:r>
            <a:r>
              <a:rPr lang="en-US" b="1">
                <a:solidFill>
                  <a:srgbClr val="000000"/>
                </a:solidFill>
              </a:rPr>
              <a:t>- &amp; </a:t>
            </a:r>
          </a:p>
          <a:p>
            <a:pPr algn="ctr"/>
            <a:r>
              <a:rPr lang="en-US" b="1">
                <a:solidFill>
                  <a:srgbClr val="000000"/>
                </a:solidFill>
              </a:rPr>
              <a:t>Energie-</a:t>
            </a:r>
            <a:r>
              <a:rPr lang="en-US" b="1" err="1">
                <a:solidFill>
                  <a:srgbClr val="000000"/>
                </a:solidFill>
              </a:rPr>
              <a:t>technologien</a:t>
            </a:r>
            <a:endParaRPr lang="en-US" b="1">
              <a:solidFill>
                <a:srgbClr val="000000"/>
              </a:solidFill>
            </a:endParaRPr>
          </a:p>
          <a:p>
            <a:pPr algn="ctr"/>
            <a:endParaRPr lang="en-US" b="1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000000"/>
                </a:solidFill>
              </a:rPr>
              <a:t>Batterie Recycling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err="1">
                <a:solidFill>
                  <a:srgbClr val="000000"/>
                </a:solidFill>
              </a:rPr>
              <a:t>Enegieeffiziente</a:t>
            </a:r>
            <a:br>
              <a:rPr lang="en-US">
                <a:solidFill>
                  <a:srgbClr val="000000"/>
                </a:solidFill>
              </a:rPr>
            </a:br>
            <a:r>
              <a:rPr lang="en-US">
                <a:solidFill>
                  <a:srgbClr val="000000"/>
                </a:solidFill>
              </a:rPr>
              <a:t>Produktion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000000"/>
                </a:solidFill>
              </a:rPr>
              <a:t>CO2-Reduktion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err="1">
                <a:solidFill>
                  <a:srgbClr val="000000"/>
                </a:solidFill>
              </a:rPr>
              <a:t>Kreislauf-wirtschaft</a:t>
            </a:r>
            <a:endParaRPr lang="en-US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b="1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b="1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93153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2C619-AEBB-3984-136E-89AE5F51D9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>
                <a:latin typeface="Arial"/>
                <a:cs typeface="Arial"/>
              </a:rPr>
              <a:t>Ressourcen</a:t>
            </a:r>
            <a:r>
              <a:rPr lang="en-US">
                <a:latin typeface="Arial"/>
                <a:cs typeface="Arial"/>
              </a:rPr>
              <a:t> &amp; Capabilities der Porsche AG</a:t>
            </a:r>
          </a:p>
        </p:txBody>
      </p:sp>
      <p:graphicFrame>
        <p:nvGraphicFramePr>
          <p:cNvPr id="8" name="Content Placeholder 2">
            <a:extLst>
              <a:ext uri="{FF2B5EF4-FFF2-40B4-BE49-F238E27FC236}">
                <a16:creationId xmlns:a16="http://schemas.microsoft.com/office/drawing/2014/main" id="{AB79997F-3EA7-DAE9-CD74-1E1CFEC40B2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43911" y="1463040"/>
          <a:ext cx="5153504" cy="459485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DEC369-46C3-69C7-494D-52D8DDEF503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23EE597-C978-7B47-990E-9364689A21F0}" type="datetime1">
              <a:rPr lang="en-US" smtClean="0"/>
              <a:t>6/8/26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E9DB36-E03B-E584-8517-27336E5B7A7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Technology Management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0B0F63-C82A-1B6F-81AF-DCCC10083A6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06C6BFE-10C3-7B49-A3EE-08AD7A863B95}" type="slidenum">
              <a:rPr lang="de-DE" smtClean="0"/>
              <a:pPr/>
              <a:t>16</a:t>
            </a:fld>
            <a:endParaRPr lang="de-DE"/>
          </a:p>
        </p:txBody>
      </p:sp>
      <p:graphicFrame>
        <p:nvGraphicFramePr>
          <p:cNvPr id="25" name="Content Placeholder 2">
            <a:extLst>
              <a:ext uri="{FF2B5EF4-FFF2-40B4-BE49-F238E27FC236}">
                <a16:creationId xmlns:a16="http://schemas.microsoft.com/office/drawing/2014/main" id="{4C4B3738-D81B-0255-DFE6-8FB4AA1C2B26}"/>
              </a:ext>
            </a:extLst>
          </p:cNvPr>
          <p:cNvGraphicFramePr>
            <a:graphicFrameLocks/>
          </p:cNvGraphicFramePr>
          <p:nvPr/>
        </p:nvGraphicFramePr>
        <p:xfrm>
          <a:off x="6494585" y="1463039"/>
          <a:ext cx="5153504" cy="459485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11162218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44D8F7-0DA3-392A-C5D2-AD2D429D2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Kernkompetenzen</a:t>
            </a:r>
            <a:r>
              <a:rPr lang="en-US"/>
              <a:t> der Porsche AG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53C1D1-BA9A-5C18-F3E6-52A1946CDB1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23EE597-C978-7B47-990E-9364689A21F0}" type="datetime1">
              <a:rPr lang="en-US" smtClean="0"/>
              <a:t>6/8/26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EB3124-339F-B001-E757-F59F97A6A51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Technology Management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62500F-54EE-C95D-4AC7-6C09793DA37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06C6BFE-10C3-7B49-A3EE-08AD7A863B95}" type="slidenum">
              <a:rPr lang="de-DE" smtClean="0"/>
              <a:pPr/>
              <a:t>17</a:t>
            </a:fld>
            <a:endParaRPr lang="de-DE"/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F946F450-04F6-704E-0A4C-21CF3736B53E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43911" y="1514950"/>
          <a:ext cx="4744939" cy="45948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8" name="Content Placeholder 2">
            <a:extLst>
              <a:ext uri="{FF2B5EF4-FFF2-40B4-BE49-F238E27FC236}">
                <a16:creationId xmlns:a16="http://schemas.microsoft.com/office/drawing/2014/main" id="{90A985B7-2C81-4286-8458-7981273519F1}"/>
              </a:ext>
            </a:extLst>
          </p:cNvPr>
          <p:cNvGraphicFramePr>
            <a:graphicFrameLocks/>
          </p:cNvGraphicFramePr>
          <p:nvPr/>
        </p:nvGraphicFramePr>
        <p:xfrm>
          <a:off x="6494585" y="1538725"/>
          <a:ext cx="5153504" cy="28882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39056220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BA0F4-5655-ED92-2309-6A87FC61B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334A0-70EC-D025-A828-0EA30D85E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7188"/>
            <a:ext cx="10515600" cy="113349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kern="1200">
                <a:latin typeface="Arial"/>
                <a:cs typeface="Arial"/>
              </a:rPr>
              <a:t>Wandel der </a:t>
            </a:r>
            <a:r>
              <a:rPr lang="en-US" kern="1200" err="1">
                <a:latin typeface="Arial"/>
                <a:cs typeface="Arial"/>
              </a:rPr>
              <a:t>Ressourcen</a:t>
            </a:r>
            <a:r>
              <a:rPr lang="en-US" kern="1200">
                <a:latin typeface="Arial"/>
                <a:cs typeface="Arial"/>
              </a:rPr>
              <a:t> &amp; </a:t>
            </a:r>
            <a:r>
              <a:rPr lang="en-US">
                <a:latin typeface="Arial"/>
                <a:cs typeface="Arial"/>
              </a:rPr>
              <a:t>Capabilities </a:t>
            </a:r>
            <a:endParaRPr lang="en-US" kern="1200">
              <a:latin typeface="Arial"/>
              <a:cs typeface="Arial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2F7879-F19B-3A3F-F701-F3B1AB97CB69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8382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823EE597-C978-7B47-990E-9364689A21F0}" type="datetime1">
              <a:rPr lang="en-US" sz="1200" smtClean="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rPr>
              <a:pPr>
                <a:spcAft>
                  <a:spcPts val="600"/>
                </a:spcAft>
              </a:pPr>
              <a:t>6/8/26</a:t>
            </a:fld>
            <a:endParaRPr lang="en-US" sz="1200">
              <a:solidFill>
                <a:schemeClr val="tx1">
                  <a:tint val="75000"/>
                </a:schemeClr>
              </a:solidFill>
              <a:latin typeface="+mn-lt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077CDD-197C-23DC-9DDF-A57FC96731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038600" y="6356350"/>
            <a:ext cx="41148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spcAft>
                <a:spcPts val="600"/>
              </a:spcAft>
            </a:pPr>
            <a:r>
              <a:rPr lang="en-US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Technology Management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A2FDF7-0594-13A2-110E-6DC4FD87805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006C6BFE-10C3-7B49-A3EE-08AD7A863B95}" type="slidenum">
              <a:rPr lang="en-US" sz="1200" smtClean="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rPr>
              <a:pPr>
                <a:spcAft>
                  <a:spcPts val="600"/>
                </a:spcAft>
              </a:pPr>
              <a:t>18</a:t>
            </a:fld>
            <a:endParaRPr lang="en-US" sz="1200">
              <a:solidFill>
                <a:schemeClr val="tx1">
                  <a:tint val="75000"/>
                </a:schemeClr>
              </a:solidFill>
              <a:latin typeface="+mn-lt"/>
              <a:cs typeface="+mn-cs"/>
            </a:endParaRPr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2121F6D7-C888-C6A0-0F50-C51DBE3B8BE8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8800"/>
          <a:ext cx="10515600" cy="43525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156694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EAFB94-F08A-1B2C-D05E-074B896C6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51CC7-E534-61C3-1282-6EF772782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7188"/>
            <a:ext cx="10515600" cy="113349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kern="1200">
                <a:latin typeface="Arial"/>
                <a:cs typeface="Arial"/>
              </a:rPr>
              <a:t>Wandel der</a:t>
            </a:r>
            <a:r>
              <a:rPr lang="en-US" kern="1200">
                <a:latin typeface="+mj-lt"/>
                <a:ea typeface="+mj-ea"/>
                <a:cs typeface="+mj-cs"/>
              </a:rPr>
              <a:t> </a:t>
            </a:r>
            <a:r>
              <a:rPr lang="en-US">
                <a:latin typeface="+mj-lt"/>
              </a:rPr>
              <a:t> </a:t>
            </a:r>
            <a:r>
              <a:rPr lang="en-US" err="1">
                <a:latin typeface="Arial"/>
                <a:cs typeface="Arial"/>
              </a:rPr>
              <a:t>Komptenzen</a:t>
            </a:r>
            <a:endParaRPr lang="en-US" kern="1200">
              <a:latin typeface="Arial"/>
              <a:cs typeface="Arial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2924B7-B499-AECE-9776-1362A0058358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8382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823EE597-C978-7B47-990E-9364689A21F0}" type="datetime1">
              <a:rPr lang="en-US" sz="1200" smtClean="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rPr>
              <a:pPr>
                <a:spcAft>
                  <a:spcPts val="600"/>
                </a:spcAft>
              </a:pPr>
              <a:t>6/8/26</a:t>
            </a:fld>
            <a:endParaRPr lang="en-US" sz="1200">
              <a:solidFill>
                <a:schemeClr val="tx1">
                  <a:tint val="75000"/>
                </a:schemeClr>
              </a:solidFill>
              <a:latin typeface="+mn-lt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153468-D5F7-022E-6C62-BFECC3E5663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038600" y="6356350"/>
            <a:ext cx="41148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spcAft>
                <a:spcPts val="600"/>
              </a:spcAft>
            </a:pPr>
            <a:r>
              <a:rPr lang="en-US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Technology Management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EF339D-DE3E-5A3F-0F24-052F894BF08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006C6BFE-10C3-7B49-A3EE-08AD7A863B95}" type="slidenum">
              <a:rPr lang="en-US" sz="1200" smtClean="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rPr>
              <a:pPr>
                <a:spcAft>
                  <a:spcPts val="600"/>
                </a:spcAft>
              </a:pPr>
              <a:t>19</a:t>
            </a:fld>
            <a:endParaRPr lang="en-US" sz="1200">
              <a:solidFill>
                <a:schemeClr val="tx1">
                  <a:tint val="75000"/>
                </a:schemeClr>
              </a:solidFill>
              <a:latin typeface="+mn-lt"/>
              <a:cs typeface="+mn-cs"/>
            </a:endParaRPr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02AE212E-1B68-6417-0EC3-F1CE89365A10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17786" y="1452179"/>
          <a:ext cx="11356427" cy="47291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169609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60083083-005A-21BA-8E3E-A62F10CA6B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273" y="1967266"/>
            <a:ext cx="2826327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Trendportfolio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8E9A6BD6-2143-1881-C93D-2EFBAB2C8F1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 rot="16200000">
            <a:off x="5652245" y="37485"/>
            <a:ext cx="5030841" cy="6780700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0BF4C8-A581-0CA5-551F-B6488CEDD46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028700" y="6356350"/>
            <a:ext cx="62103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sz="1200" kern="1200">
                <a:solidFill>
                  <a:schemeClr val="tx1">
                    <a:alpha val="80000"/>
                  </a:schemeClr>
                </a:solidFill>
                <a:latin typeface="+mn-lt"/>
                <a:ea typeface="+mn-ea"/>
                <a:cs typeface="+mn-cs"/>
              </a:rPr>
              <a:t>Technology Management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81FAFC-8B3B-0A91-A47E-995D4E11321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8842248" y="6356350"/>
            <a:ext cx="1997202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>
              <a:spcAft>
                <a:spcPts val="600"/>
              </a:spcAft>
            </a:pPr>
            <a:fld id="{823EE597-C978-7B47-990E-9364689A21F0}" type="datetime1">
              <a:rPr lang="en-US" sz="1200">
                <a:solidFill>
                  <a:schemeClr val="tx1">
                    <a:alpha val="80000"/>
                  </a:schemeClr>
                </a:solidFill>
                <a:latin typeface="+mn-lt"/>
                <a:cs typeface="+mn-cs"/>
              </a:rPr>
              <a:pPr algn="r">
                <a:spcAft>
                  <a:spcPts val="600"/>
                </a:spcAft>
              </a:pPr>
              <a:t>6/8/26</a:t>
            </a:fld>
            <a:endParaRPr lang="en-US" sz="1200">
              <a:solidFill>
                <a:schemeClr val="tx1">
                  <a:alpha val="80000"/>
                </a:schemeClr>
              </a:solidFill>
              <a:latin typeface="+mn-lt"/>
              <a:cs typeface="+mn-cs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2C2AAB-BA10-56FD-58DA-BCB24B449E2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034184" y="6356350"/>
            <a:ext cx="514349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006C6BFE-10C3-7B49-A3EE-08AD7A863B95}" type="slidenum">
              <a:rPr lang="en-US" sz="1200">
                <a:solidFill>
                  <a:schemeClr val="tx1">
                    <a:alpha val="80000"/>
                  </a:schemeClr>
                </a:solidFill>
                <a:latin typeface="+mn-lt"/>
                <a:cs typeface="+mn-cs"/>
              </a:rPr>
              <a:pPr>
                <a:spcAft>
                  <a:spcPts val="600"/>
                </a:spcAft>
              </a:pPr>
              <a:t>20</a:t>
            </a:fld>
            <a:endParaRPr lang="en-US" sz="1200">
              <a:solidFill>
                <a:schemeClr val="tx1">
                  <a:alpha val="80000"/>
                </a:schemeClr>
              </a:solidFill>
              <a:latin typeface="+mn-lt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006697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D814DA0-41FF-705E-853D-1E5EFD373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>
                <a:latin typeface="Arial"/>
                <a:cs typeface="Arial"/>
              </a:rPr>
              <a:t>Trendportfolios</a:t>
            </a:r>
            <a:endParaRPr lang="de-DE">
              <a:latin typeface="Arial"/>
            </a:endParaRP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CD82555-64D3-06EF-6154-86B11DF133E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23EE597-C978-7B47-990E-9364689A21F0}" type="datetime1">
              <a:rPr lang="en-US" smtClean="0"/>
              <a:t>6/8/26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1FBB686-1E02-FF64-21B3-36596B80BC4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Technology Management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77FB2A6-AFF4-C19A-B7C4-E236EBF954A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06C6BFE-10C3-7B49-A3EE-08AD7A863B95}" type="slidenum">
              <a:rPr lang="de-DE" smtClean="0"/>
              <a:pPr/>
              <a:t>21</a:t>
            </a:fld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426475E9-E4D0-A214-B5F6-3415B2063154}"/>
              </a:ext>
            </a:extLst>
          </p:cNvPr>
          <p:cNvSpPr/>
          <p:nvPr/>
        </p:nvSpPr>
        <p:spPr>
          <a:xfrm>
            <a:off x="5722335" y="1586238"/>
            <a:ext cx="6195064" cy="4243591"/>
          </a:xfrm>
          <a:prstGeom prst="rect">
            <a:avLst/>
          </a:prstGeom>
          <a:solidFill>
            <a:schemeClr val="bg1">
              <a:lumMod val="85000"/>
            </a:schemeClr>
          </a:solidFill>
          <a:ln w="9231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endParaRPr lang="de-DE" sz="11500" b="1" dirty="0">
              <a:solidFill>
                <a:schemeClr val="bg1"/>
              </a:solidFill>
            </a:endParaRP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B33EBD51-5F1C-8390-A433-FB4D716E9C0D}"/>
              </a:ext>
            </a:extLst>
          </p:cNvPr>
          <p:cNvCxnSpPr/>
          <p:nvPr/>
        </p:nvCxnSpPr>
        <p:spPr>
          <a:xfrm>
            <a:off x="5725072" y="4405983"/>
            <a:ext cx="6188787" cy="28865"/>
          </a:xfrm>
          <a:prstGeom prst="straightConnector1">
            <a:avLst/>
          </a:prstGeom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6D3B5EE7-0625-B153-9DFA-45A69C0F65DB}"/>
              </a:ext>
            </a:extLst>
          </p:cNvPr>
          <p:cNvCxnSpPr>
            <a:cxnSpLocks/>
          </p:cNvCxnSpPr>
          <p:nvPr/>
        </p:nvCxnSpPr>
        <p:spPr>
          <a:xfrm>
            <a:off x="5725071" y="2952182"/>
            <a:ext cx="6188787" cy="6119"/>
          </a:xfrm>
          <a:prstGeom prst="straightConnector1">
            <a:avLst/>
          </a:prstGeom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5E785ECB-A457-FB5C-C0A9-E006B7729EFD}"/>
              </a:ext>
            </a:extLst>
          </p:cNvPr>
          <p:cNvCxnSpPr>
            <a:cxnSpLocks/>
          </p:cNvCxnSpPr>
          <p:nvPr/>
        </p:nvCxnSpPr>
        <p:spPr>
          <a:xfrm flipV="1">
            <a:off x="7703996" y="1582152"/>
            <a:ext cx="35922" cy="4247432"/>
          </a:xfrm>
          <a:prstGeom prst="straightConnector1">
            <a:avLst/>
          </a:prstGeom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D18E6672-B76B-87B4-8789-5D4AE7A3BD53}"/>
              </a:ext>
            </a:extLst>
          </p:cNvPr>
          <p:cNvCxnSpPr>
            <a:cxnSpLocks/>
          </p:cNvCxnSpPr>
          <p:nvPr/>
        </p:nvCxnSpPr>
        <p:spPr>
          <a:xfrm flipV="1">
            <a:off x="9933130" y="1582151"/>
            <a:ext cx="35922" cy="4247432"/>
          </a:xfrm>
          <a:prstGeom prst="straightConnector1">
            <a:avLst/>
          </a:prstGeom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6" name="Tabelle 15">
            <a:extLst>
              <a:ext uri="{FF2B5EF4-FFF2-40B4-BE49-F238E27FC236}">
                <a16:creationId xmlns:a16="http://schemas.microsoft.com/office/drawing/2014/main" id="{066F541B-43CC-4B86-C0A9-DACF38CAF204}"/>
              </a:ext>
            </a:extLst>
          </p:cNvPr>
          <p:cNvGraphicFramePr>
            <a:graphicFrameLocks noGrp="1"/>
          </p:cNvGraphicFramePr>
          <p:nvPr/>
        </p:nvGraphicFramePr>
        <p:xfrm>
          <a:off x="543034" y="1392620"/>
          <a:ext cx="4918299" cy="4932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6062">
                  <a:extLst>
                    <a:ext uri="{9D8B030D-6E8A-4147-A177-3AD203B41FA5}">
                      <a16:colId xmlns:a16="http://schemas.microsoft.com/office/drawing/2014/main" val="419751929"/>
                    </a:ext>
                  </a:extLst>
                </a:gridCol>
                <a:gridCol w="4012237">
                  <a:extLst>
                    <a:ext uri="{9D8B030D-6E8A-4147-A177-3AD203B41FA5}">
                      <a16:colId xmlns:a16="http://schemas.microsoft.com/office/drawing/2014/main" val="3149642180"/>
                    </a:ext>
                  </a:extLst>
                </a:gridCol>
              </a:tblGrid>
              <a:tr h="503602">
                <a:tc>
                  <a:txBody>
                    <a:bodyPr/>
                    <a:lstStyle/>
                    <a:p>
                      <a:r>
                        <a:rPr lang="de-DE" sz="1600"/>
                        <a:t>Trend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/>
                        <a:t>                                  (1) | (2)</a:t>
                      </a:r>
                      <a:endParaRPr lang="de-DE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985223"/>
                  </a:ext>
                </a:extLst>
              </a:tr>
              <a:tr h="349960">
                <a:tc>
                  <a:txBody>
                    <a:bodyPr/>
                    <a:lstStyle/>
                    <a:p>
                      <a:r>
                        <a:rPr lang="de-DE" sz="1600"/>
                        <a:t>T1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/>
                        <a:t>Demografischer Wandel</a:t>
                      </a:r>
                      <a:endParaRPr lang="de-DE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367569"/>
                  </a:ext>
                </a:extLst>
              </a:tr>
              <a:tr h="349960">
                <a:tc>
                  <a:txBody>
                    <a:bodyPr/>
                    <a:lstStyle/>
                    <a:p>
                      <a:r>
                        <a:rPr lang="de-DE" sz="1600"/>
                        <a:t>T2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/>
                        <a:t>KI im Arbeitsalltag  | Urbanisierung </a:t>
                      </a:r>
                      <a:endParaRPr lang="de-DE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6513573"/>
                  </a:ext>
                </a:extLst>
              </a:tr>
              <a:tr h="349960">
                <a:tc>
                  <a:txBody>
                    <a:bodyPr/>
                    <a:lstStyle/>
                    <a:p>
                      <a:r>
                        <a:rPr lang="de-DE" sz="1600"/>
                        <a:t>T3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/>
                        <a:t>Work-Life-Balance | </a:t>
                      </a:r>
                      <a:r>
                        <a:rPr lang="de-DE" sz="1600" err="1"/>
                        <a:t>Gesundh</a:t>
                      </a:r>
                      <a:r>
                        <a:rPr lang="de-DE" sz="1600"/>
                        <a:t>eit</a:t>
                      </a:r>
                      <a:endParaRPr lang="de-DE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6597517"/>
                  </a:ext>
                </a:extLst>
              </a:tr>
              <a:tr h="349960">
                <a:tc>
                  <a:txBody>
                    <a:bodyPr/>
                    <a:lstStyle/>
                    <a:p>
                      <a:r>
                        <a:rPr lang="de-DE" sz="1600"/>
                        <a:t>T4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/>
                        <a:t>Autonomes Fahren</a:t>
                      </a:r>
                      <a:endParaRPr lang="de-DE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0734383"/>
                  </a:ext>
                </a:extLst>
              </a:tr>
              <a:tr h="349960">
                <a:tc>
                  <a:txBody>
                    <a:bodyPr/>
                    <a:lstStyle/>
                    <a:p>
                      <a:r>
                        <a:rPr lang="de-DE" sz="1600"/>
                        <a:t>T5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/>
                        <a:t>KI</a:t>
                      </a:r>
                      <a:endParaRPr lang="de-DE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1710049"/>
                  </a:ext>
                </a:extLst>
              </a:tr>
              <a:tr h="349960">
                <a:tc>
                  <a:txBody>
                    <a:bodyPr/>
                    <a:lstStyle/>
                    <a:p>
                      <a:r>
                        <a:rPr lang="de-DE" sz="1600"/>
                        <a:t>T6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Quantencomputing | </a:t>
                      </a:r>
                      <a:r>
                        <a:rPr lang="de-DE" sz="1600" dirty="0" err="1"/>
                        <a:t>Greentech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2410651"/>
                  </a:ext>
                </a:extLst>
              </a:tr>
              <a:tr h="349960">
                <a:tc>
                  <a:txBody>
                    <a:bodyPr/>
                    <a:lstStyle/>
                    <a:p>
                      <a:r>
                        <a:rPr lang="de-DE" sz="1600"/>
                        <a:t>T7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/>
                        <a:t>Ressourcenknappheit | Tech Bubble</a:t>
                      </a:r>
                      <a:endParaRPr lang="de-DE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0274558"/>
                  </a:ext>
                </a:extLst>
              </a:tr>
              <a:tr h="34996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sz="1600"/>
                        <a:t>T8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sz="1600"/>
                        <a:t>Verlagerung nach Asien</a:t>
                      </a:r>
                      <a:endParaRPr lang="de-DE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4368107"/>
                  </a:ext>
                </a:extLst>
              </a:tr>
              <a:tr h="34996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sz="1600"/>
                        <a:t>T9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sz="1600"/>
                        <a:t>Inflation</a:t>
                      </a:r>
                      <a:endParaRPr lang="de-DE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7989135"/>
                  </a:ext>
                </a:extLst>
              </a:tr>
              <a:tr h="34996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sz="1600"/>
                        <a:t>TY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sz="1600"/>
                        <a:t>Nachhaltigkeit</a:t>
                      </a:r>
                      <a:endParaRPr lang="de-DE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993865"/>
                  </a:ext>
                </a:extLst>
              </a:tr>
              <a:tr h="34996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sz="1600"/>
                        <a:t>TZ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sz="1600"/>
                        <a:t>Sicherheit | Einfluss USA</a:t>
                      </a:r>
                      <a:endParaRPr lang="de-DE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4128904"/>
                  </a:ext>
                </a:extLst>
              </a:tr>
              <a:tr h="34996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sz="1600"/>
                        <a:t>TÖ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sz="1600" dirty="0"/>
                        <a:t>Fokus auf globalen Handel | striktere Gesetze in </a:t>
                      </a:r>
                      <a:r>
                        <a:rPr lang="de-DE" sz="1600"/>
                        <a:t>Arbeitsbereiche</a:t>
                      </a:r>
                      <a:endParaRPr lang="de-DE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0792148"/>
                  </a:ext>
                </a:extLst>
              </a:tr>
            </a:tbl>
          </a:graphicData>
        </a:graphic>
      </p:graphicFrame>
      <p:sp>
        <p:nvSpPr>
          <p:cNvPr id="17" name="Textfeld 16">
            <a:extLst>
              <a:ext uri="{FF2B5EF4-FFF2-40B4-BE49-F238E27FC236}">
                <a16:creationId xmlns:a16="http://schemas.microsoft.com/office/drawing/2014/main" id="{35D11607-5AD5-F922-12AB-6BE56BA84C2A}"/>
              </a:ext>
            </a:extLst>
          </p:cNvPr>
          <p:cNvSpPr txBox="1"/>
          <p:nvPr/>
        </p:nvSpPr>
        <p:spPr>
          <a:xfrm>
            <a:off x="10562897" y="3485931"/>
            <a:ext cx="805792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de-DE">
                <a:solidFill>
                  <a:schemeClr val="accent1"/>
                </a:solidFill>
              </a:rPr>
              <a:t>T2(1)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F266D5C3-AAA7-6027-9876-5AB2AAFA1FE7}"/>
              </a:ext>
            </a:extLst>
          </p:cNvPr>
          <p:cNvSpPr txBox="1"/>
          <p:nvPr/>
        </p:nvSpPr>
        <p:spPr>
          <a:xfrm>
            <a:off x="10562896" y="4729654"/>
            <a:ext cx="805792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de-DE">
                <a:solidFill>
                  <a:schemeClr val="accent1"/>
                </a:solidFill>
              </a:rPr>
              <a:t>T2(2)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549E70B8-C77B-9AAF-E0CF-6336ED5ABC81}"/>
              </a:ext>
            </a:extLst>
          </p:cNvPr>
          <p:cNvSpPr txBox="1"/>
          <p:nvPr/>
        </p:nvSpPr>
        <p:spPr>
          <a:xfrm>
            <a:off x="7514896" y="3520965"/>
            <a:ext cx="805792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de-DE">
                <a:solidFill>
                  <a:schemeClr val="accent1"/>
                </a:solidFill>
              </a:rPr>
              <a:t>T3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4CDC8715-03A5-830F-D905-83AE7E1B7F1F}"/>
              </a:ext>
            </a:extLst>
          </p:cNvPr>
          <p:cNvSpPr txBox="1"/>
          <p:nvPr/>
        </p:nvSpPr>
        <p:spPr>
          <a:xfrm>
            <a:off x="9888481" y="2636343"/>
            <a:ext cx="805792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de-DE">
                <a:solidFill>
                  <a:schemeClr val="accent1"/>
                </a:solidFill>
              </a:rPr>
              <a:t>T4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7DEEA56F-062A-C1AF-FA49-C46BEFF505D6}"/>
              </a:ext>
            </a:extLst>
          </p:cNvPr>
          <p:cNvSpPr txBox="1"/>
          <p:nvPr/>
        </p:nvSpPr>
        <p:spPr>
          <a:xfrm>
            <a:off x="9888480" y="1883100"/>
            <a:ext cx="805792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de-DE">
                <a:solidFill>
                  <a:schemeClr val="accent1"/>
                </a:solidFill>
              </a:rPr>
              <a:t>T5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F84EB79A-B47C-E557-2949-3F2EF9BE8549}"/>
              </a:ext>
            </a:extLst>
          </p:cNvPr>
          <p:cNvSpPr txBox="1"/>
          <p:nvPr/>
        </p:nvSpPr>
        <p:spPr>
          <a:xfrm>
            <a:off x="8819927" y="5404065"/>
            <a:ext cx="805792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de-DE">
                <a:solidFill>
                  <a:schemeClr val="accent1"/>
                </a:solidFill>
              </a:rPr>
              <a:t>T6(1)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D14553A3-A3CB-2935-DDAA-D9ED0A5B13B8}"/>
              </a:ext>
            </a:extLst>
          </p:cNvPr>
          <p:cNvSpPr txBox="1"/>
          <p:nvPr/>
        </p:nvSpPr>
        <p:spPr>
          <a:xfrm>
            <a:off x="8417029" y="3529719"/>
            <a:ext cx="805792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de-DE">
                <a:solidFill>
                  <a:schemeClr val="accent1"/>
                </a:solidFill>
              </a:rPr>
              <a:t>T6(2)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15D86607-B960-2A66-367B-5FB597015063}"/>
              </a:ext>
            </a:extLst>
          </p:cNvPr>
          <p:cNvSpPr txBox="1"/>
          <p:nvPr/>
        </p:nvSpPr>
        <p:spPr>
          <a:xfrm>
            <a:off x="7725097" y="2592546"/>
            <a:ext cx="805792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de-DE">
                <a:solidFill>
                  <a:schemeClr val="accent1"/>
                </a:solidFill>
              </a:rPr>
              <a:t>T6(1)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12300BD2-1901-CDFA-32A9-7E0B7E2C7ACC}"/>
              </a:ext>
            </a:extLst>
          </p:cNvPr>
          <p:cNvSpPr txBox="1"/>
          <p:nvPr/>
        </p:nvSpPr>
        <p:spPr>
          <a:xfrm>
            <a:off x="8819924" y="3161855"/>
            <a:ext cx="805792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de-DE">
                <a:solidFill>
                  <a:schemeClr val="accent1"/>
                </a:solidFill>
              </a:rPr>
              <a:t>T7(2)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87BE0878-926F-1330-AE51-6D92EB57B469}"/>
              </a:ext>
            </a:extLst>
          </p:cNvPr>
          <p:cNvSpPr txBox="1"/>
          <p:nvPr/>
        </p:nvSpPr>
        <p:spPr>
          <a:xfrm>
            <a:off x="9608199" y="2067028"/>
            <a:ext cx="805792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de-DE">
                <a:solidFill>
                  <a:schemeClr val="accent1"/>
                </a:solidFill>
              </a:rPr>
              <a:t>T8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8348212A-B0CF-942D-D0FD-1C0C864DC2C1}"/>
              </a:ext>
            </a:extLst>
          </p:cNvPr>
          <p:cNvSpPr txBox="1"/>
          <p:nvPr/>
        </p:nvSpPr>
        <p:spPr>
          <a:xfrm>
            <a:off x="9625715" y="2960407"/>
            <a:ext cx="805792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de-DE">
                <a:solidFill>
                  <a:schemeClr val="accent1"/>
                </a:solidFill>
              </a:rPr>
              <a:t>T9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E2F406FF-0CD6-C265-FDB0-D7850AAC915E}"/>
              </a:ext>
            </a:extLst>
          </p:cNvPr>
          <p:cNvSpPr txBox="1"/>
          <p:nvPr/>
        </p:nvSpPr>
        <p:spPr>
          <a:xfrm>
            <a:off x="11508825" y="2636342"/>
            <a:ext cx="805792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de-DE">
                <a:solidFill>
                  <a:schemeClr val="accent1"/>
                </a:solidFill>
              </a:rPr>
              <a:t>TY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6D5B7B00-33FB-E571-9B52-6D33958AA675}"/>
              </a:ext>
            </a:extLst>
          </p:cNvPr>
          <p:cNvSpPr txBox="1"/>
          <p:nvPr/>
        </p:nvSpPr>
        <p:spPr>
          <a:xfrm>
            <a:off x="10694273" y="5465375"/>
            <a:ext cx="805792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>
                <a:solidFill>
                  <a:schemeClr val="accent1"/>
                </a:solidFill>
              </a:rPr>
              <a:t>TZ(2)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60036008-9F04-CF7B-9E00-EC3C370094B2}"/>
              </a:ext>
            </a:extLst>
          </p:cNvPr>
          <p:cNvSpPr txBox="1"/>
          <p:nvPr/>
        </p:nvSpPr>
        <p:spPr>
          <a:xfrm>
            <a:off x="10562893" y="3249444"/>
            <a:ext cx="805792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de-DE">
                <a:solidFill>
                  <a:schemeClr val="accent1"/>
                </a:solidFill>
              </a:rPr>
              <a:t>TZ(1)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D520CB79-ED0C-18E4-57C3-4A1D5DF63F82}"/>
              </a:ext>
            </a:extLst>
          </p:cNvPr>
          <p:cNvSpPr txBox="1"/>
          <p:nvPr/>
        </p:nvSpPr>
        <p:spPr>
          <a:xfrm>
            <a:off x="8417030" y="2067030"/>
            <a:ext cx="805792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de-DE">
                <a:solidFill>
                  <a:schemeClr val="accent1"/>
                </a:solidFill>
              </a:rPr>
              <a:t>TÖ(1)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DDAD4FB7-F18F-C1F3-5C94-200D6C08D904}"/>
              </a:ext>
            </a:extLst>
          </p:cNvPr>
          <p:cNvSpPr txBox="1"/>
          <p:nvPr/>
        </p:nvSpPr>
        <p:spPr>
          <a:xfrm>
            <a:off x="10624202" y="2067029"/>
            <a:ext cx="805792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de-DE">
                <a:solidFill>
                  <a:schemeClr val="accent1"/>
                </a:solidFill>
              </a:rPr>
              <a:t>TÖ(2)</a:t>
            </a:r>
          </a:p>
        </p:txBody>
      </p:sp>
    </p:spTree>
    <p:extLst>
      <p:ext uri="{BB962C8B-B14F-4D97-AF65-F5344CB8AC3E}">
        <p14:creationId xmlns:p14="http://schemas.microsoft.com/office/powerpoint/2010/main" val="8232815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 12">
            <a:extLst>
              <a:ext uri="{FF2B5EF4-FFF2-40B4-BE49-F238E27FC236}">
                <a16:creationId xmlns:a16="http://schemas.microsoft.com/office/drawing/2014/main" id="{57DBC93D-0404-C8BD-857A-72CFB8351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3911" y="692151"/>
            <a:ext cx="11104178" cy="3190301"/>
          </a:xfrm>
        </p:spPr>
        <p:txBody>
          <a:bodyPr>
            <a:normAutofit/>
          </a:bodyPr>
          <a:lstStyle/>
          <a:p>
            <a:pPr algn="ctr"/>
            <a:r>
              <a:rPr lang="de-DE" sz="4400" b="1" noProof="1"/>
              <a:t>Danke für Ihre Aufmerksamkeit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83FE67B-5550-30DE-3400-547C40C6EF14}"/>
              </a:ext>
            </a:extLst>
          </p:cNvPr>
          <p:cNvSpPr>
            <a:spLocks noGrp="1"/>
          </p:cNvSpPr>
          <p:nvPr>
            <p:ph type="dt" sz="half" idx="34"/>
          </p:nvPr>
        </p:nvSpPr>
        <p:spPr/>
        <p:txBody>
          <a:bodyPr/>
          <a:lstStyle/>
          <a:p>
            <a:fld id="{807BB0A7-CBBE-454D-9A9A-B1F1ABB9AFDB}" type="datetime1">
              <a:rPr lang="en-US" noProof="1" smtClean="0"/>
              <a:t>6/8/26</a:t>
            </a:fld>
            <a:endParaRPr lang="de-DE" noProof="1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3216DAEF-9F62-846F-EBD2-6E6A1BBDD658}"/>
              </a:ext>
            </a:extLst>
          </p:cNvPr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noProof="1"/>
              <a:t>Technology Management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1DBCED7-DFB2-60D1-F807-3E52A38BE984}"/>
              </a:ext>
            </a:extLst>
          </p:cNvPr>
          <p:cNvSpPr>
            <a:spLocks noGrp="1"/>
          </p:cNvSpPr>
          <p:nvPr>
            <p:ph type="sldNum" sz="quarter" idx="36"/>
          </p:nvPr>
        </p:nvSpPr>
        <p:spPr/>
        <p:txBody>
          <a:bodyPr/>
          <a:lstStyle/>
          <a:p>
            <a:r>
              <a:rPr lang="de-DE" noProof="1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7F7405-3257-8A45-1747-541BACD0F004}"/>
              </a:ext>
            </a:extLst>
          </p:cNvPr>
          <p:cNvSpPr txBox="1"/>
          <p:nvPr/>
        </p:nvSpPr>
        <p:spPr>
          <a:xfrm>
            <a:off x="546657" y="5148339"/>
            <a:ext cx="10493115" cy="120032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b="1" noProof="1"/>
              <a:t>Quellen: </a:t>
            </a:r>
          </a:p>
          <a:p>
            <a:r>
              <a:rPr lang="de-DE" noProof="1"/>
              <a:t>[1]: </a:t>
            </a:r>
            <a:r>
              <a:rPr lang="de-DE" noProof="1">
                <a:hlinkClick r:id="rId2"/>
              </a:rPr>
              <a:t>https://newsroom.porsche.com/dam/jcr:fef9c29d-c204-4311-b143-61a68251ee58/Geschaefts-und_Nachhaltigkeitsbericht_2025_Porsche_AG.pdf</a:t>
            </a:r>
          </a:p>
          <a:p>
            <a:r>
              <a:rPr lang="de-DE" noProof="1"/>
              <a:t>[2]: </a:t>
            </a:r>
            <a:r>
              <a:rPr lang="de-DE" noProof="1">
                <a:ea typeface="+mn-lt"/>
                <a:cs typeface="+mn-lt"/>
                <a:hlinkClick r:id="rId3"/>
              </a:rPr>
              <a:t>https://investorrelations.porsche.com/de/ueber-uns/strategie</a:t>
            </a:r>
            <a:endParaRPr lang="de-DE" noProof="1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305044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hsrm">
      <a:dk1>
        <a:srgbClr val="361E47"/>
      </a:dk1>
      <a:lt1>
        <a:srgbClr val="FFFFFF"/>
      </a:lt1>
      <a:dk2>
        <a:srgbClr val="5E3EE1"/>
      </a:dk2>
      <a:lt2>
        <a:srgbClr val="D8D1DB"/>
      </a:lt2>
      <a:accent1>
        <a:srgbClr val="E00514"/>
      </a:accent1>
      <a:accent2>
        <a:srgbClr val="A42564"/>
      </a:accent2>
      <a:accent3>
        <a:srgbClr val="5E3EE1"/>
      </a:accent3>
      <a:accent4>
        <a:srgbClr val="F6D0F1"/>
      </a:accent4>
      <a:accent5>
        <a:srgbClr val="B44D79"/>
      </a:accent5>
      <a:accent6>
        <a:srgbClr val="7E63E8"/>
      </a:accent6>
      <a:hlink>
        <a:srgbClr val="E00514"/>
      </a:hlink>
      <a:folHlink>
        <a:srgbClr val="A42464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3"/>
        </a:solidFill>
        <a:ln w="9231" cap="flat">
          <a:noFill/>
          <a:prstDash val="solid"/>
          <a:miter/>
        </a:ln>
      </a:spPr>
      <a:bodyPr rtlCol="0" anchor="ctr"/>
      <a:lstStyle>
        <a:defPPr algn="ctr">
          <a:defRPr sz="11500" b="1" dirty="0" smtClean="0">
            <a:solidFill>
              <a:schemeClr val="bg1"/>
            </a:solidFill>
          </a:defRPr>
        </a:defPPr>
      </a:lst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2526</Words>
  <Application>Microsoft Macintosh PowerPoint</Application>
  <PresentationFormat>Widescreen</PresentationFormat>
  <Paragraphs>525</Paragraphs>
  <Slides>22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Aptos</vt:lpstr>
      <vt:lpstr>Aptos Display</vt:lpstr>
      <vt:lpstr>Arial</vt:lpstr>
      <vt:lpstr>Calibri</vt:lpstr>
      <vt:lpstr>Office</vt:lpstr>
      <vt:lpstr>Porsche AG</vt:lpstr>
      <vt:lpstr>Kurzvorstellung Porsche</vt:lpstr>
      <vt:lpstr>Mit Welchen Produkten und Dienstleistungen verdient Porsche sein Geld?</vt:lpstr>
      <vt:lpstr>Eigentümerstruktur</vt:lpstr>
      <vt:lpstr>Unternehmensführung und Organisation</vt:lpstr>
      <vt:lpstr>Werteversprechen </vt:lpstr>
      <vt:lpstr>Wettbewerbsvorteil</vt:lpstr>
      <vt:lpstr>Phasen der S-Kurve</vt:lpstr>
      <vt:lpstr>Verbrennungsmotoren (Reifephase)</vt:lpstr>
      <vt:lpstr>Elektromobilität (Wachstumsphase)</vt:lpstr>
      <vt:lpstr>Analyse der 5 Wettbewerbskräfte</vt:lpstr>
      <vt:lpstr>Analyse der 5 Wettbewerbskräfte</vt:lpstr>
      <vt:lpstr>Wertschöpfungskette</vt:lpstr>
      <vt:lpstr>Unternehmenspositionierung</vt:lpstr>
      <vt:lpstr>Schlüsseltechnologien</vt:lpstr>
      <vt:lpstr>Ressourcen &amp; Capabilities der Porsche AG</vt:lpstr>
      <vt:lpstr>Kernkompetenzen der Porsche AG</vt:lpstr>
      <vt:lpstr>Wandel der Ressourcen &amp; Capabilities </vt:lpstr>
      <vt:lpstr>Wandel der  Komptenzen</vt:lpstr>
      <vt:lpstr>Trendportfolio</vt:lpstr>
      <vt:lpstr>Trendportfolios</vt:lpstr>
      <vt:lpstr>Danke für Ihre Aufmerksamkeit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Laurenz Nielbock</dc:creator>
  <cp:lastModifiedBy>jzffg_a17t@hsrheinmain.onmicrosoft.com</cp:lastModifiedBy>
  <cp:revision>66</cp:revision>
  <dcterms:created xsi:type="dcterms:W3CDTF">2025-07-31T10:12:17Z</dcterms:created>
  <dcterms:modified xsi:type="dcterms:W3CDTF">2026-06-08T07:21:13Z</dcterms:modified>
</cp:coreProperties>
</file>